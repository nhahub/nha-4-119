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alibri (MS) Bold" charset="1" panose="020F0702030404030204"/>
      <p:regular r:id="rId31"/>
    </p:embeddedFont>
    <p:embeddedFont>
      <p:font typeface="Cambria Bold" charset="1" panose="02040803050406030204"/>
      <p:regular r:id="rId32"/>
    </p:embeddedFont>
    <p:embeddedFont>
      <p:font typeface="Calibri (MS) Italics" charset="1" panose="020F05020202040A0204"/>
      <p:regular r:id="rId33"/>
    </p:embeddedFont>
    <p:embeddedFont>
      <p:font typeface="Calibri (MS)" charset="1" panose="020F0502020204030204"/>
      <p:regular r:id="rId34"/>
    </p:embeddedFont>
    <p:embeddedFont>
      <p:font typeface="Consolas" charset="1" panose="020B0609020204030204"/>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notesSlides/notesSlide5.xml" Type="http://schemas.openxmlformats.org/officeDocument/2006/relationships/notesSlide"/><Relationship Id="rId39" Target="notesSlides/notesSlide6.xml" Type="http://schemas.openxmlformats.org/officeDocument/2006/relationships/notesSlide"/><Relationship Id="rId4" Target="theme/theme1.xml" Type="http://schemas.openxmlformats.org/officeDocument/2006/relationships/theme"/><Relationship Id="rId40" Target="notesSlides/notesSlide7.xml" Type="http://schemas.openxmlformats.org/officeDocument/2006/relationships/notesSlide"/><Relationship Id="rId41" Target="notesSlides/notesSlide8.xml" Type="http://schemas.openxmlformats.org/officeDocument/2006/relationships/notesSlide"/><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fonts/font46.fntdata" Type="http://schemas.openxmlformats.org/officeDocument/2006/relationships/font"/><Relationship Id="rId47" Target="notesSlides/notesSlide13.xml" Type="http://schemas.openxmlformats.org/officeDocument/2006/relationships/notesSlide"/><Relationship Id="rId48" Target="notesSlides/notesSlide14.xml" Type="http://schemas.openxmlformats.org/officeDocument/2006/relationships/notesSlide"/><Relationship Id="rId49" Target="notesSlides/notesSlide15.xml" Type="http://schemas.openxmlformats.org/officeDocument/2006/relationships/notesSlide"/><Relationship Id="rId5" Target="tableStyles.xml" Type="http://schemas.openxmlformats.org/officeDocument/2006/relationships/tableStyles"/><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55" Target="notesSlides/notesSlide21.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Quick overview of what we'll cover: the problem we're solving, our objective, the Lexora AI solution, its architecture and agent workflow, how it's implemented, tested, and deployed, and finally challenges and future work.</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Businesses need constant content across many channels. Writing it by hand doesn't scale, and generic AI tools produce generic, ungrounded output. There's a real need for a structured, automated, quality-checked content workflow.</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content creation problem is massive. 4.4 million blog posts are published daily. Writing quality content takes 8 hours on average. Content agencies charge $2,000+ per article. And content demand has grown 10x since 2020. Marketing teams are overwhelmed. They need more content than ever, but human writers are too slow and too expensive. Generic AI tools exist but they produce forgettable, unfocused, off-brand content.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Looking at the competitive landscape: Human writers are too slow and too expensive for scale. Generic AI tools like ChatGPT are not specialized — they produce mediocre, unfocused content. ContentForge AI fills the gap with domain-specific fine-tuning, three specialized datasets, and a unified multi-format architecture.</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objective: an API-driven, multi-agent system that plans, researches, writes, and reviews content across five formats, built to be testable and containerised from day one.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Lexora AI takes a user request through FastAPI, queues it as a background job, runs it through a LangGraph agent pipeline, and returns generated content the user can retrieve. It supports five content types: blog, LinkedIn, tweet, Instagram, and short story.</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client talks to FastAPI, which creates a job and hands it to a background service. That service runs the LangGraph agent pipeline, which calls OpenRouter for language generation and Tavily for search, and everything is persisted to the job store. The whole backend runs in Docker.</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real, sequential workflow from graph.py: Outline runs first, then Search, then Router picks a writer, the Writer drafts, and Critique reviews — looping back up to three times if needed. Outline and Search are not parallel.</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Five agents, each with one job: Outline plans structure, Search grounds it in real information, Router picks the right writer, the Writer drafts the content, and Critique reviews it and can send it back for revision, up to three times.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Five content types are supported today, each with its own purpose-built writer agent and prompt — blog, LinkedIn, tweet, Instagram, and short story.</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API follows an asynchronous job pattern: submit a request, get a job ID right away, then poll for status and pull the result once it's done. Six endpoints cover health, generation, and job status/result/debug.</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Four tables separate job lifecycle, request configuration, clean content, and debug internals. Persistence uses PostgreSQL through SQLAlchemy and Alembic, with an automatic in-memory fallback so local development isn't blocked by database availability.</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delivered stack: FastAPI backend, LangGraph agents, OpenRouter for language generation, Tavily for search, PostgreSQL persistence, pytest for testing, and Docker for deployment. MLflow, Streamlit, and CI/CD remain planned.</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Nine major components are implemented and working end to end. Five capabilities remain planned or future work, including MLflow, Streamlit, CI/CD, formal human evaluation, and the original fine-tuning/GAN comparison, which was superseded by the agentic approach.</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Automated tests currently cover the health and generate endpoints — validating success cases and rejecting invalid input. Job status, result, debug endpoints, and the agent pipeline itself are not yet covered — an honest gap we call out.</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real scores, not illustrative numbers. Three of five content types passed the critique agent outright. Tweet and short story reached the revision cap without passing — we're honest about that; it shows the system works end-to-end but needs more refinement before production use.</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Key challenges: unreliable LLM JSON output, dependency on external APIs, and inconsistent revision quality. We addressed these with JSON repair, a bounded critique loop, careful job-status tracking, and full debug logging for every run.</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Looking ahead: a Streamlit UI, MLflow tracking, CI/CD automation, stronger authentication, monitoring, formal human evaluation, multi-language support, and continued prompt refinement — especially for short-story generation.</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Lexora AI evolved from the original single-model plan into a genuine multi-agent platform: API-driven, asynchronous, integrating generation, search, critique, persistence, testing, and Docker deployment. It's a strong foundation, and we're upfront about what's still future work.</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for your time. We're happy to take any questions about the architecture, the agent pipeline, or the results.</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 Id="rId5"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 Id="rId5" Target="../media/image4.png" Type="http://schemas.openxmlformats.org/officeDocument/2006/relationships/image"/><Relationship Id="rId6" Target="../media/image24.png" Type="http://schemas.openxmlformats.org/officeDocument/2006/relationships/image"/><Relationship Id="rId7" Target="../media/image3.png" Type="http://schemas.openxmlformats.org/officeDocument/2006/relationships/image"/><Relationship Id="rId8" Target="../media/image8.png" Type="http://schemas.openxmlformats.org/officeDocument/2006/relationships/image"/><Relationship Id="rId9"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grpSp>
        <p:nvGrpSpPr>
          <p:cNvPr name="Group 2" id="2"/>
          <p:cNvGrpSpPr/>
          <p:nvPr/>
        </p:nvGrpSpPr>
        <p:grpSpPr>
          <a:xfrm rot="0">
            <a:off x="13304520" y="-274320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16213E"/>
            </a:solidFill>
          </p:spPr>
        </p:sp>
      </p:grpSp>
      <p:grpSp>
        <p:nvGrpSpPr>
          <p:cNvPr name="Group 4" id="4"/>
          <p:cNvGrpSpPr/>
          <p:nvPr/>
        </p:nvGrpSpPr>
        <p:grpSpPr>
          <a:xfrm rot="0">
            <a:off x="15499080" y="-822960"/>
            <a:ext cx="4937760" cy="4937760"/>
            <a:chOff x="0" y="0"/>
            <a:chExt cx="6583680" cy="6583680"/>
          </a:xfrm>
        </p:grpSpPr>
        <p:sp>
          <p:nvSpPr>
            <p:cNvPr name="Freeform 5" id="5"/>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C2A4A"/>
            </a:solidFill>
          </p:spPr>
        </p:sp>
      </p:grpSp>
      <p:grpSp>
        <p:nvGrpSpPr>
          <p:cNvPr name="Group 6" id="6"/>
          <p:cNvGrpSpPr/>
          <p:nvPr/>
        </p:nvGrpSpPr>
        <p:grpSpPr>
          <a:xfrm rot="0">
            <a:off x="-2194560" y="6858000"/>
            <a:ext cx="5760720" cy="5760720"/>
            <a:chOff x="0" y="0"/>
            <a:chExt cx="7680960" cy="7680960"/>
          </a:xfrm>
        </p:grpSpPr>
        <p:sp>
          <p:nvSpPr>
            <p:cNvPr name="Freeform 7" id="7"/>
            <p:cNvSpPr/>
            <p:nvPr/>
          </p:nvSpPr>
          <p:spPr>
            <a:xfrm flipH="false" flipV="false" rot="0">
              <a:off x="0" y="0"/>
              <a:ext cx="7680960" cy="7680960"/>
            </a:xfrm>
            <a:custGeom>
              <a:avLst/>
              <a:gdLst/>
              <a:ahLst/>
              <a:cxnLst/>
              <a:rect r="r" b="b" t="t" l="l"/>
              <a:pathLst>
                <a:path h="7680960" w="7680960">
                  <a:moveTo>
                    <a:pt x="0" y="3840480"/>
                  </a:moveTo>
                  <a:cubicBezTo>
                    <a:pt x="0" y="1719453"/>
                    <a:pt x="1719453" y="0"/>
                    <a:pt x="3840480" y="0"/>
                  </a:cubicBezTo>
                  <a:cubicBezTo>
                    <a:pt x="5961507" y="0"/>
                    <a:pt x="7680960" y="1719453"/>
                    <a:pt x="7680960" y="3840480"/>
                  </a:cubicBezTo>
                  <a:cubicBezTo>
                    <a:pt x="7680960" y="5961507"/>
                    <a:pt x="5961507" y="7680960"/>
                    <a:pt x="3840480" y="7680960"/>
                  </a:cubicBezTo>
                  <a:cubicBezTo>
                    <a:pt x="1719453" y="7680960"/>
                    <a:pt x="0" y="5961507"/>
                    <a:pt x="0" y="3840480"/>
                  </a:cubicBezTo>
                  <a:close/>
                </a:path>
              </a:pathLst>
            </a:custGeom>
            <a:solidFill>
              <a:srgbClr val="16213E"/>
            </a:solidFill>
          </p:spPr>
        </p:sp>
      </p:grpSp>
      <p:grpSp>
        <p:nvGrpSpPr>
          <p:cNvPr name="Group 8" id="8"/>
          <p:cNvGrpSpPr/>
          <p:nvPr/>
        </p:nvGrpSpPr>
        <p:grpSpPr>
          <a:xfrm rot="0">
            <a:off x="960120" y="891540"/>
            <a:ext cx="14401800" cy="548640"/>
            <a:chOff x="0" y="0"/>
            <a:chExt cx="19202400" cy="731520"/>
          </a:xfrm>
        </p:grpSpPr>
        <p:sp>
          <p:nvSpPr>
            <p:cNvPr name="Freeform 9" id="9"/>
            <p:cNvSpPr/>
            <p:nvPr/>
          </p:nvSpPr>
          <p:spPr>
            <a:xfrm flipH="false" flipV="false" rot="0">
              <a:off x="0" y="0"/>
              <a:ext cx="19202400" cy="731520"/>
            </a:xfrm>
            <a:custGeom>
              <a:avLst/>
              <a:gdLst/>
              <a:ahLst/>
              <a:cxnLst/>
              <a:rect r="r" b="b" t="t" l="l"/>
              <a:pathLst>
                <a:path h="731520" w="19202400">
                  <a:moveTo>
                    <a:pt x="0" y="0"/>
                  </a:moveTo>
                  <a:lnTo>
                    <a:pt x="19202400" y="0"/>
                  </a:lnTo>
                  <a:lnTo>
                    <a:pt x="19202400" y="731520"/>
                  </a:lnTo>
                  <a:lnTo>
                    <a:pt x="0" y="731520"/>
                  </a:lnTo>
                  <a:close/>
                </a:path>
              </a:pathLst>
            </a:custGeom>
            <a:blipFill>
              <a:blip r:embed="rId3">
                <a:alphaModFix amt="0"/>
              </a:blip>
              <a:stretch>
                <a:fillRect l="0" t="-461482" r="0" b="-461482"/>
              </a:stretch>
            </a:blipFill>
          </p:spPr>
        </p:sp>
        <p:sp>
          <p:nvSpPr>
            <p:cNvPr name="TextBox 10" id="10"/>
            <p:cNvSpPr txBox="true"/>
            <p:nvPr/>
          </p:nvSpPr>
          <p:spPr>
            <a:xfrm>
              <a:off x="0" y="-47625"/>
              <a:ext cx="19202400" cy="779145"/>
            </a:xfrm>
            <a:prstGeom prst="rect">
              <a:avLst/>
            </a:prstGeom>
          </p:spPr>
          <p:txBody>
            <a:bodyPr anchor="ctr" rtlCol="false" tIns="0" lIns="0" bIns="0" rIns="0"/>
            <a:lstStyle/>
            <a:p>
              <a:pPr algn="l">
                <a:lnSpc>
                  <a:spcPts val="2340"/>
                </a:lnSpc>
              </a:pPr>
              <a:r>
                <a:rPr lang="en-US" b="true" sz="1950" spc="300">
                  <a:solidFill>
                    <a:srgbClr val="2DD4BF"/>
                  </a:solidFill>
                  <a:latin typeface="Calibri (MS) Bold"/>
                  <a:ea typeface="Calibri (MS) Bold"/>
                  <a:cs typeface="Calibri (MS) Bold"/>
                  <a:sym typeface="Calibri (MS) Bold"/>
                </a:rPr>
                <a:t>MULTI-AGENT  ·  LLM-ORCHESTRATED  ·  RETRIEVAL-AUGMENTED</a:t>
              </a:r>
            </a:p>
          </p:txBody>
        </p:sp>
      </p:grpSp>
      <p:grpSp>
        <p:nvGrpSpPr>
          <p:cNvPr name="Group 11" id="11"/>
          <p:cNvGrpSpPr/>
          <p:nvPr/>
        </p:nvGrpSpPr>
        <p:grpSpPr>
          <a:xfrm rot="0">
            <a:off x="891540" y="1577340"/>
            <a:ext cx="14813280" cy="1783080"/>
            <a:chOff x="0" y="0"/>
            <a:chExt cx="19751040" cy="2377440"/>
          </a:xfrm>
        </p:grpSpPr>
        <p:sp>
          <p:nvSpPr>
            <p:cNvPr name="Freeform 12" id="12"/>
            <p:cNvSpPr/>
            <p:nvPr/>
          </p:nvSpPr>
          <p:spPr>
            <a:xfrm flipH="false" flipV="false" rot="0">
              <a:off x="0" y="0"/>
              <a:ext cx="19751039" cy="2377440"/>
            </a:xfrm>
            <a:custGeom>
              <a:avLst/>
              <a:gdLst/>
              <a:ahLst/>
              <a:cxnLst/>
              <a:rect r="r" b="b" t="t" l="l"/>
              <a:pathLst>
                <a:path h="2377440" w="19751039">
                  <a:moveTo>
                    <a:pt x="0" y="0"/>
                  </a:moveTo>
                  <a:lnTo>
                    <a:pt x="19751039" y="0"/>
                  </a:lnTo>
                  <a:lnTo>
                    <a:pt x="19751039" y="2377440"/>
                  </a:lnTo>
                  <a:lnTo>
                    <a:pt x="0" y="2377440"/>
                  </a:lnTo>
                  <a:close/>
                </a:path>
              </a:pathLst>
            </a:custGeom>
            <a:blipFill>
              <a:blip r:embed="rId3">
                <a:alphaModFix amt="0"/>
              </a:blip>
              <a:stretch>
                <a:fillRect l="0" t="-111875" r="0" b="-111875"/>
              </a:stretch>
            </a:blipFill>
          </p:spPr>
        </p:sp>
        <p:sp>
          <p:nvSpPr>
            <p:cNvPr name="TextBox 13" id="13"/>
            <p:cNvSpPr txBox="true"/>
            <p:nvPr/>
          </p:nvSpPr>
          <p:spPr>
            <a:xfrm>
              <a:off x="0" y="-9525"/>
              <a:ext cx="19751040" cy="2386965"/>
            </a:xfrm>
            <a:prstGeom prst="rect">
              <a:avLst/>
            </a:prstGeom>
          </p:spPr>
          <p:txBody>
            <a:bodyPr anchor="ctr" rtlCol="false" tIns="0" lIns="0" bIns="0" rIns="0"/>
            <a:lstStyle/>
            <a:p>
              <a:pPr algn="l">
                <a:lnSpc>
                  <a:spcPts val="7200"/>
                </a:lnSpc>
              </a:pPr>
              <a:r>
                <a:rPr lang="en-US" sz="6000" b="true">
                  <a:solidFill>
                    <a:srgbClr val="FFFFFF"/>
                  </a:solidFill>
                  <a:latin typeface="Cambria Bold"/>
                  <a:ea typeface="Cambria Bold"/>
                  <a:cs typeface="Cambria Bold"/>
                  <a:sym typeface="Cambria Bold"/>
                </a:rPr>
                <a:t>Automated Content Generation System</a:t>
              </a:r>
            </a:p>
          </p:txBody>
        </p:sp>
      </p:grpSp>
      <p:grpSp>
        <p:nvGrpSpPr>
          <p:cNvPr name="Group 14" id="14"/>
          <p:cNvGrpSpPr/>
          <p:nvPr/>
        </p:nvGrpSpPr>
        <p:grpSpPr>
          <a:xfrm rot="0">
            <a:off x="960120" y="3223260"/>
            <a:ext cx="14127480" cy="822960"/>
            <a:chOff x="0" y="0"/>
            <a:chExt cx="18836640" cy="1097280"/>
          </a:xfrm>
        </p:grpSpPr>
        <p:sp>
          <p:nvSpPr>
            <p:cNvPr name="Freeform 15" id="15"/>
            <p:cNvSpPr/>
            <p:nvPr/>
          </p:nvSpPr>
          <p:spPr>
            <a:xfrm flipH="false" flipV="false" rot="0">
              <a:off x="0" y="0"/>
              <a:ext cx="18836639" cy="1097280"/>
            </a:xfrm>
            <a:custGeom>
              <a:avLst/>
              <a:gdLst/>
              <a:ahLst/>
              <a:cxnLst/>
              <a:rect r="r" b="b" t="t" l="l"/>
              <a:pathLst>
                <a:path h="1097280" w="18836639">
                  <a:moveTo>
                    <a:pt x="0" y="0"/>
                  </a:moveTo>
                  <a:lnTo>
                    <a:pt x="18836639" y="0"/>
                  </a:lnTo>
                  <a:lnTo>
                    <a:pt x="18836639" y="1097280"/>
                  </a:lnTo>
                  <a:lnTo>
                    <a:pt x="0" y="1097280"/>
                  </a:lnTo>
                  <a:close/>
                </a:path>
              </a:pathLst>
            </a:custGeom>
            <a:blipFill>
              <a:blip r:embed="rId3">
                <a:alphaModFix amt="0"/>
              </a:blip>
              <a:stretch>
                <a:fillRect l="0" t="-284493" r="0" b="-284493"/>
              </a:stretch>
            </a:blipFill>
          </p:spPr>
        </p:sp>
        <p:sp>
          <p:nvSpPr>
            <p:cNvPr name="TextBox 16" id="16"/>
            <p:cNvSpPr txBox="true"/>
            <p:nvPr/>
          </p:nvSpPr>
          <p:spPr>
            <a:xfrm>
              <a:off x="0" y="-57150"/>
              <a:ext cx="18836640" cy="1154430"/>
            </a:xfrm>
            <a:prstGeom prst="rect">
              <a:avLst/>
            </a:prstGeom>
          </p:spPr>
          <p:txBody>
            <a:bodyPr anchor="ctr" rtlCol="false" tIns="0" lIns="0" bIns="0" rIns="0"/>
            <a:lstStyle/>
            <a:p>
              <a:pPr algn="l">
                <a:lnSpc>
                  <a:spcPts val="3240"/>
                </a:lnSpc>
              </a:pPr>
              <a:r>
                <a:rPr lang="en-US" sz="2700" i="true">
                  <a:solidFill>
                    <a:srgbClr val="C9D3EA"/>
                  </a:solidFill>
                  <a:latin typeface="Calibri (MS) Italics"/>
                  <a:ea typeface="Calibri (MS) Italics"/>
                  <a:cs typeface="Calibri (MS) Italics"/>
                  <a:sym typeface="Calibri (MS) Italics"/>
                </a:rPr>
                <a:t>Lexora AI — Multi-Agent LLM-Orchestrated Content Generation Platform</a:t>
              </a:r>
            </a:p>
          </p:txBody>
        </p:sp>
      </p:grpSp>
      <p:grpSp>
        <p:nvGrpSpPr>
          <p:cNvPr name="Group 17" id="17"/>
          <p:cNvGrpSpPr/>
          <p:nvPr/>
        </p:nvGrpSpPr>
        <p:grpSpPr>
          <a:xfrm rot="0">
            <a:off x="960120" y="4594860"/>
            <a:ext cx="8778240" cy="3497580"/>
            <a:chOff x="0" y="0"/>
            <a:chExt cx="11704320" cy="4663440"/>
          </a:xfrm>
        </p:grpSpPr>
        <p:sp>
          <p:nvSpPr>
            <p:cNvPr name="Freeform 18" id="18"/>
            <p:cNvSpPr/>
            <p:nvPr/>
          </p:nvSpPr>
          <p:spPr>
            <a:xfrm flipH="false" flipV="false" rot="0">
              <a:off x="0" y="0"/>
              <a:ext cx="11704320" cy="4663440"/>
            </a:xfrm>
            <a:custGeom>
              <a:avLst/>
              <a:gdLst/>
              <a:ahLst/>
              <a:cxnLst/>
              <a:rect r="r" b="b" t="t" l="l"/>
              <a:pathLst>
                <a:path h="4663440" w="11704320">
                  <a:moveTo>
                    <a:pt x="0" y="146304"/>
                  </a:moveTo>
                  <a:cubicBezTo>
                    <a:pt x="0" y="65532"/>
                    <a:pt x="65532" y="0"/>
                    <a:pt x="146304" y="0"/>
                  </a:cubicBezTo>
                  <a:lnTo>
                    <a:pt x="11558016" y="0"/>
                  </a:lnTo>
                  <a:cubicBezTo>
                    <a:pt x="11638788" y="0"/>
                    <a:pt x="11704320" y="65532"/>
                    <a:pt x="11704320" y="146304"/>
                  </a:cubicBezTo>
                  <a:lnTo>
                    <a:pt x="11704320" y="4517136"/>
                  </a:lnTo>
                  <a:cubicBezTo>
                    <a:pt x="11704320" y="4597908"/>
                    <a:pt x="11638788" y="4663440"/>
                    <a:pt x="11558016" y="4663440"/>
                  </a:cubicBezTo>
                  <a:lnTo>
                    <a:pt x="146304" y="4663440"/>
                  </a:lnTo>
                  <a:cubicBezTo>
                    <a:pt x="65532" y="4663440"/>
                    <a:pt x="0" y="4597908"/>
                    <a:pt x="0" y="4517136"/>
                  </a:cubicBezTo>
                  <a:close/>
                </a:path>
              </a:pathLst>
            </a:custGeom>
            <a:solidFill>
              <a:srgbClr val="1C2A4A"/>
            </a:solidFill>
          </p:spPr>
        </p:sp>
      </p:grpSp>
      <p:grpSp>
        <p:nvGrpSpPr>
          <p:cNvPr name="Group 19" id="19"/>
          <p:cNvGrpSpPr/>
          <p:nvPr/>
        </p:nvGrpSpPr>
        <p:grpSpPr>
          <a:xfrm rot="0">
            <a:off x="1371600" y="4869180"/>
            <a:ext cx="5486400" cy="411480"/>
            <a:chOff x="0" y="0"/>
            <a:chExt cx="7315200" cy="548640"/>
          </a:xfrm>
        </p:grpSpPr>
        <p:sp>
          <p:nvSpPr>
            <p:cNvPr name="Freeform 20" id="20"/>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21" id="21"/>
            <p:cNvSpPr txBox="true"/>
            <p:nvPr/>
          </p:nvSpPr>
          <p:spPr>
            <a:xfrm>
              <a:off x="0" y="-28575"/>
              <a:ext cx="7315200" cy="577215"/>
            </a:xfrm>
            <a:prstGeom prst="rect">
              <a:avLst/>
            </a:prstGeom>
          </p:spPr>
          <p:txBody>
            <a:bodyPr anchor="ctr" rtlCol="false" tIns="0" lIns="0" bIns="0" rIns="0"/>
            <a:lstStyle/>
            <a:p>
              <a:pPr algn="l">
                <a:lnSpc>
                  <a:spcPts val="1980"/>
                </a:lnSpc>
              </a:pPr>
              <a:r>
                <a:rPr lang="en-US" b="true" sz="1650" spc="225">
                  <a:solidFill>
                    <a:srgbClr val="2DD4BF"/>
                  </a:solidFill>
                  <a:latin typeface="Calibri (MS) Bold"/>
                  <a:ea typeface="Calibri (MS) Bold"/>
                  <a:cs typeface="Calibri (MS) Bold"/>
                  <a:sym typeface="Calibri (MS) Bold"/>
                </a:rPr>
                <a:t>SUBMITTED BY</a:t>
              </a:r>
            </a:p>
          </p:txBody>
        </p:sp>
      </p:grpSp>
      <p:grpSp>
        <p:nvGrpSpPr>
          <p:cNvPr name="Group 22" id="22"/>
          <p:cNvGrpSpPr/>
          <p:nvPr/>
        </p:nvGrpSpPr>
        <p:grpSpPr>
          <a:xfrm rot="0">
            <a:off x="1371600" y="5349240"/>
            <a:ext cx="7955280" cy="2125980"/>
            <a:chOff x="0" y="0"/>
            <a:chExt cx="10607040" cy="2834640"/>
          </a:xfrm>
        </p:grpSpPr>
        <p:sp>
          <p:nvSpPr>
            <p:cNvPr name="Freeform 23" id="23"/>
            <p:cNvSpPr/>
            <p:nvPr/>
          </p:nvSpPr>
          <p:spPr>
            <a:xfrm flipH="false" flipV="false" rot="0">
              <a:off x="0" y="0"/>
              <a:ext cx="10607040" cy="2834640"/>
            </a:xfrm>
            <a:custGeom>
              <a:avLst/>
              <a:gdLst/>
              <a:ahLst/>
              <a:cxnLst/>
              <a:rect r="r" b="b" t="t" l="l"/>
              <a:pathLst>
                <a:path h="2834640" w="10607040">
                  <a:moveTo>
                    <a:pt x="0" y="0"/>
                  </a:moveTo>
                  <a:lnTo>
                    <a:pt x="10607040" y="0"/>
                  </a:lnTo>
                  <a:lnTo>
                    <a:pt x="10607040" y="2834640"/>
                  </a:lnTo>
                  <a:lnTo>
                    <a:pt x="0" y="2834640"/>
                  </a:lnTo>
                  <a:close/>
                </a:path>
              </a:pathLst>
            </a:custGeom>
            <a:blipFill>
              <a:blip r:embed="rId3">
                <a:alphaModFix amt="0"/>
              </a:blip>
              <a:stretch>
                <a:fillRect l="0" t="-22911" r="0" b="-22911"/>
              </a:stretch>
            </a:blipFill>
          </p:spPr>
        </p:sp>
        <p:sp>
          <p:nvSpPr>
            <p:cNvPr name="TextBox 24" id="24"/>
            <p:cNvSpPr txBox="true"/>
            <p:nvPr/>
          </p:nvSpPr>
          <p:spPr>
            <a:xfrm>
              <a:off x="0" y="-104775"/>
              <a:ext cx="10607040" cy="2939415"/>
            </a:xfrm>
            <a:prstGeom prst="rect">
              <a:avLst/>
            </a:prstGeom>
          </p:spPr>
          <p:txBody>
            <a:bodyPr anchor="ctr" rtlCol="false" tIns="0" lIns="0" bIns="0" rIns="0"/>
            <a:lstStyle/>
            <a:p>
              <a:pPr algn="l">
                <a:lnSpc>
                  <a:spcPts val="3150"/>
                </a:lnSpc>
              </a:pPr>
              <a:r>
                <a:rPr lang="en-US" sz="2100">
                  <a:solidFill>
                    <a:srgbClr val="FFFFFF"/>
                  </a:solidFill>
                  <a:latin typeface="Calibri (MS)"/>
                  <a:ea typeface="Calibri (MS)"/>
                  <a:cs typeface="Calibri (MS)"/>
                  <a:sym typeface="Calibri (MS)"/>
                </a:rPr>
                <a:t>Ahmed Farag</a:t>
              </a:r>
            </a:p>
            <a:p>
              <a:pPr algn="l">
                <a:lnSpc>
                  <a:spcPts val="3150"/>
                </a:lnSpc>
              </a:pPr>
              <a:r>
                <a:rPr lang="en-US" sz="2100">
                  <a:solidFill>
                    <a:srgbClr val="FFFFFF"/>
                  </a:solidFill>
                  <a:latin typeface="Calibri (MS)"/>
                  <a:ea typeface="Calibri (MS)"/>
                  <a:cs typeface="Calibri (MS)"/>
                  <a:sym typeface="Calibri (MS)"/>
                </a:rPr>
                <a:t>Ahmed Farag</a:t>
              </a:r>
            </a:p>
            <a:p>
              <a:pPr algn="l">
                <a:lnSpc>
                  <a:spcPts val="3150"/>
                </a:lnSpc>
              </a:pPr>
              <a:r>
                <a:rPr lang="en-US" sz="2100">
                  <a:solidFill>
                    <a:srgbClr val="FFFFFF"/>
                  </a:solidFill>
                  <a:latin typeface="Calibri (MS)"/>
                  <a:ea typeface="Calibri (MS)"/>
                  <a:cs typeface="Calibri (MS)"/>
                  <a:sym typeface="Calibri (MS)"/>
                </a:rPr>
                <a:t>Ahmed Amir Mohamed</a:t>
              </a:r>
            </a:p>
            <a:p>
              <a:pPr algn="l">
                <a:lnSpc>
                  <a:spcPts val="3150"/>
                </a:lnSpc>
              </a:pPr>
              <a:r>
                <a:rPr lang="en-US" sz="2100">
                  <a:solidFill>
                    <a:srgbClr val="FFFFFF"/>
                  </a:solidFill>
                  <a:latin typeface="Calibri (MS)"/>
                  <a:ea typeface="Calibri (MS)"/>
                  <a:cs typeface="Calibri (MS)"/>
                  <a:sym typeface="Calibri (MS)"/>
                </a:rPr>
                <a:t>Farha Mostafa Asran</a:t>
              </a:r>
            </a:p>
            <a:p>
              <a:pPr algn="l">
                <a:lnSpc>
                  <a:spcPts val="3150"/>
                </a:lnSpc>
              </a:pPr>
              <a:r>
                <a:rPr lang="en-US" sz="2100">
                  <a:solidFill>
                    <a:srgbClr val="FFFFFF"/>
                  </a:solidFill>
                  <a:latin typeface="Calibri (MS)"/>
                  <a:ea typeface="Calibri (MS)"/>
                  <a:cs typeface="Calibri (MS)"/>
                  <a:sym typeface="Calibri (MS)"/>
                </a:rPr>
                <a:t>Arwa Alaa El Hassan</a:t>
              </a:r>
            </a:p>
          </p:txBody>
        </p:sp>
      </p:grpSp>
      <p:grpSp>
        <p:nvGrpSpPr>
          <p:cNvPr name="Group 25" id="25"/>
          <p:cNvGrpSpPr/>
          <p:nvPr/>
        </p:nvGrpSpPr>
        <p:grpSpPr>
          <a:xfrm rot="0">
            <a:off x="1371600" y="7543800"/>
            <a:ext cx="8092440" cy="411480"/>
            <a:chOff x="0" y="0"/>
            <a:chExt cx="10789920" cy="548640"/>
          </a:xfrm>
        </p:grpSpPr>
        <p:sp>
          <p:nvSpPr>
            <p:cNvPr name="Freeform 26" id="26"/>
            <p:cNvSpPr/>
            <p:nvPr/>
          </p:nvSpPr>
          <p:spPr>
            <a:xfrm flipH="false" flipV="false" rot="0">
              <a:off x="0" y="0"/>
              <a:ext cx="10789920" cy="548640"/>
            </a:xfrm>
            <a:custGeom>
              <a:avLst/>
              <a:gdLst/>
              <a:ahLst/>
              <a:cxnLst/>
              <a:rect r="r" b="b" t="t" l="l"/>
              <a:pathLst>
                <a:path h="548640" w="10789920">
                  <a:moveTo>
                    <a:pt x="0" y="0"/>
                  </a:moveTo>
                  <a:lnTo>
                    <a:pt x="10789920" y="0"/>
                  </a:lnTo>
                  <a:lnTo>
                    <a:pt x="10789920" y="548640"/>
                  </a:lnTo>
                  <a:lnTo>
                    <a:pt x="0" y="548640"/>
                  </a:lnTo>
                  <a:close/>
                </a:path>
              </a:pathLst>
            </a:custGeom>
            <a:blipFill>
              <a:blip r:embed="rId3">
                <a:alphaModFix amt="0"/>
              </a:blip>
              <a:stretch>
                <a:fillRect l="0" t="-333205" r="0" b="-333205"/>
              </a:stretch>
            </a:blipFill>
          </p:spPr>
        </p:sp>
        <p:sp>
          <p:nvSpPr>
            <p:cNvPr name="TextBox 27" id="27"/>
            <p:cNvSpPr txBox="true"/>
            <p:nvPr/>
          </p:nvSpPr>
          <p:spPr>
            <a:xfrm>
              <a:off x="0" y="-38100"/>
              <a:ext cx="10789920" cy="586740"/>
            </a:xfrm>
            <a:prstGeom prst="rect">
              <a:avLst/>
            </a:prstGeom>
          </p:spPr>
          <p:txBody>
            <a:bodyPr anchor="ctr" rtlCol="false" tIns="0" lIns="0" bIns="0" rIns="0"/>
            <a:lstStyle/>
            <a:p>
              <a:pPr algn="l">
                <a:lnSpc>
                  <a:spcPts val="2250"/>
                </a:lnSpc>
              </a:pPr>
              <a:r>
                <a:rPr lang="en-US" sz="1875">
                  <a:solidFill>
                    <a:srgbClr val="C9D3EA"/>
                  </a:solidFill>
                  <a:latin typeface="Calibri (MS)"/>
                  <a:ea typeface="Calibri (MS)"/>
                  <a:cs typeface="Calibri (MS)"/>
                  <a:sym typeface="Calibri (MS)"/>
                </a:rPr>
                <a:t>Supervised by: Noor El Deen Magdy</a:t>
              </a:r>
            </a:p>
          </p:txBody>
        </p:sp>
      </p:grpSp>
      <p:grpSp>
        <p:nvGrpSpPr>
          <p:cNvPr name="Group 28" id="28"/>
          <p:cNvGrpSpPr/>
          <p:nvPr/>
        </p:nvGrpSpPr>
        <p:grpSpPr>
          <a:xfrm rot="0">
            <a:off x="10081260" y="4594860"/>
            <a:ext cx="7269480" cy="3497580"/>
            <a:chOff x="0" y="0"/>
            <a:chExt cx="9692640" cy="4663440"/>
          </a:xfrm>
        </p:grpSpPr>
        <p:sp>
          <p:nvSpPr>
            <p:cNvPr name="Freeform 29" id="29"/>
            <p:cNvSpPr/>
            <p:nvPr/>
          </p:nvSpPr>
          <p:spPr>
            <a:xfrm flipH="false" flipV="false" rot="0">
              <a:off x="0" y="0"/>
              <a:ext cx="9692640" cy="4663440"/>
            </a:xfrm>
            <a:custGeom>
              <a:avLst/>
              <a:gdLst/>
              <a:ahLst/>
              <a:cxnLst/>
              <a:rect r="r" b="b" t="t" l="l"/>
              <a:pathLst>
                <a:path h="4663440" w="9692640">
                  <a:moveTo>
                    <a:pt x="0" y="146304"/>
                  </a:moveTo>
                  <a:cubicBezTo>
                    <a:pt x="0" y="65532"/>
                    <a:pt x="65532" y="0"/>
                    <a:pt x="146304" y="0"/>
                  </a:cubicBezTo>
                  <a:lnTo>
                    <a:pt x="9546336" y="0"/>
                  </a:lnTo>
                  <a:cubicBezTo>
                    <a:pt x="9627108" y="0"/>
                    <a:pt x="9692640" y="65532"/>
                    <a:pt x="9692640" y="146304"/>
                  </a:cubicBezTo>
                  <a:lnTo>
                    <a:pt x="9692640" y="4517136"/>
                  </a:lnTo>
                  <a:cubicBezTo>
                    <a:pt x="9692640" y="4597908"/>
                    <a:pt x="9627108" y="4663440"/>
                    <a:pt x="9546336" y="4663440"/>
                  </a:cubicBezTo>
                  <a:lnTo>
                    <a:pt x="146304" y="4663440"/>
                  </a:lnTo>
                  <a:cubicBezTo>
                    <a:pt x="65532" y="4663440"/>
                    <a:pt x="0" y="4597908"/>
                    <a:pt x="0" y="4517136"/>
                  </a:cubicBezTo>
                  <a:close/>
                </a:path>
              </a:pathLst>
            </a:custGeom>
            <a:solidFill>
              <a:srgbClr val="1C2A4A"/>
            </a:solidFill>
          </p:spPr>
        </p:sp>
      </p:grpSp>
      <p:grpSp>
        <p:nvGrpSpPr>
          <p:cNvPr name="Group 30" id="30"/>
          <p:cNvGrpSpPr/>
          <p:nvPr/>
        </p:nvGrpSpPr>
        <p:grpSpPr>
          <a:xfrm rot="0">
            <a:off x="10492740" y="5006340"/>
            <a:ext cx="6446520" cy="411480"/>
            <a:chOff x="0" y="0"/>
            <a:chExt cx="8595360" cy="548640"/>
          </a:xfrm>
        </p:grpSpPr>
        <p:sp>
          <p:nvSpPr>
            <p:cNvPr name="Freeform 31" id="31"/>
            <p:cNvSpPr/>
            <p:nvPr/>
          </p:nvSpPr>
          <p:spPr>
            <a:xfrm flipH="false" flipV="false" rot="0">
              <a:off x="0" y="0"/>
              <a:ext cx="8595360" cy="548640"/>
            </a:xfrm>
            <a:custGeom>
              <a:avLst/>
              <a:gdLst/>
              <a:ahLst/>
              <a:cxnLst/>
              <a:rect r="r" b="b" t="t" l="l"/>
              <a:pathLst>
                <a:path h="548640" w="8595360">
                  <a:moveTo>
                    <a:pt x="0" y="0"/>
                  </a:moveTo>
                  <a:lnTo>
                    <a:pt x="8595360" y="0"/>
                  </a:lnTo>
                  <a:lnTo>
                    <a:pt x="8595360" y="548640"/>
                  </a:lnTo>
                  <a:lnTo>
                    <a:pt x="0" y="548640"/>
                  </a:lnTo>
                  <a:close/>
                </a:path>
              </a:pathLst>
            </a:custGeom>
            <a:blipFill>
              <a:blip r:embed="rId3">
                <a:alphaModFix amt="0"/>
              </a:blip>
              <a:stretch>
                <a:fillRect l="0" t="-255265" r="0" b="-255265"/>
              </a:stretch>
            </a:blipFill>
          </p:spPr>
        </p:sp>
        <p:sp>
          <p:nvSpPr>
            <p:cNvPr name="TextBox 32" id="32"/>
            <p:cNvSpPr txBox="true"/>
            <p:nvPr/>
          </p:nvSpPr>
          <p:spPr>
            <a:xfrm>
              <a:off x="0" y="-19050"/>
              <a:ext cx="8595360" cy="567690"/>
            </a:xfrm>
            <a:prstGeom prst="rect">
              <a:avLst/>
            </a:prstGeom>
          </p:spPr>
          <p:txBody>
            <a:bodyPr anchor="ctr" rtlCol="false" tIns="0" lIns="0" bIns="0" rIns="0"/>
            <a:lstStyle/>
            <a:p>
              <a:pPr algn="l">
                <a:lnSpc>
                  <a:spcPts val="1889"/>
                </a:lnSpc>
              </a:pPr>
              <a:r>
                <a:rPr lang="en-US" b="true" sz="1575" spc="150">
                  <a:solidFill>
                    <a:srgbClr val="2DD4BF"/>
                  </a:solidFill>
                  <a:latin typeface="Calibri (MS) Bold"/>
                  <a:ea typeface="Calibri (MS) Bold"/>
                  <a:cs typeface="Calibri (MS) Bold"/>
                  <a:sym typeface="Calibri (MS) Bold"/>
                </a:rPr>
                <a:t>COURSE / PROGRAM</a:t>
              </a:r>
            </a:p>
          </p:txBody>
        </p:sp>
      </p:grpSp>
      <p:grpSp>
        <p:nvGrpSpPr>
          <p:cNvPr name="Group 33" id="33"/>
          <p:cNvGrpSpPr/>
          <p:nvPr/>
        </p:nvGrpSpPr>
        <p:grpSpPr>
          <a:xfrm rot="0">
            <a:off x="10492740" y="5445252"/>
            <a:ext cx="6446520" cy="548640"/>
            <a:chOff x="0" y="0"/>
            <a:chExt cx="8595360" cy="731520"/>
          </a:xfrm>
        </p:grpSpPr>
        <p:sp>
          <p:nvSpPr>
            <p:cNvPr name="Freeform 34" id="34"/>
            <p:cNvSpPr/>
            <p:nvPr/>
          </p:nvSpPr>
          <p:spPr>
            <a:xfrm flipH="false" flipV="false" rot="0">
              <a:off x="0" y="0"/>
              <a:ext cx="8595360" cy="731520"/>
            </a:xfrm>
            <a:custGeom>
              <a:avLst/>
              <a:gdLst/>
              <a:ahLst/>
              <a:cxnLst/>
              <a:rect r="r" b="b" t="t" l="l"/>
              <a:pathLst>
                <a:path h="731520" w="8595360">
                  <a:moveTo>
                    <a:pt x="0" y="0"/>
                  </a:moveTo>
                  <a:lnTo>
                    <a:pt x="8595360" y="0"/>
                  </a:lnTo>
                  <a:lnTo>
                    <a:pt x="8595360" y="731520"/>
                  </a:lnTo>
                  <a:lnTo>
                    <a:pt x="0" y="731520"/>
                  </a:lnTo>
                  <a:close/>
                </a:path>
              </a:pathLst>
            </a:custGeom>
            <a:blipFill>
              <a:blip r:embed="rId3">
                <a:alphaModFix amt="0"/>
              </a:blip>
              <a:stretch>
                <a:fillRect l="0" t="-178949" r="0" b="-178949"/>
              </a:stretch>
            </a:blipFill>
          </p:spPr>
        </p:sp>
        <p:sp>
          <p:nvSpPr>
            <p:cNvPr name="TextBox 35" id="35"/>
            <p:cNvSpPr txBox="true"/>
            <p:nvPr/>
          </p:nvSpPr>
          <p:spPr>
            <a:xfrm>
              <a:off x="0" y="-38100"/>
              <a:ext cx="8595360" cy="769620"/>
            </a:xfrm>
            <a:prstGeom prst="rect">
              <a:avLst/>
            </a:prstGeom>
          </p:spPr>
          <p:txBody>
            <a:bodyPr anchor="ctr" rtlCol="false" tIns="0" lIns="0" bIns="0" rIns="0"/>
            <a:lstStyle/>
            <a:p>
              <a:pPr algn="l">
                <a:lnSpc>
                  <a:spcPts val="2430"/>
                </a:lnSpc>
              </a:pPr>
              <a:r>
                <a:rPr lang="en-US" sz="2025">
                  <a:solidFill>
                    <a:srgbClr val="FFFFFF"/>
                  </a:solidFill>
                  <a:latin typeface="Calibri (MS)"/>
                  <a:ea typeface="Calibri (MS)"/>
                  <a:cs typeface="Calibri (MS)"/>
                  <a:sym typeface="Calibri (MS)"/>
                </a:rPr>
                <a:t>DEPI Generative &amp; Agentic AI Track</a:t>
              </a:r>
            </a:p>
          </p:txBody>
        </p:sp>
      </p:grpSp>
      <p:grpSp>
        <p:nvGrpSpPr>
          <p:cNvPr name="Group 36" id="36"/>
          <p:cNvGrpSpPr/>
          <p:nvPr/>
        </p:nvGrpSpPr>
        <p:grpSpPr>
          <a:xfrm rot="0">
            <a:off x="10492740" y="6035040"/>
            <a:ext cx="6446520" cy="411480"/>
            <a:chOff x="0" y="0"/>
            <a:chExt cx="8595360" cy="548640"/>
          </a:xfrm>
        </p:grpSpPr>
        <p:sp>
          <p:nvSpPr>
            <p:cNvPr name="Freeform 37" id="37"/>
            <p:cNvSpPr/>
            <p:nvPr/>
          </p:nvSpPr>
          <p:spPr>
            <a:xfrm flipH="false" flipV="false" rot="0">
              <a:off x="0" y="0"/>
              <a:ext cx="8595360" cy="548640"/>
            </a:xfrm>
            <a:custGeom>
              <a:avLst/>
              <a:gdLst/>
              <a:ahLst/>
              <a:cxnLst/>
              <a:rect r="r" b="b" t="t" l="l"/>
              <a:pathLst>
                <a:path h="548640" w="8595360">
                  <a:moveTo>
                    <a:pt x="0" y="0"/>
                  </a:moveTo>
                  <a:lnTo>
                    <a:pt x="8595360" y="0"/>
                  </a:lnTo>
                  <a:lnTo>
                    <a:pt x="8595360" y="548640"/>
                  </a:lnTo>
                  <a:lnTo>
                    <a:pt x="0" y="548640"/>
                  </a:lnTo>
                  <a:close/>
                </a:path>
              </a:pathLst>
            </a:custGeom>
            <a:blipFill>
              <a:blip r:embed="rId3">
                <a:alphaModFix amt="0"/>
              </a:blip>
              <a:stretch>
                <a:fillRect l="0" t="-255265" r="0" b="-255265"/>
              </a:stretch>
            </a:blipFill>
          </p:spPr>
        </p:sp>
        <p:sp>
          <p:nvSpPr>
            <p:cNvPr name="TextBox 38" id="38"/>
            <p:cNvSpPr txBox="true"/>
            <p:nvPr/>
          </p:nvSpPr>
          <p:spPr>
            <a:xfrm>
              <a:off x="0" y="-19050"/>
              <a:ext cx="8595360" cy="567690"/>
            </a:xfrm>
            <a:prstGeom prst="rect">
              <a:avLst/>
            </a:prstGeom>
          </p:spPr>
          <p:txBody>
            <a:bodyPr anchor="ctr" rtlCol="false" tIns="0" lIns="0" bIns="0" rIns="0"/>
            <a:lstStyle/>
            <a:p>
              <a:pPr algn="l">
                <a:lnSpc>
                  <a:spcPts val="1889"/>
                </a:lnSpc>
              </a:pPr>
              <a:r>
                <a:rPr lang="en-US" b="true" sz="1575" spc="150">
                  <a:solidFill>
                    <a:srgbClr val="2DD4BF"/>
                  </a:solidFill>
                  <a:latin typeface="Calibri (MS) Bold"/>
                  <a:ea typeface="Calibri (MS) Bold"/>
                  <a:cs typeface="Calibri (MS) Bold"/>
                  <a:sym typeface="Calibri (MS) Bold"/>
                </a:rPr>
                <a:t>GROUP</a:t>
              </a:r>
            </a:p>
          </p:txBody>
        </p:sp>
      </p:grpSp>
      <p:grpSp>
        <p:nvGrpSpPr>
          <p:cNvPr name="Group 39" id="39"/>
          <p:cNvGrpSpPr/>
          <p:nvPr/>
        </p:nvGrpSpPr>
        <p:grpSpPr>
          <a:xfrm rot="0">
            <a:off x="10492740" y="6473952"/>
            <a:ext cx="6446520" cy="548640"/>
            <a:chOff x="0" y="0"/>
            <a:chExt cx="8595360" cy="731520"/>
          </a:xfrm>
        </p:grpSpPr>
        <p:sp>
          <p:nvSpPr>
            <p:cNvPr name="Freeform 40" id="40"/>
            <p:cNvSpPr/>
            <p:nvPr/>
          </p:nvSpPr>
          <p:spPr>
            <a:xfrm flipH="false" flipV="false" rot="0">
              <a:off x="0" y="0"/>
              <a:ext cx="8595360" cy="731520"/>
            </a:xfrm>
            <a:custGeom>
              <a:avLst/>
              <a:gdLst/>
              <a:ahLst/>
              <a:cxnLst/>
              <a:rect r="r" b="b" t="t" l="l"/>
              <a:pathLst>
                <a:path h="731520" w="8595360">
                  <a:moveTo>
                    <a:pt x="0" y="0"/>
                  </a:moveTo>
                  <a:lnTo>
                    <a:pt x="8595360" y="0"/>
                  </a:lnTo>
                  <a:lnTo>
                    <a:pt x="8595360" y="731520"/>
                  </a:lnTo>
                  <a:lnTo>
                    <a:pt x="0" y="731520"/>
                  </a:lnTo>
                  <a:close/>
                </a:path>
              </a:pathLst>
            </a:custGeom>
            <a:blipFill>
              <a:blip r:embed="rId3">
                <a:alphaModFix amt="0"/>
              </a:blip>
              <a:stretch>
                <a:fillRect l="0" t="-178949" r="0" b="-178949"/>
              </a:stretch>
            </a:blipFill>
          </p:spPr>
        </p:sp>
        <p:sp>
          <p:nvSpPr>
            <p:cNvPr name="TextBox 41" id="41"/>
            <p:cNvSpPr txBox="true"/>
            <p:nvPr/>
          </p:nvSpPr>
          <p:spPr>
            <a:xfrm>
              <a:off x="0" y="-38100"/>
              <a:ext cx="8595360" cy="769620"/>
            </a:xfrm>
            <a:prstGeom prst="rect">
              <a:avLst/>
            </a:prstGeom>
          </p:spPr>
          <p:txBody>
            <a:bodyPr anchor="ctr" rtlCol="false" tIns="0" lIns="0" bIns="0" rIns="0"/>
            <a:lstStyle/>
            <a:p>
              <a:pPr algn="l">
                <a:lnSpc>
                  <a:spcPts val="2430"/>
                </a:lnSpc>
              </a:pPr>
              <a:r>
                <a:rPr lang="en-US" sz="2025">
                  <a:solidFill>
                    <a:srgbClr val="FFFFFF"/>
                  </a:solidFill>
                  <a:latin typeface="Calibri (MS)"/>
                  <a:ea typeface="Calibri (MS)"/>
                  <a:cs typeface="Calibri (MS)"/>
                  <a:sym typeface="Calibri (MS)"/>
                </a:rPr>
                <a:t>CAI4_AIS3_S4</a:t>
              </a:r>
            </a:p>
          </p:txBody>
        </p:sp>
      </p:grpSp>
      <p:grpSp>
        <p:nvGrpSpPr>
          <p:cNvPr name="Group 42" id="42"/>
          <p:cNvGrpSpPr/>
          <p:nvPr/>
        </p:nvGrpSpPr>
        <p:grpSpPr>
          <a:xfrm rot="0">
            <a:off x="10492740" y="7063740"/>
            <a:ext cx="6446520" cy="411480"/>
            <a:chOff x="0" y="0"/>
            <a:chExt cx="8595360" cy="548640"/>
          </a:xfrm>
        </p:grpSpPr>
        <p:sp>
          <p:nvSpPr>
            <p:cNvPr name="Freeform 43" id="43"/>
            <p:cNvSpPr/>
            <p:nvPr/>
          </p:nvSpPr>
          <p:spPr>
            <a:xfrm flipH="false" flipV="false" rot="0">
              <a:off x="0" y="0"/>
              <a:ext cx="8595360" cy="548640"/>
            </a:xfrm>
            <a:custGeom>
              <a:avLst/>
              <a:gdLst/>
              <a:ahLst/>
              <a:cxnLst/>
              <a:rect r="r" b="b" t="t" l="l"/>
              <a:pathLst>
                <a:path h="548640" w="8595360">
                  <a:moveTo>
                    <a:pt x="0" y="0"/>
                  </a:moveTo>
                  <a:lnTo>
                    <a:pt x="8595360" y="0"/>
                  </a:lnTo>
                  <a:lnTo>
                    <a:pt x="8595360" y="548640"/>
                  </a:lnTo>
                  <a:lnTo>
                    <a:pt x="0" y="548640"/>
                  </a:lnTo>
                  <a:close/>
                </a:path>
              </a:pathLst>
            </a:custGeom>
            <a:blipFill>
              <a:blip r:embed="rId3">
                <a:alphaModFix amt="0"/>
              </a:blip>
              <a:stretch>
                <a:fillRect l="0" t="-255265" r="0" b="-255265"/>
              </a:stretch>
            </a:blipFill>
          </p:spPr>
        </p:sp>
        <p:sp>
          <p:nvSpPr>
            <p:cNvPr name="TextBox 44" id="44"/>
            <p:cNvSpPr txBox="true"/>
            <p:nvPr/>
          </p:nvSpPr>
          <p:spPr>
            <a:xfrm>
              <a:off x="0" y="-19050"/>
              <a:ext cx="8595360" cy="567690"/>
            </a:xfrm>
            <a:prstGeom prst="rect">
              <a:avLst/>
            </a:prstGeom>
          </p:spPr>
          <p:txBody>
            <a:bodyPr anchor="ctr" rtlCol="false" tIns="0" lIns="0" bIns="0" rIns="0"/>
            <a:lstStyle/>
            <a:p>
              <a:pPr algn="l">
                <a:lnSpc>
                  <a:spcPts val="1889"/>
                </a:lnSpc>
              </a:pPr>
              <a:r>
                <a:rPr lang="en-US" b="true" sz="1575" spc="150">
                  <a:solidFill>
                    <a:srgbClr val="2DD4BF"/>
                  </a:solidFill>
                  <a:latin typeface="Calibri (MS) Bold"/>
                  <a:ea typeface="Calibri (MS) Bold"/>
                  <a:cs typeface="Calibri (MS) Bold"/>
                  <a:sym typeface="Calibri (MS) Bold"/>
                </a:rPr>
                <a:t>REPOSITORY</a:t>
              </a:r>
            </a:p>
          </p:txBody>
        </p:sp>
      </p:grpSp>
      <p:grpSp>
        <p:nvGrpSpPr>
          <p:cNvPr name="Group 45" id="45"/>
          <p:cNvGrpSpPr/>
          <p:nvPr/>
        </p:nvGrpSpPr>
        <p:grpSpPr>
          <a:xfrm rot="0">
            <a:off x="10492740" y="7502652"/>
            <a:ext cx="6446520" cy="548640"/>
            <a:chOff x="0" y="0"/>
            <a:chExt cx="8595360" cy="731520"/>
          </a:xfrm>
        </p:grpSpPr>
        <p:sp>
          <p:nvSpPr>
            <p:cNvPr name="Freeform 46" id="46"/>
            <p:cNvSpPr/>
            <p:nvPr/>
          </p:nvSpPr>
          <p:spPr>
            <a:xfrm flipH="false" flipV="false" rot="0">
              <a:off x="0" y="0"/>
              <a:ext cx="8595360" cy="731520"/>
            </a:xfrm>
            <a:custGeom>
              <a:avLst/>
              <a:gdLst/>
              <a:ahLst/>
              <a:cxnLst/>
              <a:rect r="r" b="b" t="t" l="l"/>
              <a:pathLst>
                <a:path h="731520" w="8595360">
                  <a:moveTo>
                    <a:pt x="0" y="0"/>
                  </a:moveTo>
                  <a:lnTo>
                    <a:pt x="8595360" y="0"/>
                  </a:lnTo>
                  <a:lnTo>
                    <a:pt x="8595360" y="731520"/>
                  </a:lnTo>
                  <a:lnTo>
                    <a:pt x="0" y="731520"/>
                  </a:lnTo>
                  <a:close/>
                </a:path>
              </a:pathLst>
            </a:custGeom>
            <a:blipFill>
              <a:blip r:embed="rId3">
                <a:alphaModFix amt="0"/>
              </a:blip>
              <a:stretch>
                <a:fillRect l="0" t="-178949" r="0" b="-178949"/>
              </a:stretch>
            </a:blipFill>
          </p:spPr>
        </p:sp>
        <p:sp>
          <p:nvSpPr>
            <p:cNvPr name="TextBox 47" id="47"/>
            <p:cNvSpPr txBox="true"/>
            <p:nvPr/>
          </p:nvSpPr>
          <p:spPr>
            <a:xfrm>
              <a:off x="0" y="-38100"/>
              <a:ext cx="8595360" cy="769620"/>
            </a:xfrm>
            <a:prstGeom prst="rect">
              <a:avLst/>
            </a:prstGeom>
          </p:spPr>
          <p:txBody>
            <a:bodyPr anchor="ctr" rtlCol="false" tIns="0" lIns="0" bIns="0" rIns="0"/>
            <a:lstStyle/>
            <a:p>
              <a:pPr algn="l">
                <a:lnSpc>
                  <a:spcPts val="2430"/>
                </a:lnSpc>
              </a:pPr>
              <a:r>
                <a:rPr lang="en-US" sz="2025">
                  <a:solidFill>
                    <a:srgbClr val="FFFFFF"/>
                  </a:solidFill>
                  <a:latin typeface="Calibri (MS)"/>
                  <a:ea typeface="Calibri (MS)"/>
                  <a:cs typeface="Calibri (MS)"/>
                  <a:sym typeface="Calibri (MS)"/>
                </a:rPr>
                <a:t>github.com/nhahub/NHA-4-119</a:t>
              </a:r>
            </a:p>
          </p:txBody>
        </p:sp>
      </p:grpSp>
      <p:grpSp>
        <p:nvGrpSpPr>
          <p:cNvPr name="Group 48" id="48"/>
          <p:cNvGrpSpPr/>
          <p:nvPr/>
        </p:nvGrpSpPr>
        <p:grpSpPr>
          <a:xfrm rot="0">
            <a:off x="685800" y="9793224"/>
            <a:ext cx="10972800" cy="411480"/>
            <a:chOff x="0" y="0"/>
            <a:chExt cx="14630400" cy="548640"/>
          </a:xfrm>
        </p:grpSpPr>
        <p:sp>
          <p:nvSpPr>
            <p:cNvPr name="Freeform 49" id="4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50" id="5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C"/>
                  </a:solidFill>
                  <a:latin typeface="Calibri (MS)"/>
                  <a:ea typeface="Calibri (MS)"/>
                  <a:cs typeface="Calibri (MS)"/>
                  <a:sym typeface="Calibri (MS)"/>
                </a:rPr>
                <a:t>Automated Content Generation System  ·  DEPI CAI4_AIS3_S4</a:t>
              </a:r>
            </a:p>
          </p:txBody>
        </p:sp>
      </p:grpSp>
      <p:grpSp>
        <p:nvGrpSpPr>
          <p:cNvPr name="Group 51" id="51"/>
          <p:cNvGrpSpPr/>
          <p:nvPr/>
        </p:nvGrpSpPr>
        <p:grpSpPr>
          <a:xfrm rot="0">
            <a:off x="17282160" y="9793224"/>
            <a:ext cx="548640" cy="411480"/>
            <a:chOff x="0" y="0"/>
            <a:chExt cx="731520" cy="548640"/>
          </a:xfrm>
        </p:grpSpPr>
        <p:sp>
          <p:nvSpPr>
            <p:cNvPr name="Freeform 52" id="5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53" id="53"/>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5B6B8C"/>
                  </a:solidFill>
                  <a:latin typeface="Calibri (MS)"/>
                  <a:ea typeface="Calibri (MS)"/>
                  <a:cs typeface="Calibri (MS)"/>
                  <a:sym typeface="Calibri (MS)"/>
                </a:rPr>
                <a:t>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ROADMAP</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Agenda</a:t>
              </a:r>
            </a:p>
          </p:txBody>
        </p:sp>
      </p:grpSp>
      <p:grpSp>
        <p:nvGrpSpPr>
          <p:cNvPr name="Group 8" id="8"/>
          <p:cNvGrpSpPr/>
          <p:nvPr/>
        </p:nvGrpSpPr>
        <p:grpSpPr>
          <a:xfrm rot="0">
            <a:off x="960120" y="2125980"/>
            <a:ext cx="754380" cy="754380"/>
            <a:chOff x="0" y="0"/>
            <a:chExt cx="1005840" cy="1005840"/>
          </a:xfrm>
        </p:grpSpPr>
        <p:sp>
          <p:nvSpPr>
            <p:cNvPr name="Freeform 9" id="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10" id="10"/>
          <p:cNvGrpSpPr/>
          <p:nvPr/>
        </p:nvGrpSpPr>
        <p:grpSpPr>
          <a:xfrm rot="0">
            <a:off x="960120" y="2125980"/>
            <a:ext cx="754380" cy="754380"/>
            <a:chOff x="0" y="0"/>
            <a:chExt cx="1005840" cy="1005840"/>
          </a:xfrm>
        </p:grpSpPr>
        <p:sp>
          <p:nvSpPr>
            <p:cNvPr name="Freeform 11" id="1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12" id="12"/>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1</a:t>
              </a:r>
            </a:p>
          </p:txBody>
        </p:sp>
      </p:grpSp>
      <p:grpSp>
        <p:nvGrpSpPr>
          <p:cNvPr name="Group 13" id="13"/>
          <p:cNvGrpSpPr/>
          <p:nvPr/>
        </p:nvGrpSpPr>
        <p:grpSpPr>
          <a:xfrm rot="0">
            <a:off x="1988820" y="2153412"/>
            <a:ext cx="7132320" cy="685800"/>
            <a:chOff x="0" y="0"/>
            <a:chExt cx="9509760" cy="914400"/>
          </a:xfrm>
        </p:grpSpPr>
        <p:sp>
          <p:nvSpPr>
            <p:cNvPr name="Freeform 14" id="14"/>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15" id="15"/>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Problem</a:t>
              </a:r>
            </a:p>
          </p:txBody>
        </p:sp>
      </p:grpSp>
      <p:grpSp>
        <p:nvGrpSpPr>
          <p:cNvPr name="Group 16" id="16"/>
          <p:cNvGrpSpPr/>
          <p:nvPr/>
        </p:nvGrpSpPr>
        <p:grpSpPr>
          <a:xfrm rot="0">
            <a:off x="960120" y="3566160"/>
            <a:ext cx="754380" cy="754380"/>
            <a:chOff x="0" y="0"/>
            <a:chExt cx="1005840" cy="1005840"/>
          </a:xfrm>
        </p:grpSpPr>
        <p:sp>
          <p:nvSpPr>
            <p:cNvPr name="Freeform 17" id="1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18" id="18"/>
          <p:cNvGrpSpPr/>
          <p:nvPr/>
        </p:nvGrpSpPr>
        <p:grpSpPr>
          <a:xfrm rot="0">
            <a:off x="960120" y="3566160"/>
            <a:ext cx="754380" cy="754380"/>
            <a:chOff x="0" y="0"/>
            <a:chExt cx="1005840" cy="1005840"/>
          </a:xfrm>
        </p:grpSpPr>
        <p:sp>
          <p:nvSpPr>
            <p:cNvPr name="Freeform 19" id="1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20" id="20"/>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2</a:t>
              </a:r>
            </a:p>
          </p:txBody>
        </p:sp>
      </p:grpSp>
      <p:grpSp>
        <p:nvGrpSpPr>
          <p:cNvPr name="Group 21" id="21"/>
          <p:cNvGrpSpPr/>
          <p:nvPr/>
        </p:nvGrpSpPr>
        <p:grpSpPr>
          <a:xfrm rot="0">
            <a:off x="1988820" y="3593592"/>
            <a:ext cx="7132320" cy="685800"/>
            <a:chOff x="0" y="0"/>
            <a:chExt cx="9509760" cy="914400"/>
          </a:xfrm>
        </p:grpSpPr>
        <p:sp>
          <p:nvSpPr>
            <p:cNvPr name="Freeform 22" id="22"/>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23" id="23"/>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Project Objective</a:t>
              </a:r>
            </a:p>
          </p:txBody>
        </p:sp>
      </p:grpSp>
      <p:grpSp>
        <p:nvGrpSpPr>
          <p:cNvPr name="Group 24" id="24"/>
          <p:cNvGrpSpPr/>
          <p:nvPr/>
        </p:nvGrpSpPr>
        <p:grpSpPr>
          <a:xfrm rot="0">
            <a:off x="960120" y="5006340"/>
            <a:ext cx="754380" cy="754380"/>
            <a:chOff x="0" y="0"/>
            <a:chExt cx="1005840" cy="1005840"/>
          </a:xfrm>
        </p:grpSpPr>
        <p:sp>
          <p:nvSpPr>
            <p:cNvPr name="Freeform 25" id="2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26" id="26"/>
          <p:cNvGrpSpPr/>
          <p:nvPr/>
        </p:nvGrpSpPr>
        <p:grpSpPr>
          <a:xfrm rot="0">
            <a:off x="960120" y="5006340"/>
            <a:ext cx="754380" cy="754380"/>
            <a:chOff x="0" y="0"/>
            <a:chExt cx="1005840" cy="1005840"/>
          </a:xfrm>
        </p:grpSpPr>
        <p:sp>
          <p:nvSpPr>
            <p:cNvPr name="Freeform 27" id="27"/>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28" id="28"/>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3</a:t>
              </a:r>
            </a:p>
          </p:txBody>
        </p:sp>
      </p:grpSp>
      <p:grpSp>
        <p:nvGrpSpPr>
          <p:cNvPr name="Group 29" id="29"/>
          <p:cNvGrpSpPr/>
          <p:nvPr/>
        </p:nvGrpSpPr>
        <p:grpSpPr>
          <a:xfrm rot="0">
            <a:off x="1988820" y="5033772"/>
            <a:ext cx="7132320" cy="685800"/>
            <a:chOff x="0" y="0"/>
            <a:chExt cx="9509760" cy="914400"/>
          </a:xfrm>
        </p:grpSpPr>
        <p:sp>
          <p:nvSpPr>
            <p:cNvPr name="Freeform 30" id="30"/>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31" id="31"/>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Proposed Solution</a:t>
              </a:r>
            </a:p>
          </p:txBody>
        </p:sp>
      </p:grpSp>
      <p:grpSp>
        <p:nvGrpSpPr>
          <p:cNvPr name="Group 32" id="32"/>
          <p:cNvGrpSpPr/>
          <p:nvPr/>
        </p:nvGrpSpPr>
        <p:grpSpPr>
          <a:xfrm rot="0">
            <a:off x="960120" y="6446520"/>
            <a:ext cx="754380" cy="754380"/>
            <a:chOff x="0" y="0"/>
            <a:chExt cx="1005840" cy="1005840"/>
          </a:xfrm>
        </p:grpSpPr>
        <p:sp>
          <p:nvSpPr>
            <p:cNvPr name="Freeform 33" id="3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34" id="34"/>
          <p:cNvGrpSpPr/>
          <p:nvPr/>
        </p:nvGrpSpPr>
        <p:grpSpPr>
          <a:xfrm rot="0">
            <a:off x="960120" y="6446520"/>
            <a:ext cx="754380" cy="754380"/>
            <a:chOff x="0" y="0"/>
            <a:chExt cx="1005840" cy="1005840"/>
          </a:xfrm>
        </p:grpSpPr>
        <p:sp>
          <p:nvSpPr>
            <p:cNvPr name="Freeform 35" id="3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36" id="36"/>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4</a:t>
              </a:r>
            </a:p>
          </p:txBody>
        </p:sp>
      </p:grpSp>
      <p:grpSp>
        <p:nvGrpSpPr>
          <p:cNvPr name="Group 37" id="37"/>
          <p:cNvGrpSpPr/>
          <p:nvPr/>
        </p:nvGrpSpPr>
        <p:grpSpPr>
          <a:xfrm rot="0">
            <a:off x="1988820" y="6473952"/>
            <a:ext cx="7132320" cy="685800"/>
            <a:chOff x="0" y="0"/>
            <a:chExt cx="9509760" cy="914400"/>
          </a:xfrm>
        </p:grpSpPr>
        <p:sp>
          <p:nvSpPr>
            <p:cNvPr name="Freeform 38" id="38"/>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39" id="39"/>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System Architecture</a:t>
              </a:r>
            </a:p>
          </p:txBody>
        </p:sp>
      </p:grpSp>
      <p:grpSp>
        <p:nvGrpSpPr>
          <p:cNvPr name="Group 40" id="40"/>
          <p:cNvGrpSpPr/>
          <p:nvPr/>
        </p:nvGrpSpPr>
        <p:grpSpPr>
          <a:xfrm rot="0">
            <a:off x="960120" y="7886700"/>
            <a:ext cx="754380" cy="754380"/>
            <a:chOff x="0" y="0"/>
            <a:chExt cx="1005840" cy="1005840"/>
          </a:xfrm>
        </p:grpSpPr>
        <p:sp>
          <p:nvSpPr>
            <p:cNvPr name="Freeform 41" id="4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42" id="42"/>
          <p:cNvGrpSpPr/>
          <p:nvPr/>
        </p:nvGrpSpPr>
        <p:grpSpPr>
          <a:xfrm rot="0">
            <a:off x="960120" y="7886700"/>
            <a:ext cx="754380" cy="754380"/>
            <a:chOff x="0" y="0"/>
            <a:chExt cx="1005840" cy="1005840"/>
          </a:xfrm>
        </p:grpSpPr>
        <p:sp>
          <p:nvSpPr>
            <p:cNvPr name="Freeform 43" id="4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44" id="44"/>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5</a:t>
              </a:r>
            </a:p>
          </p:txBody>
        </p:sp>
      </p:grpSp>
      <p:grpSp>
        <p:nvGrpSpPr>
          <p:cNvPr name="Group 45" id="45"/>
          <p:cNvGrpSpPr/>
          <p:nvPr/>
        </p:nvGrpSpPr>
        <p:grpSpPr>
          <a:xfrm rot="0">
            <a:off x="1988820" y="7914132"/>
            <a:ext cx="7132320" cy="685800"/>
            <a:chOff x="0" y="0"/>
            <a:chExt cx="9509760" cy="914400"/>
          </a:xfrm>
        </p:grpSpPr>
        <p:sp>
          <p:nvSpPr>
            <p:cNvPr name="Freeform 46" id="46"/>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47" id="47"/>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Agentic Workflow</a:t>
              </a:r>
            </a:p>
          </p:txBody>
        </p:sp>
      </p:grpSp>
      <p:grpSp>
        <p:nvGrpSpPr>
          <p:cNvPr name="Group 48" id="48"/>
          <p:cNvGrpSpPr/>
          <p:nvPr/>
        </p:nvGrpSpPr>
        <p:grpSpPr>
          <a:xfrm rot="0">
            <a:off x="9464040" y="2125980"/>
            <a:ext cx="754380" cy="754380"/>
            <a:chOff x="0" y="0"/>
            <a:chExt cx="1005840" cy="1005840"/>
          </a:xfrm>
        </p:grpSpPr>
        <p:sp>
          <p:nvSpPr>
            <p:cNvPr name="Freeform 49" id="4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50" id="50"/>
          <p:cNvGrpSpPr/>
          <p:nvPr/>
        </p:nvGrpSpPr>
        <p:grpSpPr>
          <a:xfrm rot="0">
            <a:off x="9464040" y="2125980"/>
            <a:ext cx="754380" cy="754380"/>
            <a:chOff x="0" y="0"/>
            <a:chExt cx="1005840" cy="1005840"/>
          </a:xfrm>
        </p:grpSpPr>
        <p:sp>
          <p:nvSpPr>
            <p:cNvPr name="Freeform 51" id="5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52" id="52"/>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6</a:t>
              </a:r>
            </a:p>
          </p:txBody>
        </p:sp>
      </p:grpSp>
      <p:grpSp>
        <p:nvGrpSpPr>
          <p:cNvPr name="Group 53" id="53"/>
          <p:cNvGrpSpPr/>
          <p:nvPr/>
        </p:nvGrpSpPr>
        <p:grpSpPr>
          <a:xfrm rot="0">
            <a:off x="10492740" y="2153412"/>
            <a:ext cx="7132320" cy="685800"/>
            <a:chOff x="0" y="0"/>
            <a:chExt cx="9509760" cy="914400"/>
          </a:xfrm>
        </p:grpSpPr>
        <p:sp>
          <p:nvSpPr>
            <p:cNvPr name="Freeform 54" id="54"/>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55" id="55"/>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Implementation</a:t>
              </a:r>
            </a:p>
          </p:txBody>
        </p:sp>
      </p:grpSp>
      <p:grpSp>
        <p:nvGrpSpPr>
          <p:cNvPr name="Group 56" id="56"/>
          <p:cNvGrpSpPr/>
          <p:nvPr/>
        </p:nvGrpSpPr>
        <p:grpSpPr>
          <a:xfrm rot="0">
            <a:off x="9464040" y="3566160"/>
            <a:ext cx="754380" cy="754380"/>
            <a:chOff x="0" y="0"/>
            <a:chExt cx="1005840" cy="1005840"/>
          </a:xfrm>
        </p:grpSpPr>
        <p:sp>
          <p:nvSpPr>
            <p:cNvPr name="Freeform 57" id="5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58" id="58"/>
          <p:cNvGrpSpPr/>
          <p:nvPr/>
        </p:nvGrpSpPr>
        <p:grpSpPr>
          <a:xfrm rot="0">
            <a:off x="9464040" y="3566160"/>
            <a:ext cx="754380" cy="754380"/>
            <a:chOff x="0" y="0"/>
            <a:chExt cx="1005840" cy="1005840"/>
          </a:xfrm>
        </p:grpSpPr>
        <p:sp>
          <p:nvSpPr>
            <p:cNvPr name="Freeform 59" id="5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0" id="60"/>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7</a:t>
              </a:r>
            </a:p>
          </p:txBody>
        </p:sp>
      </p:grpSp>
      <p:grpSp>
        <p:nvGrpSpPr>
          <p:cNvPr name="Group 61" id="61"/>
          <p:cNvGrpSpPr/>
          <p:nvPr/>
        </p:nvGrpSpPr>
        <p:grpSpPr>
          <a:xfrm rot="0">
            <a:off x="10492740" y="3593592"/>
            <a:ext cx="7132320" cy="685800"/>
            <a:chOff x="0" y="0"/>
            <a:chExt cx="9509760" cy="914400"/>
          </a:xfrm>
        </p:grpSpPr>
        <p:sp>
          <p:nvSpPr>
            <p:cNvPr name="Freeform 62" id="62"/>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63" id="63"/>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API &amp; Deployment</a:t>
              </a:r>
            </a:p>
          </p:txBody>
        </p:sp>
      </p:grpSp>
      <p:grpSp>
        <p:nvGrpSpPr>
          <p:cNvPr name="Group 64" id="64"/>
          <p:cNvGrpSpPr/>
          <p:nvPr/>
        </p:nvGrpSpPr>
        <p:grpSpPr>
          <a:xfrm rot="0">
            <a:off x="9464040" y="5006340"/>
            <a:ext cx="754380" cy="754380"/>
            <a:chOff x="0" y="0"/>
            <a:chExt cx="1005840" cy="1005840"/>
          </a:xfrm>
        </p:grpSpPr>
        <p:sp>
          <p:nvSpPr>
            <p:cNvPr name="Freeform 65" id="6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66" id="66"/>
          <p:cNvGrpSpPr/>
          <p:nvPr/>
        </p:nvGrpSpPr>
        <p:grpSpPr>
          <a:xfrm rot="0">
            <a:off x="9464040" y="5006340"/>
            <a:ext cx="754380" cy="754380"/>
            <a:chOff x="0" y="0"/>
            <a:chExt cx="1005840" cy="1005840"/>
          </a:xfrm>
        </p:grpSpPr>
        <p:sp>
          <p:nvSpPr>
            <p:cNvPr name="Freeform 67" id="67"/>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68" id="68"/>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8</a:t>
              </a:r>
            </a:p>
          </p:txBody>
        </p:sp>
      </p:grpSp>
      <p:grpSp>
        <p:nvGrpSpPr>
          <p:cNvPr name="Group 69" id="69"/>
          <p:cNvGrpSpPr/>
          <p:nvPr/>
        </p:nvGrpSpPr>
        <p:grpSpPr>
          <a:xfrm rot="0">
            <a:off x="10492740" y="5033772"/>
            <a:ext cx="7132320" cy="685800"/>
            <a:chOff x="0" y="0"/>
            <a:chExt cx="9509760" cy="914400"/>
          </a:xfrm>
        </p:grpSpPr>
        <p:sp>
          <p:nvSpPr>
            <p:cNvPr name="Freeform 70" id="70"/>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71" id="71"/>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Testing &amp; Results</a:t>
              </a:r>
            </a:p>
          </p:txBody>
        </p:sp>
      </p:grpSp>
      <p:grpSp>
        <p:nvGrpSpPr>
          <p:cNvPr name="Group 72" id="72"/>
          <p:cNvGrpSpPr/>
          <p:nvPr/>
        </p:nvGrpSpPr>
        <p:grpSpPr>
          <a:xfrm rot="0">
            <a:off x="9464040" y="6446520"/>
            <a:ext cx="754380" cy="754380"/>
            <a:chOff x="0" y="0"/>
            <a:chExt cx="1005840" cy="1005840"/>
          </a:xfrm>
        </p:grpSpPr>
        <p:sp>
          <p:nvSpPr>
            <p:cNvPr name="Freeform 73" id="7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74" id="74"/>
          <p:cNvGrpSpPr/>
          <p:nvPr/>
        </p:nvGrpSpPr>
        <p:grpSpPr>
          <a:xfrm rot="0">
            <a:off x="9464040" y="6446520"/>
            <a:ext cx="754380" cy="754380"/>
            <a:chOff x="0" y="0"/>
            <a:chExt cx="1005840" cy="1005840"/>
          </a:xfrm>
        </p:grpSpPr>
        <p:sp>
          <p:nvSpPr>
            <p:cNvPr name="Freeform 75" id="7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76" id="76"/>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9</a:t>
              </a:r>
            </a:p>
          </p:txBody>
        </p:sp>
      </p:grpSp>
      <p:grpSp>
        <p:nvGrpSpPr>
          <p:cNvPr name="Group 77" id="77"/>
          <p:cNvGrpSpPr/>
          <p:nvPr/>
        </p:nvGrpSpPr>
        <p:grpSpPr>
          <a:xfrm rot="0">
            <a:off x="10492740" y="6473952"/>
            <a:ext cx="7132320" cy="685800"/>
            <a:chOff x="0" y="0"/>
            <a:chExt cx="9509760" cy="914400"/>
          </a:xfrm>
        </p:grpSpPr>
        <p:sp>
          <p:nvSpPr>
            <p:cNvPr name="Freeform 78" id="78"/>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79" id="79"/>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Challenges</a:t>
              </a:r>
            </a:p>
          </p:txBody>
        </p:sp>
      </p:grpSp>
      <p:grpSp>
        <p:nvGrpSpPr>
          <p:cNvPr name="Group 80" id="80"/>
          <p:cNvGrpSpPr/>
          <p:nvPr/>
        </p:nvGrpSpPr>
        <p:grpSpPr>
          <a:xfrm rot="0">
            <a:off x="9464040" y="7886700"/>
            <a:ext cx="754380" cy="754380"/>
            <a:chOff x="0" y="0"/>
            <a:chExt cx="1005840" cy="1005840"/>
          </a:xfrm>
        </p:grpSpPr>
        <p:sp>
          <p:nvSpPr>
            <p:cNvPr name="Freeform 81" id="8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82" id="82"/>
          <p:cNvGrpSpPr/>
          <p:nvPr/>
        </p:nvGrpSpPr>
        <p:grpSpPr>
          <a:xfrm rot="0">
            <a:off x="9464040" y="7886700"/>
            <a:ext cx="754380" cy="754380"/>
            <a:chOff x="0" y="0"/>
            <a:chExt cx="1005840" cy="1005840"/>
          </a:xfrm>
        </p:grpSpPr>
        <p:sp>
          <p:nvSpPr>
            <p:cNvPr name="Freeform 83" id="8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84" id="84"/>
            <p:cNvSpPr txBox="true"/>
            <p:nvPr/>
          </p:nvSpPr>
          <p:spPr>
            <a:xfrm>
              <a:off x="0" y="-38100"/>
              <a:ext cx="1005840" cy="1043940"/>
            </a:xfrm>
            <a:prstGeom prst="rect">
              <a:avLst/>
            </a:prstGeom>
          </p:spPr>
          <p:txBody>
            <a:bodyPr anchor="ctr" rtlCol="false" tIns="0" lIns="0" bIns="0" rIns="0"/>
            <a:lstStyle/>
            <a:p>
              <a:pPr algn="ctr">
                <a:lnSpc>
                  <a:spcPts val="2879"/>
                </a:lnSpc>
              </a:pPr>
              <a:r>
                <a:rPr lang="en-US" sz="2400" b="true">
                  <a:solidFill>
                    <a:srgbClr val="2DD4BF"/>
                  </a:solidFill>
                  <a:latin typeface="Calibri (MS) Bold"/>
                  <a:ea typeface="Calibri (MS) Bold"/>
                  <a:cs typeface="Calibri (MS) Bold"/>
                  <a:sym typeface="Calibri (MS) Bold"/>
                </a:rPr>
                <a:t>10</a:t>
              </a:r>
            </a:p>
          </p:txBody>
        </p:sp>
      </p:grpSp>
      <p:grpSp>
        <p:nvGrpSpPr>
          <p:cNvPr name="Group 85" id="85"/>
          <p:cNvGrpSpPr/>
          <p:nvPr/>
        </p:nvGrpSpPr>
        <p:grpSpPr>
          <a:xfrm rot="0">
            <a:off x="10492740" y="7914132"/>
            <a:ext cx="7132320" cy="685800"/>
            <a:chOff x="0" y="0"/>
            <a:chExt cx="9509760" cy="914400"/>
          </a:xfrm>
        </p:grpSpPr>
        <p:sp>
          <p:nvSpPr>
            <p:cNvPr name="Freeform 86" id="86"/>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87" id="87"/>
            <p:cNvSpPr txBox="true"/>
            <p:nvPr/>
          </p:nvSpPr>
          <p:spPr>
            <a:xfrm>
              <a:off x="0" y="-38100"/>
              <a:ext cx="95097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Future Work</a:t>
              </a:r>
            </a:p>
          </p:txBody>
        </p:sp>
      </p:grpSp>
      <p:grpSp>
        <p:nvGrpSpPr>
          <p:cNvPr name="Group 88" id="88"/>
          <p:cNvGrpSpPr/>
          <p:nvPr/>
        </p:nvGrpSpPr>
        <p:grpSpPr>
          <a:xfrm rot="0">
            <a:off x="685800" y="9793224"/>
            <a:ext cx="10972800" cy="411480"/>
            <a:chOff x="0" y="0"/>
            <a:chExt cx="14630400" cy="548640"/>
          </a:xfrm>
        </p:grpSpPr>
        <p:sp>
          <p:nvSpPr>
            <p:cNvPr name="Freeform 89" id="8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90" id="9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91" id="91"/>
          <p:cNvGrpSpPr/>
          <p:nvPr/>
        </p:nvGrpSpPr>
        <p:grpSpPr>
          <a:xfrm rot="0">
            <a:off x="17282160" y="9793224"/>
            <a:ext cx="548640" cy="411480"/>
            <a:chOff x="0" y="0"/>
            <a:chExt cx="731520" cy="548640"/>
          </a:xfrm>
        </p:grpSpPr>
        <p:sp>
          <p:nvSpPr>
            <p:cNvPr name="Freeform 92" id="9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93" id="93"/>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1 · THE PROBLEM</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The Content Creation Challenge</a:t>
              </a:r>
            </a:p>
          </p:txBody>
        </p:sp>
      </p:grpSp>
      <p:grpSp>
        <p:nvGrpSpPr>
          <p:cNvPr name="Group 8" id="8"/>
          <p:cNvGrpSpPr/>
          <p:nvPr/>
        </p:nvGrpSpPr>
        <p:grpSpPr>
          <a:xfrm rot="0">
            <a:off x="952976" y="2118836"/>
            <a:ext cx="8038147" cy="3168967"/>
            <a:chOff x="0" y="0"/>
            <a:chExt cx="10717530" cy="4225290"/>
          </a:xfrm>
        </p:grpSpPr>
        <p:sp>
          <p:nvSpPr>
            <p:cNvPr name="Freeform 9" id="9"/>
            <p:cNvSpPr/>
            <p:nvPr/>
          </p:nvSpPr>
          <p:spPr>
            <a:xfrm flipH="false" flipV="false" rot="0">
              <a:off x="0" y="0"/>
              <a:ext cx="10717530" cy="4225290"/>
            </a:xfrm>
            <a:custGeom>
              <a:avLst/>
              <a:gdLst/>
              <a:ahLst/>
              <a:cxnLst/>
              <a:rect r="r" b="b" t="t" l="l"/>
              <a:pathLst>
                <a:path h="4225290" w="10717530">
                  <a:moveTo>
                    <a:pt x="0" y="146939"/>
                  </a:moveTo>
                  <a:cubicBezTo>
                    <a:pt x="0" y="65786"/>
                    <a:pt x="65786" y="0"/>
                    <a:pt x="146939" y="0"/>
                  </a:cubicBezTo>
                  <a:lnTo>
                    <a:pt x="10570591" y="0"/>
                  </a:lnTo>
                  <a:cubicBezTo>
                    <a:pt x="10651744" y="0"/>
                    <a:pt x="10717530" y="65786"/>
                    <a:pt x="10717530" y="146939"/>
                  </a:cubicBezTo>
                  <a:lnTo>
                    <a:pt x="10717530" y="4078351"/>
                  </a:lnTo>
                  <a:cubicBezTo>
                    <a:pt x="10717530" y="4159504"/>
                    <a:pt x="10651744" y="4225290"/>
                    <a:pt x="10570591" y="4225290"/>
                  </a:cubicBezTo>
                  <a:lnTo>
                    <a:pt x="146939" y="4225290"/>
                  </a:lnTo>
                  <a:cubicBezTo>
                    <a:pt x="65786" y="4225290"/>
                    <a:pt x="0" y="4159504"/>
                    <a:pt x="0" y="4078351"/>
                  </a:cubicBezTo>
                  <a:close/>
                </a:path>
              </a:pathLst>
            </a:custGeom>
            <a:solidFill>
              <a:srgbClr val="FFFFFF"/>
            </a:solidFill>
            <a:ln w="14288" cap="sq">
              <a:solidFill>
                <a:srgbClr val="E2E8F0"/>
              </a:solidFill>
              <a:prstDash val="solid"/>
              <a:miter/>
            </a:ln>
          </p:spPr>
        </p:sp>
      </p:grpSp>
      <p:grpSp>
        <p:nvGrpSpPr>
          <p:cNvPr name="Group 10" id="10"/>
          <p:cNvGrpSpPr/>
          <p:nvPr/>
        </p:nvGrpSpPr>
        <p:grpSpPr>
          <a:xfrm rot="0">
            <a:off x="1440180" y="2606040"/>
            <a:ext cx="1028700" cy="1028700"/>
            <a:chOff x="0" y="0"/>
            <a:chExt cx="1371600" cy="1371600"/>
          </a:xfrm>
        </p:grpSpPr>
        <p:sp>
          <p:nvSpPr>
            <p:cNvPr name="Freeform 11" id="11"/>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16213E"/>
            </a:solidFill>
          </p:spPr>
        </p:sp>
      </p:grpSp>
      <p:grpSp>
        <p:nvGrpSpPr>
          <p:cNvPr name="Group 12" id="12"/>
          <p:cNvGrpSpPr/>
          <p:nvPr/>
        </p:nvGrpSpPr>
        <p:grpSpPr>
          <a:xfrm rot="0">
            <a:off x="1563624" y="2729484"/>
            <a:ext cx="781812" cy="781812"/>
            <a:chOff x="0" y="0"/>
            <a:chExt cx="1042416" cy="1042416"/>
          </a:xfrm>
        </p:grpSpPr>
        <p:sp>
          <p:nvSpPr>
            <p:cNvPr name="Freeform 13" id="13" descr="/home/claude/pptx/icons/speed.png"/>
            <p:cNvSpPr/>
            <p:nvPr/>
          </p:nvSpPr>
          <p:spPr>
            <a:xfrm flipH="false" flipV="false" rot="0">
              <a:off x="0" y="0"/>
              <a:ext cx="1042416" cy="1042416"/>
            </a:xfrm>
            <a:custGeom>
              <a:avLst/>
              <a:gdLst/>
              <a:ahLst/>
              <a:cxnLst/>
              <a:rect r="r" b="b" t="t" l="l"/>
              <a:pathLst>
                <a:path h="1042416" w="1042416">
                  <a:moveTo>
                    <a:pt x="0" y="0"/>
                  </a:moveTo>
                  <a:lnTo>
                    <a:pt x="1042416" y="0"/>
                  </a:lnTo>
                  <a:lnTo>
                    <a:pt x="1042416" y="1042416"/>
                  </a:lnTo>
                  <a:lnTo>
                    <a:pt x="0" y="1042416"/>
                  </a:lnTo>
                  <a:lnTo>
                    <a:pt x="0" y="0"/>
                  </a:lnTo>
                  <a:close/>
                </a:path>
              </a:pathLst>
            </a:custGeom>
            <a:blipFill>
              <a:blip r:embed="rId4"/>
              <a:stretch>
                <a:fillRect l="0" t="0" r="0" b="0"/>
              </a:stretch>
            </a:blipFill>
          </p:spPr>
        </p:sp>
      </p:grpSp>
      <p:grpSp>
        <p:nvGrpSpPr>
          <p:cNvPr name="Group 14" id="14"/>
          <p:cNvGrpSpPr/>
          <p:nvPr/>
        </p:nvGrpSpPr>
        <p:grpSpPr>
          <a:xfrm rot="0">
            <a:off x="2811780" y="2537460"/>
            <a:ext cx="5760720" cy="685800"/>
            <a:chOff x="0" y="0"/>
            <a:chExt cx="7680960" cy="914400"/>
          </a:xfrm>
        </p:grpSpPr>
        <p:sp>
          <p:nvSpPr>
            <p:cNvPr name="Freeform 15" id="15"/>
            <p:cNvSpPr/>
            <p:nvPr/>
          </p:nvSpPr>
          <p:spPr>
            <a:xfrm flipH="false" flipV="false" rot="0">
              <a:off x="0" y="0"/>
              <a:ext cx="7680960" cy="914400"/>
            </a:xfrm>
            <a:custGeom>
              <a:avLst/>
              <a:gdLst/>
              <a:ahLst/>
              <a:cxnLst/>
              <a:rect r="r" b="b" t="t" l="l"/>
              <a:pathLst>
                <a:path h="914400" w="7680960">
                  <a:moveTo>
                    <a:pt x="0" y="0"/>
                  </a:moveTo>
                  <a:lnTo>
                    <a:pt x="7680960" y="0"/>
                  </a:lnTo>
                  <a:lnTo>
                    <a:pt x="7680960" y="914400"/>
                  </a:lnTo>
                  <a:lnTo>
                    <a:pt x="0" y="914400"/>
                  </a:lnTo>
                  <a:close/>
                </a:path>
              </a:pathLst>
            </a:custGeom>
            <a:blipFill>
              <a:blip r:embed="rId3">
                <a:alphaModFix amt="0"/>
              </a:blip>
              <a:stretch>
                <a:fillRect l="0" t="-113674" r="0" b="-113674"/>
              </a:stretch>
            </a:blipFill>
          </p:spPr>
        </p:sp>
        <p:sp>
          <p:nvSpPr>
            <p:cNvPr name="TextBox 16" id="16"/>
            <p:cNvSpPr txBox="true"/>
            <p:nvPr/>
          </p:nvSpPr>
          <p:spPr>
            <a:xfrm>
              <a:off x="0" y="-38100"/>
              <a:ext cx="76809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Constant Demand</a:t>
              </a:r>
            </a:p>
          </p:txBody>
        </p:sp>
      </p:grpSp>
      <p:grpSp>
        <p:nvGrpSpPr>
          <p:cNvPr name="Group 17" id="17"/>
          <p:cNvGrpSpPr/>
          <p:nvPr/>
        </p:nvGrpSpPr>
        <p:grpSpPr>
          <a:xfrm rot="0">
            <a:off x="1508760" y="3703320"/>
            <a:ext cx="6995160" cy="1371600"/>
            <a:chOff x="0" y="0"/>
            <a:chExt cx="9326880" cy="1828800"/>
          </a:xfrm>
        </p:grpSpPr>
        <p:sp>
          <p:nvSpPr>
            <p:cNvPr name="Freeform 18" id="18"/>
            <p:cNvSpPr/>
            <p:nvPr/>
          </p:nvSpPr>
          <p:spPr>
            <a:xfrm flipH="false" flipV="false" rot="0">
              <a:off x="0" y="0"/>
              <a:ext cx="9326880" cy="1828800"/>
            </a:xfrm>
            <a:custGeom>
              <a:avLst/>
              <a:gdLst/>
              <a:ahLst/>
              <a:cxnLst/>
              <a:rect r="r" b="b" t="t" l="l"/>
              <a:pathLst>
                <a:path h="1828800" w="9326880">
                  <a:moveTo>
                    <a:pt x="0" y="0"/>
                  </a:moveTo>
                  <a:lnTo>
                    <a:pt x="9326880" y="0"/>
                  </a:lnTo>
                  <a:lnTo>
                    <a:pt x="9326880" y="1828800"/>
                  </a:lnTo>
                  <a:lnTo>
                    <a:pt x="0" y="1828800"/>
                  </a:lnTo>
                  <a:close/>
                </a:path>
              </a:pathLst>
            </a:custGeom>
            <a:blipFill>
              <a:blip r:embed="rId3">
                <a:alphaModFix amt="0"/>
              </a:blip>
              <a:stretch>
                <a:fillRect l="0" t="-49373" r="0" b="-49373"/>
              </a:stretch>
            </a:blipFill>
          </p:spPr>
        </p:sp>
        <p:sp>
          <p:nvSpPr>
            <p:cNvPr name="TextBox 19" id="19"/>
            <p:cNvSpPr txBox="true"/>
            <p:nvPr/>
          </p:nvSpPr>
          <p:spPr>
            <a:xfrm>
              <a:off x="0" y="-38100"/>
              <a:ext cx="9326880" cy="1866900"/>
            </a:xfrm>
            <a:prstGeom prst="rect">
              <a:avLst/>
            </a:prstGeom>
          </p:spPr>
          <p:txBody>
            <a:bodyPr anchor="ctr" rtlCol="false" tIns="0" lIns="0" bIns="0" rIns="0"/>
            <a:lstStyle/>
            <a:p>
              <a:pPr algn="l">
                <a:lnSpc>
                  <a:spcPts val="2250"/>
                </a:lnSpc>
              </a:pPr>
              <a:r>
                <a:rPr lang="en-US" sz="1875">
                  <a:solidFill>
                    <a:srgbClr val="64748B"/>
                  </a:solidFill>
                  <a:latin typeface="Calibri (MS)"/>
                  <a:ea typeface="Calibri (MS)"/>
                  <a:cs typeface="Calibri (MS)"/>
                  <a:sym typeface="Calibri (MS)"/>
                </a:rPr>
                <a:t>Businesses need fresh content daily across blogs, social platforms, and email — for every channel, every week.</a:t>
              </a:r>
            </a:p>
          </p:txBody>
        </p:sp>
      </p:grpSp>
      <p:grpSp>
        <p:nvGrpSpPr>
          <p:cNvPr name="Group 20" id="20"/>
          <p:cNvGrpSpPr/>
          <p:nvPr/>
        </p:nvGrpSpPr>
        <p:grpSpPr>
          <a:xfrm rot="0">
            <a:off x="9388316" y="2118836"/>
            <a:ext cx="8038147" cy="3168967"/>
            <a:chOff x="0" y="0"/>
            <a:chExt cx="10717530" cy="4225290"/>
          </a:xfrm>
        </p:grpSpPr>
        <p:sp>
          <p:nvSpPr>
            <p:cNvPr name="Freeform 21" id="21"/>
            <p:cNvSpPr/>
            <p:nvPr/>
          </p:nvSpPr>
          <p:spPr>
            <a:xfrm flipH="false" flipV="false" rot="0">
              <a:off x="0" y="0"/>
              <a:ext cx="10717530" cy="4225290"/>
            </a:xfrm>
            <a:custGeom>
              <a:avLst/>
              <a:gdLst/>
              <a:ahLst/>
              <a:cxnLst/>
              <a:rect r="r" b="b" t="t" l="l"/>
              <a:pathLst>
                <a:path h="4225290" w="10717530">
                  <a:moveTo>
                    <a:pt x="0" y="146939"/>
                  </a:moveTo>
                  <a:cubicBezTo>
                    <a:pt x="0" y="65786"/>
                    <a:pt x="65786" y="0"/>
                    <a:pt x="146939" y="0"/>
                  </a:cubicBezTo>
                  <a:lnTo>
                    <a:pt x="10570591" y="0"/>
                  </a:lnTo>
                  <a:cubicBezTo>
                    <a:pt x="10651744" y="0"/>
                    <a:pt x="10717530" y="65786"/>
                    <a:pt x="10717530" y="146939"/>
                  </a:cubicBezTo>
                  <a:lnTo>
                    <a:pt x="10717530" y="4078351"/>
                  </a:lnTo>
                  <a:cubicBezTo>
                    <a:pt x="10717530" y="4159504"/>
                    <a:pt x="10651744" y="4225290"/>
                    <a:pt x="10570591" y="4225290"/>
                  </a:cubicBezTo>
                  <a:lnTo>
                    <a:pt x="146939" y="4225290"/>
                  </a:lnTo>
                  <a:cubicBezTo>
                    <a:pt x="65786" y="4225290"/>
                    <a:pt x="0" y="4159504"/>
                    <a:pt x="0" y="4078351"/>
                  </a:cubicBezTo>
                  <a:close/>
                </a:path>
              </a:pathLst>
            </a:custGeom>
            <a:solidFill>
              <a:srgbClr val="FFFFFF"/>
            </a:solidFill>
            <a:ln w="14288" cap="sq">
              <a:solidFill>
                <a:srgbClr val="E2E8F0"/>
              </a:solidFill>
              <a:prstDash val="solid"/>
              <a:miter/>
            </a:ln>
          </p:spPr>
        </p:sp>
      </p:grpSp>
      <p:grpSp>
        <p:nvGrpSpPr>
          <p:cNvPr name="Group 22" id="22"/>
          <p:cNvGrpSpPr/>
          <p:nvPr/>
        </p:nvGrpSpPr>
        <p:grpSpPr>
          <a:xfrm rot="0">
            <a:off x="9875520" y="2606040"/>
            <a:ext cx="1028700" cy="1028700"/>
            <a:chOff x="0" y="0"/>
            <a:chExt cx="1371600" cy="1371600"/>
          </a:xfrm>
        </p:grpSpPr>
        <p:sp>
          <p:nvSpPr>
            <p:cNvPr name="Freeform 23" id="23"/>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16213E"/>
            </a:solidFill>
          </p:spPr>
        </p:sp>
      </p:grpSp>
      <p:grpSp>
        <p:nvGrpSpPr>
          <p:cNvPr name="Group 24" id="24"/>
          <p:cNvGrpSpPr/>
          <p:nvPr/>
        </p:nvGrpSpPr>
        <p:grpSpPr>
          <a:xfrm rot="0">
            <a:off x="9998964" y="2729484"/>
            <a:ext cx="781812" cy="781812"/>
            <a:chOff x="0" y="0"/>
            <a:chExt cx="1042416" cy="1042416"/>
          </a:xfrm>
        </p:grpSpPr>
        <p:sp>
          <p:nvSpPr>
            <p:cNvPr name="Freeform 25" id="25" descr="/home/claude/pptx/icons/user.png"/>
            <p:cNvSpPr/>
            <p:nvPr/>
          </p:nvSpPr>
          <p:spPr>
            <a:xfrm flipH="false" flipV="false" rot="0">
              <a:off x="0" y="0"/>
              <a:ext cx="1042416" cy="1042416"/>
            </a:xfrm>
            <a:custGeom>
              <a:avLst/>
              <a:gdLst/>
              <a:ahLst/>
              <a:cxnLst/>
              <a:rect r="r" b="b" t="t" l="l"/>
              <a:pathLst>
                <a:path h="1042416" w="1042416">
                  <a:moveTo>
                    <a:pt x="0" y="0"/>
                  </a:moveTo>
                  <a:lnTo>
                    <a:pt x="1042416" y="0"/>
                  </a:lnTo>
                  <a:lnTo>
                    <a:pt x="1042416" y="1042416"/>
                  </a:lnTo>
                  <a:lnTo>
                    <a:pt x="0" y="1042416"/>
                  </a:lnTo>
                  <a:lnTo>
                    <a:pt x="0" y="0"/>
                  </a:lnTo>
                  <a:close/>
                </a:path>
              </a:pathLst>
            </a:custGeom>
            <a:blipFill>
              <a:blip r:embed="rId5"/>
              <a:stretch>
                <a:fillRect l="0" t="0" r="0" b="0"/>
              </a:stretch>
            </a:blipFill>
          </p:spPr>
        </p:sp>
      </p:grpSp>
      <p:grpSp>
        <p:nvGrpSpPr>
          <p:cNvPr name="Group 26" id="26"/>
          <p:cNvGrpSpPr/>
          <p:nvPr/>
        </p:nvGrpSpPr>
        <p:grpSpPr>
          <a:xfrm rot="0">
            <a:off x="11247120" y="2537460"/>
            <a:ext cx="5760720" cy="685800"/>
            <a:chOff x="0" y="0"/>
            <a:chExt cx="7680960" cy="914400"/>
          </a:xfrm>
        </p:grpSpPr>
        <p:sp>
          <p:nvSpPr>
            <p:cNvPr name="Freeform 27" id="27"/>
            <p:cNvSpPr/>
            <p:nvPr/>
          </p:nvSpPr>
          <p:spPr>
            <a:xfrm flipH="false" flipV="false" rot="0">
              <a:off x="0" y="0"/>
              <a:ext cx="7680960" cy="914400"/>
            </a:xfrm>
            <a:custGeom>
              <a:avLst/>
              <a:gdLst/>
              <a:ahLst/>
              <a:cxnLst/>
              <a:rect r="r" b="b" t="t" l="l"/>
              <a:pathLst>
                <a:path h="914400" w="7680960">
                  <a:moveTo>
                    <a:pt x="0" y="0"/>
                  </a:moveTo>
                  <a:lnTo>
                    <a:pt x="7680960" y="0"/>
                  </a:lnTo>
                  <a:lnTo>
                    <a:pt x="7680960" y="914400"/>
                  </a:lnTo>
                  <a:lnTo>
                    <a:pt x="0" y="914400"/>
                  </a:lnTo>
                  <a:close/>
                </a:path>
              </a:pathLst>
            </a:custGeom>
            <a:blipFill>
              <a:blip r:embed="rId3">
                <a:alphaModFix amt="0"/>
              </a:blip>
              <a:stretch>
                <a:fillRect l="0" t="-113674" r="0" b="-113674"/>
              </a:stretch>
            </a:blipFill>
          </p:spPr>
        </p:sp>
        <p:sp>
          <p:nvSpPr>
            <p:cNvPr name="TextBox 28" id="28"/>
            <p:cNvSpPr txBox="true"/>
            <p:nvPr/>
          </p:nvSpPr>
          <p:spPr>
            <a:xfrm>
              <a:off x="0" y="-38100"/>
              <a:ext cx="76809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Manual Writing Is Slow</a:t>
              </a:r>
            </a:p>
          </p:txBody>
        </p:sp>
      </p:grpSp>
      <p:grpSp>
        <p:nvGrpSpPr>
          <p:cNvPr name="Group 29" id="29"/>
          <p:cNvGrpSpPr/>
          <p:nvPr/>
        </p:nvGrpSpPr>
        <p:grpSpPr>
          <a:xfrm rot="0">
            <a:off x="9944100" y="3703320"/>
            <a:ext cx="6995160" cy="1371600"/>
            <a:chOff x="0" y="0"/>
            <a:chExt cx="9326880" cy="1828800"/>
          </a:xfrm>
        </p:grpSpPr>
        <p:sp>
          <p:nvSpPr>
            <p:cNvPr name="Freeform 30" id="30"/>
            <p:cNvSpPr/>
            <p:nvPr/>
          </p:nvSpPr>
          <p:spPr>
            <a:xfrm flipH="false" flipV="false" rot="0">
              <a:off x="0" y="0"/>
              <a:ext cx="9326880" cy="1828800"/>
            </a:xfrm>
            <a:custGeom>
              <a:avLst/>
              <a:gdLst/>
              <a:ahLst/>
              <a:cxnLst/>
              <a:rect r="r" b="b" t="t" l="l"/>
              <a:pathLst>
                <a:path h="1828800" w="9326880">
                  <a:moveTo>
                    <a:pt x="0" y="0"/>
                  </a:moveTo>
                  <a:lnTo>
                    <a:pt x="9326880" y="0"/>
                  </a:lnTo>
                  <a:lnTo>
                    <a:pt x="9326880" y="1828800"/>
                  </a:lnTo>
                  <a:lnTo>
                    <a:pt x="0" y="1828800"/>
                  </a:lnTo>
                  <a:close/>
                </a:path>
              </a:pathLst>
            </a:custGeom>
            <a:blipFill>
              <a:blip r:embed="rId3">
                <a:alphaModFix amt="0"/>
              </a:blip>
              <a:stretch>
                <a:fillRect l="0" t="-49373" r="0" b="-49373"/>
              </a:stretch>
            </a:blipFill>
          </p:spPr>
        </p:sp>
        <p:sp>
          <p:nvSpPr>
            <p:cNvPr name="TextBox 31" id="31"/>
            <p:cNvSpPr txBox="true"/>
            <p:nvPr/>
          </p:nvSpPr>
          <p:spPr>
            <a:xfrm>
              <a:off x="0" y="-38100"/>
              <a:ext cx="9326880" cy="1866900"/>
            </a:xfrm>
            <a:prstGeom prst="rect">
              <a:avLst/>
            </a:prstGeom>
          </p:spPr>
          <p:txBody>
            <a:bodyPr anchor="ctr" rtlCol="false" tIns="0" lIns="0" bIns="0" rIns="0"/>
            <a:lstStyle/>
            <a:p>
              <a:pPr algn="l">
                <a:lnSpc>
                  <a:spcPts val="2250"/>
                </a:lnSpc>
              </a:pPr>
              <a:r>
                <a:rPr lang="en-US" sz="1875">
                  <a:solidFill>
                    <a:srgbClr val="64748B"/>
                  </a:solidFill>
                  <a:latin typeface="Calibri (MS)"/>
                  <a:ea typeface="Calibri (MS)"/>
                  <a:cs typeface="Calibri (MS)"/>
                  <a:sym typeface="Calibri (MS)"/>
                </a:rPr>
                <a:t>Producing well-structured, platform-appropriate content by hand is time-consuming and hard to scale across a team.</a:t>
              </a:r>
            </a:p>
          </p:txBody>
        </p:sp>
      </p:grpSp>
      <p:grpSp>
        <p:nvGrpSpPr>
          <p:cNvPr name="Group 32" id="32"/>
          <p:cNvGrpSpPr/>
          <p:nvPr/>
        </p:nvGrpSpPr>
        <p:grpSpPr>
          <a:xfrm rot="0">
            <a:off x="952976" y="5616416"/>
            <a:ext cx="8038147" cy="3168967"/>
            <a:chOff x="0" y="0"/>
            <a:chExt cx="10717530" cy="4225290"/>
          </a:xfrm>
        </p:grpSpPr>
        <p:sp>
          <p:nvSpPr>
            <p:cNvPr name="Freeform 33" id="33"/>
            <p:cNvSpPr/>
            <p:nvPr/>
          </p:nvSpPr>
          <p:spPr>
            <a:xfrm flipH="false" flipV="false" rot="0">
              <a:off x="0" y="0"/>
              <a:ext cx="10717530" cy="4225290"/>
            </a:xfrm>
            <a:custGeom>
              <a:avLst/>
              <a:gdLst/>
              <a:ahLst/>
              <a:cxnLst/>
              <a:rect r="r" b="b" t="t" l="l"/>
              <a:pathLst>
                <a:path h="4225290" w="10717530">
                  <a:moveTo>
                    <a:pt x="0" y="146939"/>
                  </a:moveTo>
                  <a:cubicBezTo>
                    <a:pt x="0" y="65786"/>
                    <a:pt x="65786" y="0"/>
                    <a:pt x="146939" y="0"/>
                  </a:cubicBezTo>
                  <a:lnTo>
                    <a:pt x="10570591" y="0"/>
                  </a:lnTo>
                  <a:cubicBezTo>
                    <a:pt x="10651744" y="0"/>
                    <a:pt x="10717530" y="65786"/>
                    <a:pt x="10717530" y="146939"/>
                  </a:cubicBezTo>
                  <a:lnTo>
                    <a:pt x="10717530" y="4078351"/>
                  </a:lnTo>
                  <a:cubicBezTo>
                    <a:pt x="10717530" y="4159504"/>
                    <a:pt x="10651744" y="4225290"/>
                    <a:pt x="10570591" y="4225290"/>
                  </a:cubicBezTo>
                  <a:lnTo>
                    <a:pt x="146939" y="4225290"/>
                  </a:lnTo>
                  <a:cubicBezTo>
                    <a:pt x="65786" y="4225290"/>
                    <a:pt x="0" y="4159504"/>
                    <a:pt x="0" y="4078351"/>
                  </a:cubicBezTo>
                  <a:close/>
                </a:path>
              </a:pathLst>
            </a:custGeom>
            <a:solidFill>
              <a:srgbClr val="FFFFFF"/>
            </a:solidFill>
            <a:ln w="14288" cap="sq">
              <a:solidFill>
                <a:srgbClr val="E2E8F0"/>
              </a:solidFill>
              <a:prstDash val="solid"/>
              <a:miter/>
            </a:ln>
          </p:spPr>
        </p:sp>
      </p:grpSp>
      <p:grpSp>
        <p:nvGrpSpPr>
          <p:cNvPr name="Group 34" id="34"/>
          <p:cNvGrpSpPr/>
          <p:nvPr/>
        </p:nvGrpSpPr>
        <p:grpSpPr>
          <a:xfrm rot="0">
            <a:off x="1440180" y="6103620"/>
            <a:ext cx="1028700" cy="1028700"/>
            <a:chOff x="0" y="0"/>
            <a:chExt cx="1371600" cy="1371600"/>
          </a:xfrm>
        </p:grpSpPr>
        <p:sp>
          <p:nvSpPr>
            <p:cNvPr name="Freeform 35" id="35"/>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16213E"/>
            </a:solidFill>
          </p:spPr>
        </p:sp>
      </p:grpSp>
      <p:grpSp>
        <p:nvGrpSpPr>
          <p:cNvPr name="Group 36" id="36"/>
          <p:cNvGrpSpPr/>
          <p:nvPr/>
        </p:nvGrpSpPr>
        <p:grpSpPr>
          <a:xfrm rot="0">
            <a:off x="1563624" y="6227064"/>
            <a:ext cx="781812" cy="781812"/>
            <a:chOff x="0" y="0"/>
            <a:chExt cx="1042416" cy="1042416"/>
          </a:xfrm>
        </p:grpSpPr>
        <p:sp>
          <p:nvSpPr>
            <p:cNvPr name="Freeform 37" id="37" descr="/home/claude/pptx/icons/security.png"/>
            <p:cNvSpPr/>
            <p:nvPr/>
          </p:nvSpPr>
          <p:spPr>
            <a:xfrm flipH="false" flipV="false" rot="0">
              <a:off x="0" y="0"/>
              <a:ext cx="1042416" cy="1042416"/>
            </a:xfrm>
            <a:custGeom>
              <a:avLst/>
              <a:gdLst/>
              <a:ahLst/>
              <a:cxnLst/>
              <a:rect r="r" b="b" t="t" l="l"/>
              <a:pathLst>
                <a:path h="1042416" w="1042416">
                  <a:moveTo>
                    <a:pt x="0" y="0"/>
                  </a:moveTo>
                  <a:lnTo>
                    <a:pt x="1042416" y="0"/>
                  </a:lnTo>
                  <a:lnTo>
                    <a:pt x="1042416" y="1042416"/>
                  </a:lnTo>
                  <a:lnTo>
                    <a:pt x="0" y="1042416"/>
                  </a:lnTo>
                  <a:lnTo>
                    <a:pt x="0" y="0"/>
                  </a:lnTo>
                  <a:close/>
                </a:path>
              </a:pathLst>
            </a:custGeom>
            <a:blipFill>
              <a:blip r:embed="rId6"/>
              <a:stretch>
                <a:fillRect l="0" t="0" r="0" b="0"/>
              </a:stretch>
            </a:blipFill>
          </p:spPr>
        </p:sp>
      </p:grpSp>
      <p:grpSp>
        <p:nvGrpSpPr>
          <p:cNvPr name="Group 38" id="38"/>
          <p:cNvGrpSpPr/>
          <p:nvPr/>
        </p:nvGrpSpPr>
        <p:grpSpPr>
          <a:xfrm rot="0">
            <a:off x="2811780" y="6035040"/>
            <a:ext cx="5760720" cy="685800"/>
            <a:chOff x="0" y="0"/>
            <a:chExt cx="7680960" cy="914400"/>
          </a:xfrm>
        </p:grpSpPr>
        <p:sp>
          <p:nvSpPr>
            <p:cNvPr name="Freeform 39" id="39"/>
            <p:cNvSpPr/>
            <p:nvPr/>
          </p:nvSpPr>
          <p:spPr>
            <a:xfrm flipH="false" flipV="false" rot="0">
              <a:off x="0" y="0"/>
              <a:ext cx="7680960" cy="914400"/>
            </a:xfrm>
            <a:custGeom>
              <a:avLst/>
              <a:gdLst/>
              <a:ahLst/>
              <a:cxnLst/>
              <a:rect r="r" b="b" t="t" l="l"/>
              <a:pathLst>
                <a:path h="914400" w="7680960">
                  <a:moveTo>
                    <a:pt x="0" y="0"/>
                  </a:moveTo>
                  <a:lnTo>
                    <a:pt x="7680960" y="0"/>
                  </a:lnTo>
                  <a:lnTo>
                    <a:pt x="7680960" y="914400"/>
                  </a:lnTo>
                  <a:lnTo>
                    <a:pt x="0" y="914400"/>
                  </a:lnTo>
                  <a:close/>
                </a:path>
              </a:pathLst>
            </a:custGeom>
            <a:blipFill>
              <a:blip r:embed="rId3">
                <a:alphaModFix amt="0"/>
              </a:blip>
              <a:stretch>
                <a:fillRect l="0" t="-113674" r="0" b="-113674"/>
              </a:stretch>
            </a:blipFill>
          </p:spPr>
        </p:sp>
        <p:sp>
          <p:nvSpPr>
            <p:cNvPr name="TextBox 40" id="40"/>
            <p:cNvSpPr txBox="true"/>
            <p:nvPr/>
          </p:nvSpPr>
          <p:spPr>
            <a:xfrm>
              <a:off x="0" y="-38100"/>
              <a:ext cx="76809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Generic AI Falls Short</a:t>
              </a:r>
            </a:p>
          </p:txBody>
        </p:sp>
      </p:grpSp>
      <p:grpSp>
        <p:nvGrpSpPr>
          <p:cNvPr name="Group 41" id="41"/>
          <p:cNvGrpSpPr/>
          <p:nvPr/>
        </p:nvGrpSpPr>
        <p:grpSpPr>
          <a:xfrm rot="0">
            <a:off x="1508760" y="7200900"/>
            <a:ext cx="6995160" cy="1371600"/>
            <a:chOff x="0" y="0"/>
            <a:chExt cx="9326880" cy="1828800"/>
          </a:xfrm>
        </p:grpSpPr>
        <p:sp>
          <p:nvSpPr>
            <p:cNvPr name="Freeform 42" id="42"/>
            <p:cNvSpPr/>
            <p:nvPr/>
          </p:nvSpPr>
          <p:spPr>
            <a:xfrm flipH="false" flipV="false" rot="0">
              <a:off x="0" y="0"/>
              <a:ext cx="9326880" cy="1828800"/>
            </a:xfrm>
            <a:custGeom>
              <a:avLst/>
              <a:gdLst/>
              <a:ahLst/>
              <a:cxnLst/>
              <a:rect r="r" b="b" t="t" l="l"/>
              <a:pathLst>
                <a:path h="1828800" w="9326880">
                  <a:moveTo>
                    <a:pt x="0" y="0"/>
                  </a:moveTo>
                  <a:lnTo>
                    <a:pt x="9326880" y="0"/>
                  </a:lnTo>
                  <a:lnTo>
                    <a:pt x="9326880" y="1828800"/>
                  </a:lnTo>
                  <a:lnTo>
                    <a:pt x="0" y="1828800"/>
                  </a:lnTo>
                  <a:close/>
                </a:path>
              </a:pathLst>
            </a:custGeom>
            <a:blipFill>
              <a:blip r:embed="rId3">
                <a:alphaModFix amt="0"/>
              </a:blip>
              <a:stretch>
                <a:fillRect l="0" t="-49373" r="0" b="-49373"/>
              </a:stretch>
            </a:blipFill>
          </p:spPr>
        </p:sp>
        <p:sp>
          <p:nvSpPr>
            <p:cNvPr name="TextBox 43" id="43"/>
            <p:cNvSpPr txBox="true"/>
            <p:nvPr/>
          </p:nvSpPr>
          <p:spPr>
            <a:xfrm>
              <a:off x="0" y="-38100"/>
              <a:ext cx="9326880" cy="1866900"/>
            </a:xfrm>
            <a:prstGeom prst="rect">
              <a:avLst/>
            </a:prstGeom>
          </p:spPr>
          <p:txBody>
            <a:bodyPr anchor="ctr" rtlCol="false" tIns="0" lIns="0" bIns="0" rIns="0"/>
            <a:lstStyle/>
            <a:p>
              <a:pPr algn="l">
                <a:lnSpc>
                  <a:spcPts val="2250"/>
                </a:lnSpc>
              </a:pPr>
              <a:r>
                <a:rPr lang="en-US" sz="1875">
                  <a:solidFill>
                    <a:srgbClr val="64748B"/>
                  </a:solidFill>
                  <a:latin typeface="Calibri (MS)"/>
                  <a:ea typeface="Calibri (MS)"/>
                  <a:cs typeface="Calibri (MS)"/>
                  <a:sym typeface="Calibri (MS)"/>
                </a:rPr>
                <a:t>Off-the-shelf AI tools often lack structure, a built-in quality check, or grounding in current facts.</a:t>
              </a:r>
            </a:p>
          </p:txBody>
        </p:sp>
      </p:grpSp>
      <p:grpSp>
        <p:nvGrpSpPr>
          <p:cNvPr name="Group 44" id="44"/>
          <p:cNvGrpSpPr/>
          <p:nvPr/>
        </p:nvGrpSpPr>
        <p:grpSpPr>
          <a:xfrm rot="0">
            <a:off x="9388316" y="5616416"/>
            <a:ext cx="8038147" cy="3168967"/>
            <a:chOff x="0" y="0"/>
            <a:chExt cx="10717530" cy="4225290"/>
          </a:xfrm>
        </p:grpSpPr>
        <p:sp>
          <p:nvSpPr>
            <p:cNvPr name="Freeform 45" id="45"/>
            <p:cNvSpPr/>
            <p:nvPr/>
          </p:nvSpPr>
          <p:spPr>
            <a:xfrm flipH="false" flipV="false" rot="0">
              <a:off x="0" y="0"/>
              <a:ext cx="10717530" cy="4225290"/>
            </a:xfrm>
            <a:custGeom>
              <a:avLst/>
              <a:gdLst/>
              <a:ahLst/>
              <a:cxnLst/>
              <a:rect r="r" b="b" t="t" l="l"/>
              <a:pathLst>
                <a:path h="4225290" w="10717530">
                  <a:moveTo>
                    <a:pt x="0" y="146939"/>
                  </a:moveTo>
                  <a:cubicBezTo>
                    <a:pt x="0" y="65786"/>
                    <a:pt x="65786" y="0"/>
                    <a:pt x="146939" y="0"/>
                  </a:cubicBezTo>
                  <a:lnTo>
                    <a:pt x="10570591" y="0"/>
                  </a:lnTo>
                  <a:cubicBezTo>
                    <a:pt x="10651744" y="0"/>
                    <a:pt x="10717530" y="65786"/>
                    <a:pt x="10717530" y="146939"/>
                  </a:cubicBezTo>
                  <a:lnTo>
                    <a:pt x="10717530" y="4078351"/>
                  </a:lnTo>
                  <a:cubicBezTo>
                    <a:pt x="10717530" y="4159504"/>
                    <a:pt x="10651744" y="4225290"/>
                    <a:pt x="10570591" y="4225290"/>
                  </a:cubicBezTo>
                  <a:lnTo>
                    <a:pt x="146939" y="4225290"/>
                  </a:lnTo>
                  <a:cubicBezTo>
                    <a:pt x="65786" y="4225290"/>
                    <a:pt x="0" y="4159504"/>
                    <a:pt x="0" y="4078351"/>
                  </a:cubicBezTo>
                  <a:close/>
                </a:path>
              </a:pathLst>
            </a:custGeom>
            <a:solidFill>
              <a:srgbClr val="FFFFFF"/>
            </a:solidFill>
            <a:ln w="14288" cap="sq">
              <a:solidFill>
                <a:srgbClr val="E2E8F0"/>
              </a:solidFill>
              <a:prstDash val="solid"/>
              <a:miter/>
            </a:ln>
          </p:spPr>
        </p:sp>
      </p:grpSp>
      <p:grpSp>
        <p:nvGrpSpPr>
          <p:cNvPr name="Group 46" id="46"/>
          <p:cNvGrpSpPr/>
          <p:nvPr/>
        </p:nvGrpSpPr>
        <p:grpSpPr>
          <a:xfrm rot="0">
            <a:off x="9875520" y="6103620"/>
            <a:ext cx="1028700" cy="1028700"/>
            <a:chOff x="0" y="0"/>
            <a:chExt cx="1371600" cy="1371600"/>
          </a:xfrm>
        </p:grpSpPr>
        <p:sp>
          <p:nvSpPr>
            <p:cNvPr name="Freeform 47" id="47"/>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16213E"/>
            </a:solidFill>
          </p:spPr>
        </p:sp>
      </p:grpSp>
      <p:grpSp>
        <p:nvGrpSpPr>
          <p:cNvPr name="Group 48" id="48"/>
          <p:cNvGrpSpPr/>
          <p:nvPr/>
        </p:nvGrpSpPr>
        <p:grpSpPr>
          <a:xfrm rot="0">
            <a:off x="9998964" y="6227064"/>
            <a:ext cx="781812" cy="781812"/>
            <a:chOff x="0" y="0"/>
            <a:chExt cx="1042416" cy="1042416"/>
          </a:xfrm>
        </p:grpSpPr>
        <p:sp>
          <p:nvSpPr>
            <p:cNvPr name="Freeform 49" id="49" descr="/home/claude/pptx/icons/objective.png"/>
            <p:cNvSpPr/>
            <p:nvPr/>
          </p:nvSpPr>
          <p:spPr>
            <a:xfrm flipH="false" flipV="false" rot="0">
              <a:off x="0" y="0"/>
              <a:ext cx="1042416" cy="1042416"/>
            </a:xfrm>
            <a:custGeom>
              <a:avLst/>
              <a:gdLst/>
              <a:ahLst/>
              <a:cxnLst/>
              <a:rect r="r" b="b" t="t" l="l"/>
              <a:pathLst>
                <a:path h="1042416" w="1042416">
                  <a:moveTo>
                    <a:pt x="0" y="0"/>
                  </a:moveTo>
                  <a:lnTo>
                    <a:pt x="1042416" y="0"/>
                  </a:lnTo>
                  <a:lnTo>
                    <a:pt x="1042416" y="1042416"/>
                  </a:lnTo>
                  <a:lnTo>
                    <a:pt x="0" y="1042416"/>
                  </a:lnTo>
                  <a:lnTo>
                    <a:pt x="0" y="0"/>
                  </a:lnTo>
                  <a:close/>
                </a:path>
              </a:pathLst>
            </a:custGeom>
            <a:blipFill>
              <a:blip r:embed="rId7"/>
              <a:stretch>
                <a:fillRect l="0" t="0" r="0" b="0"/>
              </a:stretch>
            </a:blipFill>
          </p:spPr>
        </p:sp>
      </p:grpSp>
      <p:grpSp>
        <p:nvGrpSpPr>
          <p:cNvPr name="Group 50" id="50"/>
          <p:cNvGrpSpPr/>
          <p:nvPr/>
        </p:nvGrpSpPr>
        <p:grpSpPr>
          <a:xfrm rot="0">
            <a:off x="11247120" y="6035040"/>
            <a:ext cx="5760720" cy="685800"/>
            <a:chOff x="0" y="0"/>
            <a:chExt cx="7680960" cy="914400"/>
          </a:xfrm>
        </p:grpSpPr>
        <p:sp>
          <p:nvSpPr>
            <p:cNvPr name="Freeform 51" id="51"/>
            <p:cNvSpPr/>
            <p:nvPr/>
          </p:nvSpPr>
          <p:spPr>
            <a:xfrm flipH="false" flipV="false" rot="0">
              <a:off x="0" y="0"/>
              <a:ext cx="7680960" cy="914400"/>
            </a:xfrm>
            <a:custGeom>
              <a:avLst/>
              <a:gdLst/>
              <a:ahLst/>
              <a:cxnLst/>
              <a:rect r="r" b="b" t="t" l="l"/>
              <a:pathLst>
                <a:path h="914400" w="7680960">
                  <a:moveTo>
                    <a:pt x="0" y="0"/>
                  </a:moveTo>
                  <a:lnTo>
                    <a:pt x="7680960" y="0"/>
                  </a:lnTo>
                  <a:lnTo>
                    <a:pt x="7680960" y="914400"/>
                  </a:lnTo>
                  <a:lnTo>
                    <a:pt x="0" y="914400"/>
                  </a:lnTo>
                  <a:close/>
                </a:path>
              </a:pathLst>
            </a:custGeom>
            <a:blipFill>
              <a:blip r:embed="rId3">
                <a:alphaModFix amt="0"/>
              </a:blip>
              <a:stretch>
                <a:fillRect l="0" t="-113674" r="0" b="-113674"/>
              </a:stretch>
            </a:blipFill>
          </p:spPr>
        </p:sp>
        <p:sp>
          <p:nvSpPr>
            <p:cNvPr name="TextBox 52" id="52"/>
            <p:cNvSpPr txBox="true"/>
            <p:nvPr/>
          </p:nvSpPr>
          <p:spPr>
            <a:xfrm>
              <a:off x="0" y="-38100"/>
              <a:ext cx="7680960" cy="952500"/>
            </a:xfrm>
            <a:prstGeom prst="rect">
              <a:avLst/>
            </a:prstGeom>
          </p:spPr>
          <p:txBody>
            <a:bodyPr anchor="ctr" rtlCol="false" tIns="0" lIns="0" bIns="0" rIns="0"/>
            <a:lstStyle/>
            <a:p>
              <a:pPr algn="l">
                <a:lnSpc>
                  <a:spcPts val="2879"/>
                </a:lnSpc>
              </a:pPr>
              <a:r>
                <a:rPr lang="en-US" sz="2400" b="true">
                  <a:solidFill>
                    <a:srgbClr val="17213B"/>
                  </a:solidFill>
                  <a:latin typeface="Calibri (MS) Bold"/>
                  <a:ea typeface="Calibri (MS) Bold"/>
                  <a:cs typeface="Calibri (MS) Bold"/>
                  <a:sym typeface="Calibri (MS) Bold"/>
                </a:rPr>
                <a:t>No Scalable Workflow</a:t>
              </a:r>
            </a:p>
          </p:txBody>
        </p:sp>
      </p:grpSp>
      <p:grpSp>
        <p:nvGrpSpPr>
          <p:cNvPr name="Group 53" id="53"/>
          <p:cNvGrpSpPr/>
          <p:nvPr/>
        </p:nvGrpSpPr>
        <p:grpSpPr>
          <a:xfrm rot="0">
            <a:off x="9944100" y="7200900"/>
            <a:ext cx="6995160" cy="1371600"/>
            <a:chOff x="0" y="0"/>
            <a:chExt cx="9326880" cy="1828800"/>
          </a:xfrm>
        </p:grpSpPr>
        <p:sp>
          <p:nvSpPr>
            <p:cNvPr name="Freeform 54" id="54"/>
            <p:cNvSpPr/>
            <p:nvPr/>
          </p:nvSpPr>
          <p:spPr>
            <a:xfrm flipH="false" flipV="false" rot="0">
              <a:off x="0" y="0"/>
              <a:ext cx="9326880" cy="1828800"/>
            </a:xfrm>
            <a:custGeom>
              <a:avLst/>
              <a:gdLst/>
              <a:ahLst/>
              <a:cxnLst/>
              <a:rect r="r" b="b" t="t" l="l"/>
              <a:pathLst>
                <a:path h="1828800" w="9326880">
                  <a:moveTo>
                    <a:pt x="0" y="0"/>
                  </a:moveTo>
                  <a:lnTo>
                    <a:pt x="9326880" y="0"/>
                  </a:lnTo>
                  <a:lnTo>
                    <a:pt x="9326880" y="1828800"/>
                  </a:lnTo>
                  <a:lnTo>
                    <a:pt x="0" y="1828800"/>
                  </a:lnTo>
                  <a:close/>
                </a:path>
              </a:pathLst>
            </a:custGeom>
            <a:blipFill>
              <a:blip r:embed="rId3">
                <a:alphaModFix amt="0"/>
              </a:blip>
              <a:stretch>
                <a:fillRect l="0" t="-49373" r="0" b="-49373"/>
              </a:stretch>
            </a:blipFill>
          </p:spPr>
        </p:sp>
        <p:sp>
          <p:nvSpPr>
            <p:cNvPr name="TextBox 55" id="55"/>
            <p:cNvSpPr txBox="true"/>
            <p:nvPr/>
          </p:nvSpPr>
          <p:spPr>
            <a:xfrm>
              <a:off x="0" y="-38100"/>
              <a:ext cx="9326880" cy="1866900"/>
            </a:xfrm>
            <a:prstGeom prst="rect">
              <a:avLst/>
            </a:prstGeom>
          </p:spPr>
          <p:txBody>
            <a:bodyPr anchor="ctr" rtlCol="false" tIns="0" lIns="0" bIns="0" rIns="0"/>
            <a:lstStyle/>
            <a:p>
              <a:pPr algn="l">
                <a:lnSpc>
                  <a:spcPts val="2250"/>
                </a:lnSpc>
              </a:pPr>
              <a:r>
                <a:rPr lang="en-US" sz="1875">
                  <a:solidFill>
                    <a:srgbClr val="64748B"/>
                  </a:solidFill>
                  <a:latin typeface="Calibri (MS)"/>
                  <a:ea typeface="Calibri (MS)"/>
                  <a:cs typeface="Calibri (MS)"/>
                  <a:sym typeface="Calibri (MS)"/>
                </a:rPr>
                <a:t>Teams need a repeatable, automated pipeline — not a single prompt — to go from topic to publish-ready draft.</a:t>
              </a:r>
            </a:p>
          </p:txBody>
        </p:sp>
      </p:grpSp>
      <p:grpSp>
        <p:nvGrpSpPr>
          <p:cNvPr name="Group 56" id="56"/>
          <p:cNvGrpSpPr/>
          <p:nvPr/>
        </p:nvGrpSpPr>
        <p:grpSpPr>
          <a:xfrm rot="0">
            <a:off x="685800" y="9793224"/>
            <a:ext cx="10972800" cy="411480"/>
            <a:chOff x="0" y="0"/>
            <a:chExt cx="14630400" cy="548640"/>
          </a:xfrm>
        </p:grpSpPr>
        <p:sp>
          <p:nvSpPr>
            <p:cNvPr name="Freeform 57" id="5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58" id="5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59" id="59"/>
          <p:cNvGrpSpPr/>
          <p:nvPr/>
        </p:nvGrpSpPr>
        <p:grpSpPr>
          <a:xfrm rot="0">
            <a:off x="17282160" y="9793224"/>
            <a:ext cx="548640" cy="411480"/>
            <a:chOff x="0" y="0"/>
            <a:chExt cx="731520" cy="548640"/>
          </a:xfrm>
        </p:grpSpPr>
        <p:sp>
          <p:nvSpPr>
            <p:cNvPr name="Freeform 60" id="60"/>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61" id="61"/>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700000">
            <a:off x="9065543" y="2738438"/>
            <a:ext cx="12958505" cy="0"/>
          </a:xfrm>
          <a:prstGeom prst="line">
            <a:avLst/>
          </a:prstGeom>
          <a:ln cap="rnd" w="9525">
            <a:solidFill>
              <a:srgbClr val="6C3FE0">
                <a:alpha val="7451"/>
              </a:srgbClr>
            </a:solidFill>
            <a:prstDash val="solid"/>
            <a:headEnd type="none" len="sm" w="sm"/>
            <a:tailEnd type="none" len="sm" w="sm"/>
          </a:ln>
        </p:spPr>
      </p:sp>
      <p:grpSp>
        <p:nvGrpSpPr>
          <p:cNvPr name="Group 3" id="3"/>
          <p:cNvGrpSpPr/>
          <p:nvPr/>
        </p:nvGrpSpPr>
        <p:grpSpPr>
          <a:xfrm rot="0">
            <a:off x="724376" y="358616"/>
            <a:ext cx="5775008" cy="416624"/>
            <a:chOff x="0" y="0"/>
            <a:chExt cx="7700010" cy="555498"/>
          </a:xfrm>
        </p:grpSpPr>
        <p:sp>
          <p:nvSpPr>
            <p:cNvPr name="Freeform 4" id="4"/>
            <p:cNvSpPr/>
            <p:nvPr/>
          </p:nvSpPr>
          <p:spPr>
            <a:xfrm flipH="false" flipV="false" rot="0">
              <a:off x="0" y="0"/>
              <a:ext cx="7700010" cy="555498"/>
            </a:xfrm>
            <a:custGeom>
              <a:avLst/>
              <a:gdLst/>
              <a:ahLst/>
              <a:cxnLst/>
              <a:rect r="r" b="b" t="t" l="l"/>
              <a:pathLst>
                <a:path h="555498" w="7700010">
                  <a:moveTo>
                    <a:pt x="0" y="126238"/>
                  </a:moveTo>
                  <a:cubicBezTo>
                    <a:pt x="0" y="56515"/>
                    <a:pt x="56515" y="0"/>
                    <a:pt x="126238" y="0"/>
                  </a:cubicBezTo>
                  <a:lnTo>
                    <a:pt x="7573772" y="0"/>
                  </a:lnTo>
                  <a:cubicBezTo>
                    <a:pt x="7643495" y="0"/>
                    <a:pt x="7700010" y="56515"/>
                    <a:pt x="7700010" y="126238"/>
                  </a:cubicBezTo>
                  <a:lnTo>
                    <a:pt x="7700010" y="429260"/>
                  </a:lnTo>
                  <a:cubicBezTo>
                    <a:pt x="7700010" y="498983"/>
                    <a:pt x="7643495" y="555498"/>
                    <a:pt x="7573772" y="555498"/>
                  </a:cubicBezTo>
                  <a:lnTo>
                    <a:pt x="126238" y="555498"/>
                  </a:lnTo>
                  <a:cubicBezTo>
                    <a:pt x="56515" y="555498"/>
                    <a:pt x="0" y="498983"/>
                    <a:pt x="0" y="429260"/>
                  </a:cubicBezTo>
                  <a:close/>
                </a:path>
              </a:pathLst>
            </a:custGeom>
            <a:solidFill>
              <a:srgbClr val="002060">
                <a:alpha val="49020"/>
              </a:srgbClr>
            </a:solidFill>
            <a:ln w="14288" cap="sq">
              <a:solidFill>
                <a:srgbClr val="8B5CF6"/>
              </a:solidFill>
              <a:prstDash val="solid"/>
              <a:miter/>
            </a:ln>
          </p:spPr>
        </p:sp>
      </p:grpSp>
      <p:grpSp>
        <p:nvGrpSpPr>
          <p:cNvPr name="Group 5" id="5"/>
          <p:cNvGrpSpPr/>
          <p:nvPr/>
        </p:nvGrpSpPr>
        <p:grpSpPr>
          <a:xfrm rot="0">
            <a:off x="731520" y="365760"/>
            <a:ext cx="5760720" cy="402336"/>
            <a:chOff x="0" y="0"/>
            <a:chExt cx="7680960" cy="536448"/>
          </a:xfrm>
        </p:grpSpPr>
        <p:sp>
          <p:nvSpPr>
            <p:cNvPr name="Freeform 6" id="6"/>
            <p:cNvSpPr/>
            <p:nvPr/>
          </p:nvSpPr>
          <p:spPr>
            <a:xfrm flipH="false" flipV="false" rot="0">
              <a:off x="0" y="0"/>
              <a:ext cx="7680960" cy="536448"/>
            </a:xfrm>
            <a:custGeom>
              <a:avLst/>
              <a:gdLst/>
              <a:ahLst/>
              <a:cxnLst/>
              <a:rect r="r" b="b" t="t" l="l"/>
              <a:pathLst>
                <a:path h="536448" w="7680960">
                  <a:moveTo>
                    <a:pt x="0" y="0"/>
                  </a:moveTo>
                  <a:lnTo>
                    <a:pt x="7680960" y="0"/>
                  </a:lnTo>
                  <a:lnTo>
                    <a:pt x="7680960" y="536448"/>
                  </a:lnTo>
                  <a:lnTo>
                    <a:pt x="0" y="536448"/>
                  </a:lnTo>
                  <a:close/>
                </a:path>
              </a:pathLst>
            </a:custGeom>
            <a:blipFill>
              <a:blip r:embed="rId3">
                <a:alphaModFix amt="0"/>
              </a:blip>
              <a:stretch>
                <a:fillRect l="0" t="-228990" r="0" b="-228990"/>
              </a:stretch>
            </a:blipFill>
          </p:spPr>
        </p:sp>
        <p:sp>
          <p:nvSpPr>
            <p:cNvPr name="TextBox 7" id="7"/>
            <p:cNvSpPr txBox="true"/>
            <p:nvPr/>
          </p:nvSpPr>
          <p:spPr>
            <a:xfrm>
              <a:off x="0" y="-47625"/>
              <a:ext cx="7680960" cy="584073"/>
            </a:xfrm>
            <a:prstGeom prst="rect">
              <a:avLst/>
            </a:prstGeom>
          </p:spPr>
          <p:txBody>
            <a:bodyPr anchor="ctr" rtlCol="false" tIns="0" lIns="0" bIns="0" rIns="0"/>
            <a:lstStyle/>
            <a:p>
              <a:pPr algn="ctr">
                <a:lnSpc>
                  <a:spcPts val="2520"/>
                </a:lnSpc>
              </a:pPr>
              <a:r>
                <a:rPr lang="en-US" sz="2100" b="true">
                  <a:solidFill>
                    <a:srgbClr val="40F2AA"/>
                  </a:solidFill>
                  <a:latin typeface="Calibri (MS) Bold"/>
                  <a:ea typeface="Calibri (MS) Bold"/>
                  <a:cs typeface="Calibri (MS) Bold"/>
                  <a:sym typeface="Calibri (MS) Bold"/>
                </a:rPr>
                <a:t>SECTION 1  ·  THE PROBLEM</a:t>
              </a:r>
            </a:p>
          </p:txBody>
        </p:sp>
      </p:grpSp>
      <p:grpSp>
        <p:nvGrpSpPr>
          <p:cNvPr name="Group 8" id="8"/>
          <p:cNvGrpSpPr/>
          <p:nvPr/>
        </p:nvGrpSpPr>
        <p:grpSpPr>
          <a:xfrm rot="0">
            <a:off x="731520" y="914400"/>
            <a:ext cx="16824960" cy="1280160"/>
            <a:chOff x="0" y="0"/>
            <a:chExt cx="22433280" cy="1706880"/>
          </a:xfrm>
        </p:grpSpPr>
        <p:sp>
          <p:nvSpPr>
            <p:cNvPr name="Freeform 9" id="9"/>
            <p:cNvSpPr/>
            <p:nvPr/>
          </p:nvSpPr>
          <p:spPr>
            <a:xfrm flipH="false" flipV="false" rot="0">
              <a:off x="0" y="0"/>
              <a:ext cx="22433280" cy="1706880"/>
            </a:xfrm>
            <a:custGeom>
              <a:avLst/>
              <a:gdLst/>
              <a:ahLst/>
              <a:cxnLst/>
              <a:rect r="r" b="b" t="t" l="l"/>
              <a:pathLst>
                <a:path h="1706880" w="22433280">
                  <a:moveTo>
                    <a:pt x="0" y="0"/>
                  </a:moveTo>
                  <a:lnTo>
                    <a:pt x="22433280" y="0"/>
                  </a:lnTo>
                  <a:lnTo>
                    <a:pt x="22433280" y="1706880"/>
                  </a:lnTo>
                  <a:lnTo>
                    <a:pt x="0" y="1706880"/>
                  </a:lnTo>
                  <a:close/>
                </a:path>
              </a:pathLst>
            </a:custGeom>
            <a:blipFill>
              <a:blip r:embed="rId3">
                <a:alphaModFix amt="0"/>
              </a:blip>
              <a:stretch>
                <a:fillRect l="0" t="-206089" r="0" b="-206089"/>
              </a:stretch>
            </a:blipFill>
          </p:spPr>
        </p:sp>
        <p:sp>
          <p:nvSpPr>
            <p:cNvPr name="TextBox 10" id="10"/>
            <p:cNvSpPr txBox="true"/>
            <p:nvPr/>
          </p:nvSpPr>
          <p:spPr>
            <a:xfrm>
              <a:off x="0" y="-9525"/>
              <a:ext cx="22433280" cy="1716405"/>
            </a:xfrm>
            <a:prstGeom prst="rect">
              <a:avLst/>
            </a:prstGeom>
          </p:spPr>
          <p:txBody>
            <a:bodyPr anchor="ctr" rtlCol="false" tIns="0" lIns="0" bIns="0" rIns="0"/>
            <a:lstStyle/>
            <a:p>
              <a:pPr algn="l">
                <a:lnSpc>
                  <a:spcPts val="8159"/>
                </a:lnSpc>
              </a:pPr>
              <a:r>
                <a:rPr lang="en-US" sz="6799" b="true">
                  <a:solidFill>
                    <a:srgbClr val="002060"/>
                  </a:solidFill>
                  <a:latin typeface="Cambria Bold"/>
                  <a:ea typeface="Cambria Bold"/>
                  <a:cs typeface="Cambria Bold"/>
                  <a:sym typeface="Cambria Bold"/>
                </a:rPr>
                <a:t>The Content Creation Crisis</a:t>
              </a:r>
            </a:p>
          </p:txBody>
        </p:sp>
      </p:grpSp>
      <p:grpSp>
        <p:nvGrpSpPr>
          <p:cNvPr name="Group 11" id="11"/>
          <p:cNvGrpSpPr/>
          <p:nvPr/>
        </p:nvGrpSpPr>
        <p:grpSpPr>
          <a:xfrm rot="0">
            <a:off x="731520" y="2103120"/>
            <a:ext cx="12801600" cy="548640"/>
            <a:chOff x="0" y="0"/>
            <a:chExt cx="17068800" cy="731520"/>
          </a:xfrm>
        </p:grpSpPr>
        <p:sp>
          <p:nvSpPr>
            <p:cNvPr name="Freeform 12" id="12"/>
            <p:cNvSpPr/>
            <p:nvPr/>
          </p:nvSpPr>
          <p:spPr>
            <a:xfrm flipH="false" flipV="false" rot="0">
              <a:off x="0" y="0"/>
              <a:ext cx="17068800" cy="731520"/>
            </a:xfrm>
            <a:custGeom>
              <a:avLst/>
              <a:gdLst/>
              <a:ahLst/>
              <a:cxnLst/>
              <a:rect r="r" b="b" t="t" l="l"/>
              <a:pathLst>
                <a:path h="731520" w="17068800">
                  <a:moveTo>
                    <a:pt x="0" y="0"/>
                  </a:moveTo>
                  <a:lnTo>
                    <a:pt x="17068800" y="0"/>
                  </a:lnTo>
                  <a:lnTo>
                    <a:pt x="17068800" y="731520"/>
                  </a:lnTo>
                  <a:lnTo>
                    <a:pt x="0" y="731520"/>
                  </a:lnTo>
                  <a:close/>
                </a:path>
              </a:pathLst>
            </a:custGeom>
            <a:blipFill>
              <a:blip r:embed="rId3">
                <a:alphaModFix amt="0"/>
              </a:blip>
              <a:stretch>
                <a:fillRect l="0" t="-404650" r="0" b="-404650"/>
              </a:stretch>
            </a:blipFill>
          </p:spPr>
        </p:sp>
        <p:sp>
          <p:nvSpPr>
            <p:cNvPr name="TextBox 13" id="13"/>
            <p:cNvSpPr txBox="true"/>
            <p:nvPr/>
          </p:nvSpPr>
          <p:spPr>
            <a:xfrm>
              <a:off x="0" y="-47625"/>
              <a:ext cx="17068800" cy="779145"/>
            </a:xfrm>
            <a:prstGeom prst="rect">
              <a:avLst/>
            </a:prstGeom>
          </p:spPr>
          <p:txBody>
            <a:bodyPr anchor="ctr" rtlCol="false" tIns="0" lIns="0" bIns="0" rIns="0"/>
            <a:lstStyle/>
            <a:p>
              <a:pPr algn="l">
                <a:lnSpc>
                  <a:spcPts val="3360"/>
                </a:lnSpc>
              </a:pPr>
              <a:r>
                <a:rPr lang="en-US" sz="2800">
                  <a:solidFill>
                    <a:srgbClr val="002060"/>
                  </a:solidFill>
                  <a:latin typeface="Calibri (MS)"/>
                  <a:ea typeface="Calibri (MS)"/>
                  <a:cs typeface="Calibri (MS)"/>
                  <a:sym typeface="Calibri (MS)"/>
                </a:rPr>
                <a:t>Why businesses are losing the content war</a:t>
              </a:r>
            </a:p>
          </p:txBody>
        </p:sp>
      </p:grpSp>
      <p:grpSp>
        <p:nvGrpSpPr>
          <p:cNvPr name="Group 14" id="14"/>
          <p:cNvGrpSpPr/>
          <p:nvPr/>
        </p:nvGrpSpPr>
        <p:grpSpPr>
          <a:xfrm rot="0">
            <a:off x="721995" y="2916555"/>
            <a:ext cx="3859530" cy="2122170"/>
            <a:chOff x="0" y="0"/>
            <a:chExt cx="5146040" cy="2829560"/>
          </a:xfrm>
        </p:grpSpPr>
        <p:sp>
          <p:nvSpPr>
            <p:cNvPr name="Freeform 15" id="15"/>
            <p:cNvSpPr/>
            <p:nvPr/>
          </p:nvSpPr>
          <p:spPr>
            <a:xfrm flipH="false" flipV="false" rot="0">
              <a:off x="0" y="0"/>
              <a:ext cx="5146040" cy="2829560"/>
            </a:xfrm>
            <a:custGeom>
              <a:avLst/>
              <a:gdLst/>
              <a:ahLst/>
              <a:cxnLst/>
              <a:rect r="r" b="b" t="t" l="l"/>
              <a:pathLst>
                <a:path h="2829560" w="5146040">
                  <a:moveTo>
                    <a:pt x="0" y="245999"/>
                  </a:moveTo>
                  <a:cubicBezTo>
                    <a:pt x="0" y="110109"/>
                    <a:pt x="110109" y="0"/>
                    <a:pt x="245999" y="0"/>
                  </a:cubicBezTo>
                  <a:lnTo>
                    <a:pt x="4900041" y="0"/>
                  </a:lnTo>
                  <a:cubicBezTo>
                    <a:pt x="5035931" y="0"/>
                    <a:pt x="5146040" y="110109"/>
                    <a:pt x="5146040" y="245999"/>
                  </a:cubicBezTo>
                  <a:lnTo>
                    <a:pt x="5146040" y="2583561"/>
                  </a:lnTo>
                  <a:cubicBezTo>
                    <a:pt x="5146040" y="2719451"/>
                    <a:pt x="5035931" y="2829560"/>
                    <a:pt x="4900041" y="2829560"/>
                  </a:cubicBezTo>
                  <a:lnTo>
                    <a:pt x="245999" y="2829560"/>
                  </a:lnTo>
                  <a:cubicBezTo>
                    <a:pt x="110109" y="2829560"/>
                    <a:pt x="0" y="2719451"/>
                    <a:pt x="0" y="2583561"/>
                  </a:cubicBezTo>
                  <a:close/>
                </a:path>
              </a:pathLst>
            </a:custGeom>
            <a:solidFill>
              <a:srgbClr val="111827"/>
            </a:solidFill>
            <a:ln w="19050" cap="sq">
              <a:solidFill>
                <a:srgbClr val="1E293B"/>
              </a:solidFill>
              <a:prstDash val="solid"/>
              <a:miter/>
            </a:ln>
          </p:spPr>
        </p:sp>
      </p:grpSp>
      <p:grpSp>
        <p:nvGrpSpPr>
          <p:cNvPr name="Group 16" id="16"/>
          <p:cNvGrpSpPr/>
          <p:nvPr/>
        </p:nvGrpSpPr>
        <p:grpSpPr>
          <a:xfrm rot="0">
            <a:off x="731520" y="3145536"/>
            <a:ext cx="3840480" cy="1005840"/>
            <a:chOff x="0" y="0"/>
            <a:chExt cx="5120640" cy="1341120"/>
          </a:xfrm>
        </p:grpSpPr>
        <p:sp>
          <p:nvSpPr>
            <p:cNvPr name="Freeform 17" id="17"/>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18" id="18"/>
            <p:cNvSpPr txBox="true"/>
            <p:nvPr/>
          </p:nvSpPr>
          <p:spPr>
            <a:xfrm>
              <a:off x="0" y="-9525"/>
              <a:ext cx="5120640" cy="1350645"/>
            </a:xfrm>
            <a:prstGeom prst="rect">
              <a:avLst/>
            </a:prstGeom>
          </p:spPr>
          <p:txBody>
            <a:bodyPr anchor="ctr" rtlCol="false" tIns="0" lIns="0" bIns="0" rIns="0"/>
            <a:lstStyle/>
            <a:p>
              <a:pPr algn="ctr">
                <a:lnSpc>
                  <a:spcPts val="7200"/>
                </a:lnSpc>
              </a:pPr>
              <a:r>
                <a:rPr lang="en-US" sz="6000" b="true">
                  <a:solidFill>
                    <a:srgbClr val="00B0F0"/>
                  </a:solidFill>
                  <a:latin typeface="Cambria Bold"/>
                  <a:ea typeface="Cambria Bold"/>
                  <a:cs typeface="Cambria Bold"/>
                  <a:sym typeface="Cambria Bold"/>
                </a:rPr>
                <a:t>4.4M</a:t>
              </a:r>
            </a:p>
          </p:txBody>
        </p:sp>
      </p:grpSp>
      <p:grpSp>
        <p:nvGrpSpPr>
          <p:cNvPr name="Group 19" id="19"/>
          <p:cNvGrpSpPr/>
          <p:nvPr/>
        </p:nvGrpSpPr>
        <p:grpSpPr>
          <a:xfrm rot="0">
            <a:off x="914400" y="4114800"/>
            <a:ext cx="3474720" cy="768096"/>
            <a:chOff x="0" y="0"/>
            <a:chExt cx="4632960" cy="1024128"/>
          </a:xfrm>
        </p:grpSpPr>
        <p:sp>
          <p:nvSpPr>
            <p:cNvPr name="Freeform 20" id="20"/>
            <p:cNvSpPr/>
            <p:nvPr/>
          </p:nvSpPr>
          <p:spPr>
            <a:xfrm flipH="false" flipV="false" rot="0">
              <a:off x="0" y="0"/>
              <a:ext cx="4632960" cy="1024128"/>
            </a:xfrm>
            <a:custGeom>
              <a:avLst/>
              <a:gdLst/>
              <a:ahLst/>
              <a:cxnLst/>
              <a:rect r="r" b="b" t="t" l="l"/>
              <a:pathLst>
                <a:path h="1024128" w="4632960">
                  <a:moveTo>
                    <a:pt x="0" y="0"/>
                  </a:moveTo>
                  <a:lnTo>
                    <a:pt x="4632960" y="0"/>
                  </a:lnTo>
                  <a:lnTo>
                    <a:pt x="4632960" y="1024128"/>
                  </a:lnTo>
                  <a:lnTo>
                    <a:pt x="0" y="1024128"/>
                  </a:lnTo>
                  <a:close/>
                </a:path>
              </a:pathLst>
            </a:custGeom>
            <a:blipFill>
              <a:blip r:embed="rId3">
                <a:alphaModFix amt="0"/>
              </a:blip>
              <a:stretch>
                <a:fillRect l="0" t="-38146" r="0" b="-38146"/>
              </a:stretch>
            </a:blipFill>
          </p:spPr>
        </p:sp>
        <p:sp>
          <p:nvSpPr>
            <p:cNvPr name="TextBox 21" id="21"/>
            <p:cNvSpPr txBox="true"/>
            <p:nvPr/>
          </p:nvSpPr>
          <p:spPr>
            <a:xfrm>
              <a:off x="0" y="-47625"/>
              <a:ext cx="4632960" cy="1071753"/>
            </a:xfrm>
            <a:prstGeom prst="rect">
              <a:avLst/>
            </a:prstGeom>
          </p:spPr>
          <p:txBody>
            <a:bodyPr anchor="ctr" rtlCol="false" tIns="0" lIns="0" bIns="0" rIns="0"/>
            <a:lstStyle/>
            <a:p>
              <a:pPr algn="ctr">
                <a:lnSpc>
                  <a:spcPts val="2399"/>
                </a:lnSpc>
              </a:pPr>
              <a:r>
                <a:rPr lang="en-US" sz="1999">
                  <a:solidFill>
                    <a:srgbClr val="BFBFBF"/>
                  </a:solidFill>
                  <a:latin typeface="Calibri (MS)"/>
                  <a:ea typeface="Calibri (MS)"/>
                  <a:cs typeface="Calibri (MS)"/>
                  <a:sym typeface="Calibri (MS)"/>
                </a:rPr>
                <a:t>Blog posts published</a:t>
              </a:r>
            </a:p>
            <a:p>
              <a:pPr algn="ctr">
                <a:lnSpc>
                  <a:spcPts val="2399"/>
                </a:lnSpc>
              </a:pPr>
              <a:r>
                <a:rPr lang="en-US" sz="1999">
                  <a:solidFill>
                    <a:srgbClr val="BFBFBF"/>
                  </a:solidFill>
                  <a:latin typeface="Calibri (MS)"/>
                  <a:ea typeface="Calibri (MS)"/>
                  <a:cs typeface="Calibri (MS)"/>
                  <a:sym typeface="Calibri (MS)"/>
                </a:rPr>
                <a:t>every single day</a:t>
              </a:r>
            </a:p>
          </p:txBody>
        </p:sp>
      </p:grpSp>
      <p:grpSp>
        <p:nvGrpSpPr>
          <p:cNvPr name="Group 22" id="22"/>
          <p:cNvGrpSpPr/>
          <p:nvPr/>
        </p:nvGrpSpPr>
        <p:grpSpPr>
          <a:xfrm rot="0">
            <a:off x="4800219" y="2916555"/>
            <a:ext cx="3859530" cy="2122170"/>
            <a:chOff x="0" y="0"/>
            <a:chExt cx="5146040" cy="2829560"/>
          </a:xfrm>
        </p:grpSpPr>
        <p:sp>
          <p:nvSpPr>
            <p:cNvPr name="Freeform 23" id="23"/>
            <p:cNvSpPr/>
            <p:nvPr/>
          </p:nvSpPr>
          <p:spPr>
            <a:xfrm flipH="false" flipV="false" rot="0">
              <a:off x="0" y="0"/>
              <a:ext cx="5146040" cy="2829560"/>
            </a:xfrm>
            <a:custGeom>
              <a:avLst/>
              <a:gdLst/>
              <a:ahLst/>
              <a:cxnLst/>
              <a:rect r="r" b="b" t="t" l="l"/>
              <a:pathLst>
                <a:path h="2829560" w="5146040">
                  <a:moveTo>
                    <a:pt x="0" y="245999"/>
                  </a:moveTo>
                  <a:cubicBezTo>
                    <a:pt x="0" y="110109"/>
                    <a:pt x="110109" y="0"/>
                    <a:pt x="245999" y="0"/>
                  </a:cubicBezTo>
                  <a:lnTo>
                    <a:pt x="4900041" y="0"/>
                  </a:lnTo>
                  <a:cubicBezTo>
                    <a:pt x="5035931" y="0"/>
                    <a:pt x="5146040" y="110109"/>
                    <a:pt x="5146040" y="245999"/>
                  </a:cubicBezTo>
                  <a:lnTo>
                    <a:pt x="5146040" y="2583561"/>
                  </a:lnTo>
                  <a:cubicBezTo>
                    <a:pt x="5146040" y="2719451"/>
                    <a:pt x="5035931" y="2829560"/>
                    <a:pt x="4900041" y="2829560"/>
                  </a:cubicBezTo>
                  <a:lnTo>
                    <a:pt x="245999" y="2829560"/>
                  </a:lnTo>
                  <a:cubicBezTo>
                    <a:pt x="110109" y="2829560"/>
                    <a:pt x="0" y="2719451"/>
                    <a:pt x="0" y="2583561"/>
                  </a:cubicBezTo>
                  <a:close/>
                </a:path>
              </a:pathLst>
            </a:custGeom>
            <a:solidFill>
              <a:srgbClr val="111827"/>
            </a:solidFill>
            <a:ln w="19050" cap="sq">
              <a:solidFill>
                <a:srgbClr val="1E293B"/>
              </a:solidFill>
              <a:prstDash val="solid"/>
              <a:miter/>
            </a:ln>
          </p:spPr>
        </p:sp>
      </p:grpSp>
      <p:grpSp>
        <p:nvGrpSpPr>
          <p:cNvPr name="Group 24" id="24"/>
          <p:cNvGrpSpPr/>
          <p:nvPr/>
        </p:nvGrpSpPr>
        <p:grpSpPr>
          <a:xfrm rot="0">
            <a:off x="4809744" y="3145536"/>
            <a:ext cx="3840480" cy="1005840"/>
            <a:chOff x="0" y="0"/>
            <a:chExt cx="5120640" cy="1341120"/>
          </a:xfrm>
        </p:grpSpPr>
        <p:sp>
          <p:nvSpPr>
            <p:cNvPr name="Freeform 25" id="25"/>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26" id="26"/>
            <p:cNvSpPr txBox="true"/>
            <p:nvPr/>
          </p:nvSpPr>
          <p:spPr>
            <a:xfrm>
              <a:off x="0" y="-9525"/>
              <a:ext cx="5120640" cy="1350645"/>
            </a:xfrm>
            <a:prstGeom prst="rect">
              <a:avLst/>
            </a:prstGeom>
          </p:spPr>
          <p:txBody>
            <a:bodyPr anchor="ctr" rtlCol="false" tIns="0" lIns="0" bIns="0" rIns="0"/>
            <a:lstStyle/>
            <a:p>
              <a:pPr algn="ctr">
                <a:lnSpc>
                  <a:spcPts val="7200"/>
                </a:lnSpc>
              </a:pPr>
              <a:r>
                <a:rPr lang="en-US" sz="6000" b="true">
                  <a:solidFill>
                    <a:srgbClr val="7030A0"/>
                  </a:solidFill>
                  <a:latin typeface="Cambria Bold"/>
                  <a:ea typeface="Cambria Bold"/>
                  <a:cs typeface="Cambria Bold"/>
                  <a:sym typeface="Cambria Bold"/>
                </a:rPr>
                <a:t>4-8hrs</a:t>
              </a:r>
            </a:p>
          </p:txBody>
        </p:sp>
      </p:grpSp>
      <p:grpSp>
        <p:nvGrpSpPr>
          <p:cNvPr name="Group 27" id="27"/>
          <p:cNvGrpSpPr/>
          <p:nvPr/>
        </p:nvGrpSpPr>
        <p:grpSpPr>
          <a:xfrm rot="0">
            <a:off x="4992624" y="4114800"/>
            <a:ext cx="3474720" cy="768096"/>
            <a:chOff x="0" y="0"/>
            <a:chExt cx="4632960" cy="1024128"/>
          </a:xfrm>
        </p:grpSpPr>
        <p:sp>
          <p:nvSpPr>
            <p:cNvPr name="Freeform 28" id="28"/>
            <p:cNvSpPr/>
            <p:nvPr/>
          </p:nvSpPr>
          <p:spPr>
            <a:xfrm flipH="false" flipV="false" rot="0">
              <a:off x="0" y="0"/>
              <a:ext cx="4632960" cy="1024128"/>
            </a:xfrm>
            <a:custGeom>
              <a:avLst/>
              <a:gdLst/>
              <a:ahLst/>
              <a:cxnLst/>
              <a:rect r="r" b="b" t="t" l="l"/>
              <a:pathLst>
                <a:path h="1024128" w="4632960">
                  <a:moveTo>
                    <a:pt x="0" y="0"/>
                  </a:moveTo>
                  <a:lnTo>
                    <a:pt x="4632960" y="0"/>
                  </a:lnTo>
                  <a:lnTo>
                    <a:pt x="4632960" y="1024128"/>
                  </a:lnTo>
                  <a:lnTo>
                    <a:pt x="0" y="1024128"/>
                  </a:lnTo>
                  <a:close/>
                </a:path>
              </a:pathLst>
            </a:custGeom>
            <a:blipFill>
              <a:blip r:embed="rId3">
                <a:alphaModFix amt="0"/>
              </a:blip>
              <a:stretch>
                <a:fillRect l="0" t="-38146" r="0" b="-38146"/>
              </a:stretch>
            </a:blipFill>
          </p:spPr>
        </p:sp>
        <p:sp>
          <p:nvSpPr>
            <p:cNvPr name="TextBox 29" id="29"/>
            <p:cNvSpPr txBox="true"/>
            <p:nvPr/>
          </p:nvSpPr>
          <p:spPr>
            <a:xfrm>
              <a:off x="0" y="-47625"/>
              <a:ext cx="4632960" cy="1071753"/>
            </a:xfrm>
            <a:prstGeom prst="rect">
              <a:avLst/>
            </a:prstGeom>
          </p:spPr>
          <p:txBody>
            <a:bodyPr anchor="ctr" rtlCol="false" tIns="0" lIns="0" bIns="0" rIns="0"/>
            <a:lstStyle/>
            <a:p>
              <a:pPr algn="ctr">
                <a:lnSpc>
                  <a:spcPts val="2399"/>
                </a:lnSpc>
              </a:pPr>
              <a:r>
                <a:rPr lang="en-US" sz="1999">
                  <a:solidFill>
                    <a:srgbClr val="D9D9D9"/>
                  </a:solidFill>
                  <a:latin typeface="Calibri (MS)"/>
                  <a:ea typeface="Calibri (MS)"/>
                  <a:cs typeface="Calibri (MS)"/>
                  <a:sym typeface="Calibri (MS)"/>
                </a:rPr>
                <a:t>Average time to write</a:t>
              </a:r>
            </a:p>
            <a:p>
              <a:pPr algn="ctr">
                <a:lnSpc>
                  <a:spcPts val="2399"/>
                </a:lnSpc>
              </a:pPr>
              <a:r>
                <a:rPr lang="en-US" sz="1999">
                  <a:solidFill>
                    <a:srgbClr val="D9D9D9"/>
                  </a:solidFill>
                  <a:latin typeface="Calibri (MS)"/>
                  <a:ea typeface="Calibri (MS)"/>
                  <a:cs typeface="Calibri (MS)"/>
                  <a:sym typeface="Calibri (MS)"/>
                </a:rPr>
                <a:t>one quality article</a:t>
              </a:r>
            </a:p>
          </p:txBody>
        </p:sp>
      </p:grpSp>
      <p:grpSp>
        <p:nvGrpSpPr>
          <p:cNvPr name="Group 30" id="30"/>
          <p:cNvGrpSpPr/>
          <p:nvPr/>
        </p:nvGrpSpPr>
        <p:grpSpPr>
          <a:xfrm rot="0">
            <a:off x="8878443" y="2916555"/>
            <a:ext cx="3859530" cy="2122170"/>
            <a:chOff x="0" y="0"/>
            <a:chExt cx="5146040" cy="2829560"/>
          </a:xfrm>
        </p:grpSpPr>
        <p:sp>
          <p:nvSpPr>
            <p:cNvPr name="Freeform 31" id="31"/>
            <p:cNvSpPr/>
            <p:nvPr/>
          </p:nvSpPr>
          <p:spPr>
            <a:xfrm flipH="false" flipV="false" rot="0">
              <a:off x="0" y="0"/>
              <a:ext cx="5146040" cy="2829560"/>
            </a:xfrm>
            <a:custGeom>
              <a:avLst/>
              <a:gdLst/>
              <a:ahLst/>
              <a:cxnLst/>
              <a:rect r="r" b="b" t="t" l="l"/>
              <a:pathLst>
                <a:path h="2829560" w="5146040">
                  <a:moveTo>
                    <a:pt x="0" y="245999"/>
                  </a:moveTo>
                  <a:cubicBezTo>
                    <a:pt x="0" y="110109"/>
                    <a:pt x="110109" y="0"/>
                    <a:pt x="245999" y="0"/>
                  </a:cubicBezTo>
                  <a:lnTo>
                    <a:pt x="4900041" y="0"/>
                  </a:lnTo>
                  <a:cubicBezTo>
                    <a:pt x="5035931" y="0"/>
                    <a:pt x="5146040" y="110109"/>
                    <a:pt x="5146040" y="245999"/>
                  </a:cubicBezTo>
                  <a:lnTo>
                    <a:pt x="5146040" y="2583561"/>
                  </a:lnTo>
                  <a:cubicBezTo>
                    <a:pt x="5146040" y="2719451"/>
                    <a:pt x="5035931" y="2829560"/>
                    <a:pt x="4900041" y="2829560"/>
                  </a:cubicBezTo>
                  <a:lnTo>
                    <a:pt x="245999" y="2829560"/>
                  </a:lnTo>
                  <a:cubicBezTo>
                    <a:pt x="110109" y="2829560"/>
                    <a:pt x="0" y="2719451"/>
                    <a:pt x="0" y="2583561"/>
                  </a:cubicBezTo>
                  <a:close/>
                </a:path>
              </a:pathLst>
            </a:custGeom>
            <a:solidFill>
              <a:srgbClr val="111827"/>
            </a:solidFill>
            <a:ln w="19050" cap="sq">
              <a:solidFill>
                <a:srgbClr val="1E293B"/>
              </a:solidFill>
              <a:prstDash val="solid"/>
              <a:miter/>
            </a:ln>
          </p:spPr>
        </p:sp>
      </p:grpSp>
      <p:grpSp>
        <p:nvGrpSpPr>
          <p:cNvPr name="Group 32" id="32"/>
          <p:cNvGrpSpPr/>
          <p:nvPr/>
        </p:nvGrpSpPr>
        <p:grpSpPr>
          <a:xfrm rot="0">
            <a:off x="8887968" y="3145536"/>
            <a:ext cx="3840480" cy="1005840"/>
            <a:chOff x="0" y="0"/>
            <a:chExt cx="5120640" cy="1341120"/>
          </a:xfrm>
        </p:grpSpPr>
        <p:sp>
          <p:nvSpPr>
            <p:cNvPr name="Freeform 33" id="33"/>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34" id="34"/>
            <p:cNvSpPr txBox="true"/>
            <p:nvPr/>
          </p:nvSpPr>
          <p:spPr>
            <a:xfrm>
              <a:off x="0" y="-9525"/>
              <a:ext cx="5120640" cy="1350645"/>
            </a:xfrm>
            <a:prstGeom prst="rect">
              <a:avLst/>
            </a:prstGeom>
          </p:spPr>
          <p:txBody>
            <a:bodyPr anchor="ctr" rtlCol="false" tIns="0" lIns="0" bIns="0" rIns="0"/>
            <a:lstStyle/>
            <a:p>
              <a:pPr algn="ctr">
                <a:lnSpc>
                  <a:spcPts val="7200"/>
                </a:lnSpc>
              </a:pPr>
              <a:r>
                <a:rPr lang="en-US" sz="6000" b="true">
                  <a:solidFill>
                    <a:srgbClr val="FFC000"/>
                  </a:solidFill>
                  <a:latin typeface="Cambria Bold"/>
                  <a:ea typeface="Cambria Bold"/>
                  <a:cs typeface="Cambria Bold"/>
                  <a:sym typeface="Cambria Bold"/>
                </a:rPr>
                <a:t>$2K+</a:t>
              </a:r>
            </a:p>
          </p:txBody>
        </p:sp>
      </p:grpSp>
      <p:grpSp>
        <p:nvGrpSpPr>
          <p:cNvPr name="Group 35" id="35"/>
          <p:cNvGrpSpPr/>
          <p:nvPr/>
        </p:nvGrpSpPr>
        <p:grpSpPr>
          <a:xfrm rot="0">
            <a:off x="9070848" y="4114800"/>
            <a:ext cx="3474720" cy="768096"/>
            <a:chOff x="0" y="0"/>
            <a:chExt cx="4632960" cy="1024128"/>
          </a:xfrm>
        </p:grpSpPr>
        <p:sp>
          <p:nvSpPr>
            <p:cNvPr name="Freeform 36" id="36"/>
            <p:cNvSpPr/>
            <p:nvPr/>
          </p:nvSpPr>
          <p:spPr>
            <a:xfrm flipH="false" flipV="false" rot="0">
              <a:off x="0" y="0"/>
              <a:ext cx="4632960" cy="1024128"/>
            </a:xfrm>
            <a:custGeom>
              <a:avLst/>
              <a:gdLst/>
              <a:ahLst/>
              <a:cxnLst/>
              <a:rect r="r" b="b" t="t" l="l"/>
              <a:pathLst>
                <a:path h="1024128" w="4632960">
                  <a:moveTo>
                    <a:pt x="0" y="0"/>
                  </a:moveTo>
                  <a:lnTo>
                    <a:pt x="4632960" y="0"/>
                  </a:lnTo>
                  <a:lnTo>
                    <a:pt x="4632960" y="1024128"/>
                  </a:lnTo>
                  <a:lnTo>
                    <a:pt x="0" y="1024128"/>
                  </a:lnTo>
                  <a:close/>
                </a:path>
              </a:pathLst>
            </a:custGeom>
            <a:blipFill>
              <a:blip r:embed="rId3">
                <a:alphaModFix amt="0"/>
              </a:blip>
              <a:stretch>
                <a:fillRect l="0" t="-38146" r="0" b="-38146"/>
              </a:stretch>
            </a:blipFill>
          </p:spPr>
        </p:sp>
        <p:sp>
          <p:nvSpPr>
            <p:cNvPr name="TextBox 37" id="37"/>
            <p:cNvSpPr txBox="true"/>
            <p:nvPr/>
          </p:nvSpPr>
          <p:spPr>
            <a:xfrm>
              <a:off x="0" y="-47625"/>
              <a:ext cx="4632960" cy="1071753"/>
            </a:xfrm>
            <a:prstGeom prst="rect">
              <a:avLst/>
            </a:prstGeom>
          </p:spPr>
          <p:txBody>
            <a:bodyPr anchor="ctr" rtlCol="false" tIns="0" lIns="0" bIns="0" rIns="0"/>
            <a:lstStyle/>
            <a:p>
              <a:pPr algn="ctr">
                <a:lnSpc>
                  <a:spcPts val="2399"/>
                </a:lnSpc>
              </a:pPr>
              <a:r>
                <a:rPr lang="en-US" sz="1999">
                  <a:solidFill>
                    <a:srgbClr val="D9D9D9"/>
                  </a:solidFill>
                  <a:latin typeface="Calibri (MS)"/>
                  <a:ea typeface="Calibri (MS)"/>
                  <a:cs typeface="Calibri (MS)"/>
                  <a:sym typeface="Calibri (MS)"/>
                </a:rPr>
                <a:t>Cost per article from</a:t>
              </a:r>
            </a:p>
            <a:p>
              <a:pPr algn="ctr">
                <a:lnSpc>
                  <a:spcPts val="2399"/>
                </a:lnSpc>
              </a:pPr>
              <a:r>
                <a:rPr lang="en-US" sz="1999">
                  <a:solidFill>
                    <a:srgbClr val="D9D9D9"/>
                  </a:solidFill>
                  <a:latin typeface="Calibri (MS)"/>
                  <a:ea typeface="Calibri (MS)"/>
                  <a:cs typeface="Calibri (MS)"/>
                  <a:sym typeface="Calibri (MS)"/>
                </a:rPr>
                <a:t>content agencies</a:t>
              </a:r>
            </a:p>
          </p:txBody>
        </p:sp>
      </p:grpSp>
      <p:grpSp>
        <p:nvGrpSpPr>
          <p:cNvPr name="Group 38" id="38"/>
          <p:cNvGrpSpPr/>
          <p:nvPr/>
        </p:nvGrpSpPr>
        <p:grpSpPr>
          <a:xfrm rot="0">
            <a:off x="12956667" y="2916555"/>
            <a:ext cx="3859530" cy="2122170"/>
            <a:chOff x="0" y="0"/>
            <a:chExt cx="5146040" cy="2829560"/>
          </a:xfrm>
        </p:grpSpPr>
        <p:sp>
          <p:nvSpPr>
            <p:cNvPr name="Freeform 39" id="39"/>
            <p:cNvSpPr/>
            <p:nvPr/>
          </p:nvSpPr>
          <p:spPr>
            <a:xfrm flipH="false" flipV="false" rot="0">
              <a:off x="0" y="0"/>
              <a:ext cx="5146040" cy="2829560"/>
            </a:xfrm>
            <a:custGeom>
              <a:avLst/>
              <a:gdLst/>
              <a:ahLst/>
              <a:cxnLst/>
              <a:rect r="r" b="b" t="t" l="l"/>
              <a:pathLst>
                <a:path h="2829560" w="5146040">
                  <a:moveTo>
                    <a:pt x="0" y="245999"/>
                  </a:moveTo>
                  <a:cubicBezTo>
                    <a:pt x="0" y="110109"/>
                    <a:pt x="110109" y="0"/>
                    <a:pt x="245999" y="0"/>
                  </a:cubicBezTo>
                  <a:lnTo>
                    <a:pt x="4900041" y="0"/>
                  </a:lnTo>
                  <a:cubicBezTo>
                    <a:pt x="5035931" y="0"/>
                    <a:pt x="5146040" y="110109"/>
                    <a:pt x="5146040" y="245999"/>
                  </a:cubicBezTo>
                  <a:lnTo>
                    <a:pt x="5146040" y="2583561"/>
                  </a:lnTo>
                  <a:cubicBezTo>
                    <a:pt x="5146040" y="2719451"/>
                    <a:pt x="5035931" y="2829560"/>
                    <a:pt x="4900041" y="2829560"/>
                  </a:cubicBezTo>
                  <a:lnTo>
                    <a:pt x="245999" y="2829560"/>
                  </a:lnTo>
                  <a:cubicBezTo>
                    <a:pt x="110109" y="2829560"/>
                    <a:pt x="0" y="2719451"/>
                    <a:pt x="0" y="2583561"/>
                  </a:cubicBezTo>
                  <a:close/>
                </a:path>
              </a:pathLst>
            </a:custGeom>
            <a:solidFill>
              <a:srgbClr val="111827"/>
            </a:solidFill>
            <a:ln w="19050" cap="sq">
              <a:solidFill>
                <a:srgbClr val="1E293B"/>
              </a:solidFill>
              <a:prstDash val="solid"/>
              <a:miter/>
            </a:ln>
          </p:spPr>
        </p:sp>
      </p:grpSp>
      <p:grpSp>
        <p:nvGrpSpPr>
          <p:cNvPr name="Group 40" id="40"/>
          <p:cNvGrpSpPr/>
          <p:nvPr/>
        </p:nvGrpSpPr>
        <p:grpSpPr>
          <a:xfrm rot="0">
            <a:off x="12966192" y="3145536"/>
            <a:ext cx="3840480" cy="1005840"/>
            <a:chOff x="0" y="0"/>
            <a:chExt cx="5120640" cy="1341120"/>
          </a:xfrm>
        </p:grpSpPr>
        <p:sp>
          <p:nvSpPr>
            <p:cNvPr name="Freeform 41" id="41"/>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42" id="42"/>
            <p:cNvSpPr txBox="true"/>
            <p:nvPr/>
          </p:nvSpPr>
          <p:spPr>
            <a:xfrm>
              <a:off x="0" y="-9525"/>
              <a:ext cx="5120640" cy="1350645"/>
            </a:xfrm>
            <a:prstGeom prst="rect">
              <a:avLst/>
            </a:prstGeom>
          </p:spPr>
          <p:txBody>
            <a:bodyPr anchor="ctr" rtlCol="false" tIns="0" lIns="0" bIns="0" rIns="0"/>
            <a:lstStyle/>
            <a:p>
              <a:pPr algn="ctr">
                <a:lnSpc>
                  <a:spcPts val="7200"/>
                </a:lnSpc>
              </a:pPr>
              <a:r>
                <a:rPr lang="en-US" sz="6000" b="true">
                  <a:solidFill>
                    <a:srgbClr val="00B050"/>
                  </a:solidFill>
                  <a:latin typeface="Cambria Bold"/>
                  <a:ea typeface="Cambria Bold"/>
                  <a:cs typeface="Cambria Bold"/>
                  <a:sym typeface="Cambria Bold"/>
                </a:rPr>
                <a:t>10×</a:t>
              </a:r>
            </a:p>
          </p:txBody>
        </p:sp>
      </p:grpSp>
      <p:grpSp>
        <p:nvGrpSpPr>
          <p:cNvPr name="Group 43" id="43"/>
          <p:cNvGrpSpPr/>
          <p:nvPr/>
        </p:nvGrpSpPr>
        <p:grpSpPr>
          <a:xfrm rot="0">
            <a:off x="13149072" y="4114800"/>
            <a:ext cx="3474720" cy="768096"/>
            <a:chOff x="0" y="0"/>
            <a:chExt cx="4632960" cy="1024128"/>
          </a:xfrm>
        </p:grpSpPr>
        <p:sp>
          <p:nvSpPr>
            <p:cNvPr name="Freeform 44" id="44"/>
            <p:cNvSpPr/>
            <p:nvPr/>
          </p:nvSpPr>
          <p:spPr>
            <a:xfrm flipH="false" flipV="false" rot="0">
              <a:off x="0" y="0"/>
              <a:ext cx="4632960" cy="1024128"/>
            </a:xfrm>
            <a:custGeom>
              <a:avLst/>
              <a:gdLst/>
              <a:ahLst/>
              <a:cxnLst/>
              <a:rect r="r" b="b" t="t" l="l"/>
              <a:pathLst>
                <a:path h="1024128" w="4632960">
                  <a:moveTo>
                    <a:pt x="0" y="0"/>
                  </a:moveTo>
                  <a:lnTo>
                    <a:pt x="4632960" y="0"/>
                  </a:lnTo>
                  <a:lnTo>
                    <a:pt x="4632960" y="1024128"/>
                  </a:lnTo>
                  <a:lnTo>
                    <a:pt x="0" y="1024128"/>
                  </a:lnTo>
                  <a:close/>
                </a:path>
              </a:pathLst>
            </a:custGeom>
            <a:blipFill>
              <a:blip r:embed="rId3">
                <a:alphaModFix amt="0"/>
              </a:blip>
              <a:stretch>
                <a:fillRect l="0" t="-38146" r="0" b="-38146"/>
              </a:stretch>
            </a:blipFill>
          </p:spPr>
        </p:sp>
        <p:sp>
          <p:nvSpPr>
            <p:cNvPr name="TextBox 45" id="45"/>
            <p:cNvSpPr txBox="true"/>
            <p:nvPr/>
          </p:nvSpPr>
          <p:spPr>
            <a:xfrm>
              <a:off x="0" y="-47625"/>
              <a:ext cx="4632960" cy="1071753"/>
            </a:xfrm>
            <a:prstGeom prst="rect">
              <a:avLst/>
            </a:prstGeom>
          </p:spPr>
          <p:txBody>
            <a:bodyPr anchor="ctr" rtlCol="false" tIns="0" lIns="0" bIns="0" rIns="0"/>
            <a:lstStyle/>
            <a:p>
              <a:pPr algn="ctr">
                <a:lnSpc>
                  <a:spcPts val="2399"/>
                </a:lnSpc>
              </a:pPr>
              <a:r>
                <a:rPr lang="en-US" sz="1999">
                  <a:solidFill>
                    <a:srgbClr val="D9D9D9"/>
                  </a:solidFill>
                  <a:latin typeface="Calibri (MS)"/>
                  <a:ea typeface="Calibri (MS)"/>
                  <a:cs typeface="Calibri (MS)"/>
                  <a:sym typeface="Calibri (MS)"/>
                </a:rPr>
                <a:t>Content demand growth</a:t>
              </a:r>
            </a:p>
            <a:p>
              <a:pPr algn="ctr">
                <a:lnSpc>
                  <a:spcPts val="2399"/>
                </a:lnSpc>
              </a:pPr>
              <a:r>
                <a:rPr lang="en-US" sz="1999">
                  <a:solidFill>
                    <a:srgbClr val="D9D9D9"/>
                  </a:solidFill>
                  <a:latin typeface="Calibri (MS)"/>
                  <a:ea typeface="Calibri (MS)"/>
                  <a:cs typeface="Calibri (MS)"/>
                  <a:sym typeface="Calibri (MS)"/>
                </a:rPr>
                <a:t>since 2020</a:t>
              </a:r>
            </a:p>
          </p:txBody>
        </p:sp>
      </p:grpSp>
      <p:sp>
        <p:nvSpPr>
          <p:cNvPr name="AutoShape 46" id="46"/>
          <p:cNvSpPr/>
          <p:nvPr/>
        </p:nvSpPr>
        <p:spPr>
          <a:xfrm rot="2700000">
            <a:off x="573586" y="5554790"/>
            <a:ext cx="389020" cy="0"/>
          </a:xfrm>
          <a:prstGeom prst="line">
            <a:avLst/>
          </a:prstGeom>
          <a:ln cap="rnd" w="9525">
            <a:solidFill>
              <a:srgbClr val="22D3EE"/>
            </a:solidFill>
            <a:prstDash val="solid"/>
            <a:headEnd type="none" len="sm" w="sm"/>
            <a:tailEnd type="none" len="sm" w="sm"/>
          </a:ln>
        </p:spPr>
      </p:sp>
      <p:grpSp>
        <p:nvGrpSpPr>
          <p:cNvPr name="Group 47" id="47"/>
          <p:cNvGrpSpPr/>
          <p:nvPr/>
        </p:nvGrpSpPr>
        <p:grpSpPr>
          <a:xfrm rot="0">
            <a:off x="1060704" y="5303520"/>
            <a:ext cx="16459200" cy="694944"/>
            <a:chOff x="0" y="0"/>
            <a:chExt cx="21945600" cy="926592"/>
          </a:xfrm>
        </p:grpSpPr>
        <p:sp>
          <p:nvSpPr>
            <p:cNvPr name="Freeform 48" id="48"/>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49" id="49"/>
            <p:cNvSpPr txBox="true"/>
            <p:nvPr/>
          </p:nvSpPr>
          <p:spPr>
            <a:xfrm>
              <a:off x="0" y="-57150"/>
              <a:ext cx="21945600" cy="983742"/>
            </a:xfrm>
            <a:prstGeom prst="rect">
              <a:avLst/>
            </a:prstGeom>
          </p:spPr>
          <p:txBody>
            <a:bodyPr anchor="ctr" rtlCol="false" tIns="0" lIns="0" bIns="0" rIns="0"/>
            <a:lstStyle/>
            <a:p>
              <a:pPr algn="l">
                <a:lnSpc>
                  <a:spcPts val="3119"/>
                </a:lnSpc>
              </a:pPr>
              <a:r>
                <a:rPr lang="en-US" sz="2599">
                  <a:solidFill>
                    <a:srgbClr val="002060"/>
                  </a:solidFill>
                  <a:latin typeface="Calibri (MS)"/>
                  <a:ea typeface="Calibri (MS)"/>
                  <a:cs typeface="Calibri (MS)"/>
                  <a:sym typeface="Calibri (MS)"/>
                </a:rPr>
                <a:t>Businesses need fresh content daily across blogs, social media, and email campaigns</a:t>
              </a:r>
            </a:p>
          </p:txBody>
        </p:sp>
      </p:grpSp>
      <p:sp>
        <p:nvSpPr>
          <p:cNvPr name="AutoShape 50" id="50"/>
          <p:cNvSpPr/>
          <p:nvPr/>
        </p:nvSpPr>
        <p:spPr>
          <a:xfrm rot="2700000">
            <a:off x="573586" y="6322886"/>
            <a:ext cx="389020" cy="0"/>
          </a:xfrm>
          <a:prstGeom prst="line">
            <a:avLst/>
          </a:prstGeom>
          <a:ln cap="rnd" w="9525">
            <a:solidFill>
              <a:srgbClr val="22D3EE"/>
            </a:solidFill>
            <a:prstDash val="solid"/>
            <a:headEnd type="none" len="sm" w="sm"/>
            <a:tailEnd type="none" len="sm" w="sm"/>
          </a:ln>
        </p:spPr>
      </p:sp>
      <p:grpSp>
        <p:nvGrpSpPr>
          <p:cNvPr name="Group 51" id="51"/>
          <p:cNvGrpSpPr/>
          <p:nvPr/>
        </p:nvGrpSpPr>
        <p:grpSpPr>
          <a:xfrm rot="0">
            <a:off x="1060704" y="6071616"/>
            <a:ext cx="16459200" cy="694944"/>
            <a:chOff x="0" y="0"/>
            <a:chExt cx="21945600" cy="926592"/>
          </a:xfrm>
        </p:grpSpPr>
        <p:sp>
          <p:nvSpPr>
            <p:cNvPr name="Freeform 52" id="52"/>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53" id="53"/>
            <p:cNvSpPr txBox="true"/>
            <p:nvPr/>
          </p:nvSpPr>
          <p:spPr>
            <a:xfrm>
              <a:off x="0" y="-57150"/>
              <a:ext cx="21945600" cy="983742"/>
            </a:xfrm>
            <a:prstGeom prst="rect">
              <a:avLst/>
            </a:prstGeom>
          </p:spPr>
          <p:txBody>
            <a:bodyPr anchor="ctr" rtlCol="false" tIns="0" lIns="0" bIns="0" rIns="0"/>
            <a:lstStyle/>
            <a:p>
              <a:pPr algn="l">
                <a:lnSpc>
                  <a:spcPts val="3119"/>
                </a:lnSpc>
              </a:pPr>
              <a:r>
                <a:rPr lang="en-US" sz="2599">
                  <a:solidFill>
                    <a:srgbClr val="002060"/>
                  </a:solidFill>
                  <a:latin typeface="Calibri (MS)"/>
                  <a:ea typeface="Calibri (MS)"/>
                  <a:cs typeface="Calibri (MS)"/>
                  <a:sym typeface="Calibri (MS)"/>
                </a:rPr>
                <a:t>Human writers are slow and expensive — completely unviable at enterprise scale</a:t>
              </a:r>
            </a:p>
          </p:txBody>
        </p:sp>
      </p:grpSp>
      <p:sp>
        <p:nvSpPr>
          <p:cNvPr name="AutoShape 54" id="54"/>
          <p:cNvSpPr/>
          <p:nvPr/>
        </p:nvSpPr>
        <p:spPr>
          <a:xfrm rot="2700000">
            <a:off x="573586" y="7090982"/>
            <a:ext cx="389020" cy="0"/>
          </a:xfrm>
          <a:prstGeom prst="line">
            <a:avLst/>
          </a:prstGeom>
          <a:ln cap="rnd" w="9525">
            <a:solidFill>
              <a:srgbClr val="22D3EE"/>
            </a:solidFill>
            <a:prstDash val="solid"/>
            <a:headEnd type="none" len="sm" w="sm"/>
            <a:tailEnd type="none" len="sm" w="sm"/>
          </a:ln>
        </p:spPr>
      </p:sp>
      <p:grpSp>
        <p:nvGrpSpPr>
          <p:cNvPr name="Group 55" id="55"/>
          <p:cNvGrpSpPr/>
          <p:nvPr/>
        </p:nvGrpSpPr>
        <p:grpSpPr>
          <a:xfrm rot="0">
            <a:off x="1060704" y="6839712"/>
            <a:ext cx="16459200" cy="694944"/>
            <a:chOff x="0" y="0"/>
            <a:chExt cx="21945600" cy="926592"/>
          </a:xfrm>
        </p:grpSpPr>
        <p:sp>
          <p:nvSpPr>
            <p:cNvPr name="Freeform 56" id="56"/>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57" id="57"/>
            <p:cNvSpPr txBox="true"/>
            <p:nvPr/>
          </p:nvSpPr>
          <p:spPr>
            <a:xfrm>
              <a:off x="0" y="-57150"/>
              <a:ext cx="21945600" cy="983742"/>
            </a:xfrm>
            <a:prstGeom prst="rect">
              <a:avLst/>
            </a:prstGeom>
          </p:spPr>
          <p:txBody>
            <a:bodyPr anchor="ctr" rtlCol="false" tIns="0" lIns="0" bIns="0" rIns="0"/>
            <a:lstStyle/>
            <a:p>
              <a:pPr algn="l">
                <a:lnSpc>
                  <a:spcPts val="3119"/>
                </a:lnSpc>
              </a:pPr>
              <a:r>
                <a:rPr lang="en-US" sz="2599">
                  <a:solidFill>
                    <a:srgbClr val="002060"/>
                  </a:solidFill>
                  <a:latin typeface="Calibri (MS)"/>
                  <a:ea typeface="Calibri (MS)"/>
                  <a:cs typeface="Calibri (MS)"/>
                  <a:sym typeface="Calibri (MS)"/>
                </a:rPr>
                <a:t>Generic AI tools lack domain awareness and produce  off-brand content</a:t>
              </a:r>
            </a:p>
          </p:txBody>
        </p:sp>
      </p:grpSp>
      <p:sp>
        <p:nvSpPr>
          <p:cNvPr name="AutoShape 58" id="58"/>
          <p:cNvSpPr/>
          <p:nvPr/>
        </p:nvSpPr>
        <p:spPr>
          <a:xfrm rot="2700000">
            <a:off x="573586" y="7859078"/>
            <a:ext cx="389020" cy="0"/>
          </a:xfrm>
          <a:prstGeom prst="line">
            <a:avLst/>
          </a:prstGeom>
          <a:ln cap="rnd" w="9525">
            <a:solidFill>
              <a:srgbClr val="22D3EE"/>
            </a:solidFill>
            <a:prstDash val="solid"/>
            <a:headEnd type="none" len="sm" w="sm"/>
            <a:tailEnd type="none" len="sm" w="sm"/>
          </a:ln>
        </p:spPr>
      </p:sp>
      <p:grpSp>
        <p:nvGrpSpPr>
          <p:cNvPr name="Group 59" id="59"/>
          <p:cNvGrpSpPr/>
          <p:nvPr/>
        </p:nvGrpSpPr>
        <p:grpSpPr>
          <a:xfrm rot="0">
            <a:off x="1060704" y="7607808"/>
            <a:ext cx="16459200" cy="694944"/>
            <a:chOff x="0" y="0"/>
            <a:chExt cx="21945600" cy="926592"/>
          </a:xfrm>
        </p:grpSpPr>
        <p:sp>
          <p:nvSpPr>
            <p:cNvPr name="Freeform 60" id="60"/>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61" id="61"/>
            <p:cNvSpPr txBox="true"/>
            <p:nvPr/>
          </p:nvSpPr>
          <p:spPr>
            <a:xfrm>
              <a:off x="0" y="-57150"/>
              <a:ext cx="21945600" cy="983742"/>
            </a:xfrm>
            <a:prstGeom prst="rect">
              <a:avLst/>
            </a:prstGeom>
          </p:spPr>
          <p:txBody>
            <a:bodyPr anchor="ctr" rtlCol="false" tIns="0" lIns="0" bIns="0" rIns="0"/>
            <a:lstStyle/>
            <a:p>
              <a:pPr algn="l">
                <a:lnSpc>
                  <a:spcPts val="3119"/>
                </a:lnSpc>
              </a:pPr>
              <a:r>
                <a:rPr lang="en-US" sz="2599">
                  <a:solidFill>
                    <a:srgbClr val="002060"/>
                  </a:solidFill>
                  <a:latin typeface="Calibri (MS)"/>
                  <a:ea typeface="Calibri (MS)"/>
                  <a:cs typeface="Calibri (MS)"/>
                  <a:sym typeface="Calibri (MS)"/>
                </a:rPr>
                <a:t>Marketing teams face an impossible task: one team,  a lot of content types, zero time</a:t>
              </a:r>
            </a:p>
          </p:txBody>
        </p:sp>
      </p:grpSp>
      <p:grpSp>
        <p:nvGrpSpPr>
          <p:cNvPr name="Group 62" id="62"/>
          <p:cNvGrpSpPr/>
          <p:nvPr/>
        </p:nvGrpSpPr>
        <p:grpSpPr>
          <a:xfrm rot="0">
            <a:off x="-9525" y="9774555"/>
            <a:ext cx="18307050" cy="521970"/>
            <a:chOff x="0" y="0"/>
            <a:chExt cx="24409400" cy="695960"/>
          </a:xfrm>
        </p:grpSpPr>
        <p:sp>
          <p:nvSpPr>
            <p:cNvPr name="Freeform 63" id="63"/>
            <p:cNvSpPr/>
            <p:nvPr/>
          </p:nvSpPr>
          <p:spPr>
            <a:xfrm flipH="false" flipV="false" rot="0">
              <a:off x="0" y="0"/>
              <a:ext cx="24409400" cy="695960"/>
            </a:xfrm>
            <a:custGeom>
              <a:avLst/>
              <a:gdLst/>
              <a:ahLst/>
              <a:cxnLst/>
              <a:rect r="r" b="b" t="t" l="l"/>
              <a:pathLst>
                <a:path h="695960" w="24409400">
                  <a:moveTo>
                    <a:pt x="0" y="0"/>
                  </a:moveTo>
                  <a:lnTo>
                    <a:pt x="24409400" y="0"/>
                  </a:lnTo>
                  <a:lnTo>
                    <a:pt x="24409400" y="695960"/>
                  </a:lnTo>
                  <a:lnTo>
                    <a:pt x="0" y="695960"/>
                  </a:lnTo>
                  <a:close/>
                </a:path>
              </a:pathLst>
            </a:custGeom>
            <a:solidFill>
              <a:srgbClr val="080C17"/>
            </a:solidFill>
            <a:ln w="19050" cap="sq">
              <a:solidFill>
                <a:srgbClr val="080C17"/>
              </a:solidFill>
              <a:prstDash val="solid"/>
              <a:miter/>
            </a:ln>
          </p:spPr>
        </p:sp>
      </p:grpSp>
      <p:grpSp>
        <p:nvGrpSpPr>
          <p:cNvPr name="Group 64" id="64"/>
          <p:cNvGrpSpPr/>
          <p:nvPr/>
        </p:nvGrpSpPr>
        <p:grpSpPr>
          <a:xfrm rot="0">
            <a:off x="548640" y="9802368"/>
            <a:ext cx="9144000" cy="457200"/>
            <a:chOff x="0" y="0"/>
            <a:chExt cx="12192000" cy="609600"/>
          </a:xfrm>
        </p:grpSpPr>
        <p:sp>
          <p:nvSpPr>
            <p:cNvPr name="Freeform 65" id="65"/>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66" id="66"/>
            <p:cNvSpPr txBox="true"/>
            <p:nvPr/>
          </p:nvSpPr>
          <p:spPr>
            <a:xfrm>
              <a:off x="0" y="-38100"/>
              <a:ext cx="12192000" cy="647700"/>
            </a:xfrm>
            <a:prstGeom prst="rect">
              <a:avLst/>
            </a:prstGeom>
          </p:spPr>
          <p:txBody>
            <a:bodyPr anchor="ctr" rtlCol="false" tIns="0" lIns="0" bIns="0" rIns="0"/>
            <a:lstStyle/>
            <a:p>
              <a:pPr algn="l">
                <a:lnSpc>
                  <a:spcPts val="2160"/>
                </a:lnSpc>
              </a:pPr>
              <a:r>
                <a:rPr lang="en-US" sz="1800" b="true">
                  <a:solidFill>
                    <a:srgbClr val="22D3EE"/>
                  </a:solidFill>
                  <a:latin typeface="Calibri (MS) Bold"/>
                  <a:ea typeface="Calibri (MS) Bold"/>
                  <a:cs typeface="Calibri (MS) Bold"/>
                  <a:sym typeface="Calibri (MS) Bold"/>
                </a:rPr>
                <a:t>Generative AI Track 2026</a:t>
              </a:r>
            </a:p>
          </p:txBody>
        </p:sp>
      </p:grpSp>
      <p:grpSp>
        <p:nvGrpSpPr>
          <p:cNvPr name="Group 67" id="67"/>
          <p:cNvGrpSpPr/>
          <p:nvPr/>
        </p:nvGrpSpPr>
        <p:grpSpPr>
          <a:xfrm rot="0">
            <a:off x="7315200" y="9802368"/>
            <a:ext cx="10424160" cy="457200"/>
            <a:chOff x="0" y="0"/>
            <a:chExt cx="13898880" cy="609600"/>
          </a:xfrm>
        </p:grpSpPr>
        <p:sp>
          <p:nvSpPr>
            <p:cNvPr name="Freeform 68" id="68"/>
            <p:cNvSpPr/>
            <p:nvPr/>
          </p:nvSpPr>
          <p:spPr>
            <a:xfrm flipH="false" flipV="false" rot="0">
              <a:off x="0" y="0"/>
              <a:ext cx="13898880" cy="609600"/>
            </a:xfrm>
            <a:custGeom>
              <a:avLst/>
              <a:gdLst/>
              <a:ahLst/>
              <a:cxnLst/>
              <a:rect r="r" b="b" t="t" l="l"/>
              <a:pathLst>
                <a:path h="609600" w="13898880">
                  <a:moveTo>
                    <a:pt x="0" y="0"/>
                  </a:moveTo>
                  <a:lnTo>
                    <a:pt x="13898880" y="0"/>
                  </a:lnTo>
                  <a:lnTo>
                    <a:pt x="13898880" y="609600"/>
                  </a:lnTo>
                  <a:lnTo>
                    <a:pt x="0" y="609600"/>
                  </a:lnTo>
                  <a:close/>
                </a:path>
              </a:pathLst>
            </a:custGeom>
            <a:blipFill>
              <a:blip r:embed="rId3">
                <a:alphaModFix amt="0"/>
              </a:blip>
              <a:stretch>
                <a:fillRect l="0" t="-394258" r="0" b="-394258"/>
              </a:stretch>
            </a:blipFill>
          </p:spPr>
        </p:sp>
        <p:sp>
          <p:nvSpPr>
            <p:cNvPr name="TextBox 69" id="69"/>
            <p:cNvSpPr txBox="true"/>
            <p:nvPr/>
          </p:nvSpPr>
          <p:spPr>
            <a:xfrm>
              <a:off x="0" y="-28575"/>
              <a:ext cx="13898880" cy="638175"/>
            </a:xfrm>
            <a:prstGeom prst="rect">
              <a:avLst/>
            </a:prstGeom>
          </p:spPr>
          <p:txBody>
            <a:bodyPr anchor="ctr" rtlCol="false" tIns="0" lIns="0" bIns="0" rIns="0"/>
            <a:lstStyle/>
            <a:p>
              <a:pPr algn="r">
                <a:lnSpc>
                  <a:spcPts val="1920"/>
                </a:lnSpc>
              </a:pPr>
              <a:r>
                <a:rPr lang="en-US" sz="1600">
                  <a:solidFill>
                    <a:srgbClr val="64748B"/>
                  </a:solidFill>
                  <a:latin typeface="Calibri (MS)"/>
                  <a:ea typeface="Calibri (MS)"/>
                  <a:cs typeface="Calibri (MS)"/>
                  <a:sym typeface="Calibri (MS)"/>
                </a:rPr>
                <a:t>Farha Mostafa  ·  Ahmed Alsayed  ·  Ahmed Mohamed  ·  Ahmed Amir  ·  Arwa Alaa</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24376" y="358616"/>
            <a:ext cx="8792528" cy="416624"/>
            <a:chOff x="0" y="0"/>
            <a:chExt cx="11723370" cy="555498"/>
          </a:xfrm>
        </p:grpSpPr>
        <p:sp>
          <p:nvSpPr>
            <p:cNvPr name="Freeform 3" id="3"/>
            <p:cNvSpPr/>
            <p:nvPr/>
          </p:nvSpPr>
          <p:spPr>
            <a:xfrm flipH="false" flipV="false" rot="0">
              <a:off x="0" y="0"/>
              <a:ext cx="11723370" cy="555498"/>
            </a:xfrm>
            <a:custGeom>
              <a:avLst/>
              <a:gdLst/>
              <a:ahLst/>
              <a:cxnLst/>
              <a:rect r="r" b="b" t="t" l="l"/>
              <a:pathLst>
                <a:path h="555498" w="11723370">
                  <a:moveTo>
                    <a:pt x="0" y="126238"/>
                  </a:moveTo>
                  <a:cubicBezTo>
                    <a:pt x="0" y="56515"/>
                    <a:pt x="56515" y="0"/>
                    <a:pt x="126238" y="0"/>
                  </a:cubicBezTo>
                  <a:lnTo>
                    <a:pt x="11597132" y="0"/>
                  </a:lnTo>
                  <a:cubicBezTo>
                    <a:pt x="11666855" y="0"/>
                    <a:pt x="11723370" y="56515"/>
                    <a:pt x="11723370" y="126238"/>
                  </a:cubicBezTo>
                  <a:lnTo>
                    <a:pt x="11723370" y="429260"/>
                  </a:lnTo>
                  <a:cubicBezTo>
                    <a:pt x="11723370" y="498983"/>
                    <a:pt x="11666855" y="555498"/>
                    <a:pt x="11597132" y="555498"/>
                  </a:cubicBezTo>
                  <a:lnTo>
                    <a:pt x="126238" y="555498"/>
                  </a:lnTo>
                  <a:cubicBezTo>
                    <a:pt x="56515" y="555498"/>
                    <a:pt x="0" y="498983"/>
                    <a:pt x="0" y="429260"/>
                  </a:cubicBezTo>
                  <a:close/>
                </a:path>
              </a:pathLst>
            </a:custGeom>
            <a:solidFill>
              <a:srgbClr val="002060">
                <a:alpha val="49020"/>
              </a:srgbClr>
            </a:solidFill>
            <a:ln w="14288" cap="sq">
              <a:solidFill>
                <a:srgbClr val="002060"/>
              </a:solidFill>
              <a:prstDash val="solid"/>
              <a:miter/>
            </a:ln>
          </p:spPr>
        </p:sp>
      </p:grpSp>
      <p:grpSp>
        <p:nvGrpSpPr>
          <p:cNvPr name="Group 4" id="4"/>
          <p:cNvGrpSpPr/>
          <p:nvPr/>
        </p:nvGrpSpPr>
        <p:grpSpPr>
          <a:xfrm rot="0">
            <a:off x="731520" y="365760"/>
            <a:ext cx="8778240" cy="402336"/>
            <a:chOff x="0" y="0"/>
            <a:chExt cx="11704320" cy="536448"/>
          </a:xfrm>
        </p:grpSpPr>
        <p:sp>
          <p:nvSpPr>
            <p:cNvPr name="Freeform 5" id="5"/>
            <p:cNvSpPr/>
            <p:nvPr/>
          </p:nvSpPr>
          <p:spPr>
            <a:xfrm flipH="false" flipV="false" rot="0">
              <a:off x="0" y="0"/>
              <a:ext cx="11704320" cy="536448"/>
            </a:xfrm>
            <a:custGeom>
              <a:avLst/>
              <a:gdLst/>
              <a:ahLst/>
              <a:cxnLst/>
              <a:rect r="r" b="b" t="t" l="l"/>
              <a:pathLst>
                <a:path h="536448" w="11704320">
                  <a:moveTo>
                    <a:pt x="0" y="0"/>
                  </a:moveTo>
                  <a:lnTo>
                    <a:pt x="11704320" y="0"/>
                  </a:lnTo>
                  <a:lnTo>
                    <a:pt x="11704320" y="536448"/>
                  </a:lnTo>
                  <a:lnTo>
                    <a:pt x="0" y="536448"/>
                  </a:lnTo>
                  <a:close/>
                </a:path>
              </a:pathLst>
            </a:custGeom>
            <a:blipFill>
              <a:blip r:embed="rId3">
                <a:alphaModFix amt="0"/>
              </a:blip>
              <a:stretch>
                <a:fillRect l="0" t="-375128" r="0" b="-375128"/>
              </a:stretch>
            </a:blipFill>
          </p:spPr>
        </p:sp>
        <p:sp>
          <p:nvSpPr>
            <p:cNvPr name="TextBox 6" id="6"/>
            <p:cNvSpPr txBox="true"/>
            <p:nvPr/>
          </p:nvSpPr>
          <p:spPr>
            <a:xfrm>
              <a:off x="0" y="-47625"/>
              <a:ext cx="11704320" cy="584073"/>
            </a:xfrm>
            <a:prstGeom prst="rect">
              <a:avLst/>
            </a:prstGeom>
          </p:spPr>
          <p:txBody>
            <a:bodyPr anchor="ctr" rtlCol="false" tIns="0" lIns="0" bIns="0" rIns="0"/>
            <a:lstStyle/>
            <a:p>
              <a:pPr algn="ctr">
                <a:lnSpc>
                  <a:spcPts val="2520"/>
                </a:lnSpc>
              </a:pPr>
              <a:r>
                <a:rPr lang="en-US" sz="2100" b="true">
                  <a:solidFill>
                    <a:srgbClr val="40F2AA"/>
                  </a:solidFill>
                  <a:latin typeface="Calibri (MS) Bold"/>
                  <a:ea typeface="Calibri (MS) Bold"/>
                  <a:cs typeface="Calibri (MS) Bold"/>
                  <a:sym typeface="Calibri (MS) Bold"/>
                </a:rPr>
                <a:t>SECTION 2  ·  CURRENT MARKET LIMITATIONS</a:t>
              </a:r>
            </a:p>
          </p:txBody>
        </p:sp>
      </p:grpSp>
      <p:grpSp>
        <p:nvGrpSpPr>
          <p:cNvPr name="Group 7" id="7"/>
          <p:cNvGrpSpPr/>
          <p:nvPr/>
        </p:nvGrpSpPr>
        <p:grpSpPr>
          <a:xfrm rot="0">
            <a:off x="731520" y="914400"/>
            <a:ext cx="16824960" cy="1188720"/>
            <a:chOff x="0" y="0"/>
            <a:chExt cx="22433280" cy="1584960"/>
          </a:xfrm>
        </p:grpSpPr>
        <p:sp>
          <p:nvSpPr>
            <p:cNvPr name="Freeform 8" id="8"/>
            <p:cNvSpPr/>
            <p:nvPr/>
          </p:nvSpPr>
          <p:spPr>
            <a:xfrm flipH="false" flipV="false" rot="0">
              <a:off x="0" y="0"/>
              <a:ext cx="22433280" cy="1584960"/>
            </a:xfrm>
            <a:custGeom>
              <a:avLst/>
              <a:gdLst/>
              <a:ahLst/>
              <a:cxnLst/>
              <a:rect r="r" b="b" t="t" l="l"/>
              <a:pathLst>
                <a:path h="1584960" w="22433280">
                  <a:moveTo>
                    <a:pt x="0" y="0"/>
                  </a:moveTo>
                  <a:lnTo>
                    <a:pt x="22433280" y="0"/>
                  </a:lnTo>
                  <a:lnTo>
                    <a:pt x="22433280" y="1584960"/>
                  </a:lnTo>
                  <a:lnTo>
                    <a:pt x="0" y="1584960"/>
                  </a:lnTo>
                  <a:close/>
                </a:path>
              </a:pathLst>
            </a:custGeom>
            <a:blipFill>
              <a:blip r:embed="rId3">
                <a:alphaModFix amt="0"/>
              </a:blip>
              <a:stretch>
                <a:fillRect l="0" t="-225788" r="0" b="-225788"/>
              </a:stretch>
            </a:blipFill>
          </p:spPr>
        </p:sp>
        <p:sp>
          <p:nvSpPr>
            <p:cNvPr name="TextBox 9" id="9"/>
            <p:cNvSpPr txBox="true"/>
            <p:nvPr/>
          </p:nvSpPr>
          <p:spPr>
            <a:xfrm>
              <a:off x="0" y="-9525"/>
              <a:ext cx="22433280" cy="1594485"/>
            </a:xfrm>
            <a:prstGeom prst="rect">
              <a:avLst/>
            </a:prstGeom>
          </p:spPr>
          <p:txBody>
            <a:bodyPr anchor="ctr" rtlCol="false" tIns="0" lIns="0" bIns="0" rIns="0"/>
            <a:lstStyle/>
            <a:p>
              <a:pPr algn="l">
                <a:lnSpc>
                  <a:spcPts val="7680"/>
                </a:lnSpc>
              </a:pPr>
              <a:r>
                <a:rPr lang="en-US" sz="6400" b="true">
                  <a:solidFill>
                    <a:srgbClr val="002060"/>
                  </a:solidFill>
                  <a:latin typeface="Cambria Bold"/>
                  <a:ea typeface="Cambria Bold"/>
                  <a:cs typeface="Cambria Bold"/>
                  <a:sym typeface="Cambria Bold"/>
                </a:rPr>
                <a:t>Why Existing Solutions Fall Short</a:t>
              </a:r>
            </a:p>
          </p:txBody>
        </p:sp>
      </p:grpSp>
      <p:grpSp>
        <p:nvGrpSpPr>
          <p:cNvPr name="Group 10" id="10"/>
          <p:cNvGrpSpPr/>
          <p:nvPr/>
        </p:nvGrpSpPr>
        <p:grpSpPr>
          <a:xfrm rot="0">
            <a:off x="721995" y="2367915"/>
            <a:ext cx="5139690" cy="6236970"/>
            <a:chOff x="0" y="0"/>
            <a:chExt cx="6852920" cy="8315960"/>
          </a:xfrm>
        </p:grpSpPr>
        <p:sp>
          <p:nvSpPr>
            <p:cNvPr name="Freeform 11" id="11"/>
            <p:cNvSpPr/>
            <p:nvPr/>
          </p:nvSpPr>
          <p:spPr>
            <a:xfrm flipH="false" flipV="false" rot="0">
              <a:off x="0" y="0"/>
              <a:ext cx="6852920" cy="8315960"/>
            </a:xfrm>
            <a:custGeom>
              <a:avLst/>
              <a:gdLst/>
              <a:ahLst/>
              <a:cxnLst/>
              <a:rect r="r" b="b" t="t" l="l"/>
              <a:pathLst>
                <a:path h="8315960" w="6852920">
                  <a:moveTo>
                    <a:pt x="0" y="293751"/>
                  </a:moveTo>
                  <a:cubicBezTo>
                    <a:pt x="0" y="131445"/>
                    <a:pt x="131445" y="0"/>
                    <a:pt x="293751" y="0"/>
                  </a:cubicBezTo>
                  <a:lnTo>
                    <a:pt x="6559169" y="0"/>
                  </a:lnTo>
                  <a:cubicBezTo>
                    <a:pt x="6721348" y="0"/>
                    <a:pt x="6852920" y="131445"/>
                    <a:pt x="6852920" y="293751"/>
                  </a:cubicBezTo>
                  <a:lnTo>
                    <a:pt x="6852920" y="8022209"/>
                  </a:lnTo>
                  <a:cubicBezTo>
                    <a:pt x="6852920" y="8184388"/>
                    <a:pt x="6721475" y="8315960"/>
                    <a:pt x="6559169" y="8315960"/>
                  </a:cubicBezTo>
                  <a:lnTo>
                    <a:pt x="293751" y="8315960"/>
                  </a:lnTo>
                  <a:cubicBezTo>
                    <a:pt x="131445" y="8315960"/>
                    <a:pt x="0" y="8184515"/>
                    <a:pt x="0" y="8022209"/>
                  </a:cubicBezTo>
                  <a:close/>
                </a:path>
              </a:pathLst>
            </a:custGeom>
            <a:solidFill>
              <a:srgbClr val="111827"/>
            </a:solidFill>
            <a:ln w="19050" cap="sq">
              <a:solidFill>
                <a:srgbClr val="1E293B"/>
              </a:solidFill>
              <a:prstDash val="solid"/>
              <a:miter/>
            </a:ln>
          </p:spPr>
        </p:sp>
      </p:grpSp>
      <p:grpSp>
        <p:nvGrpSpPr>
          <p:cNvPr name="Group 12" id="12"/>
          <p:cNvGrpSpPr/>
          <p:nvPr/>
        </p:nvGrpSpPr>
        <p:grpSpPr>
          <a:xfrm rot="0">
            <a:off x="1005840" y="2596896"/>
            <a:ext cx="4572000" cy="694944"/>
            <a:chOff x="0" y="0"/>
            <a:chExt cx="6096000" cy="926592"/>
          </a:xfrm>
        </p:grpSpPr>
        <p:sp>
          <p:nvSpPr>
            <p:cNvPr name="Freeform 13" id="13"/>
            <p:cNvSpPr/>
            <p:nvPr/>
          </p:nvSpPr>
          <p:spPr>
            <a:xfrm flipH="false" flipV="false" rot="0">
              <a:off x="0" y="0"/>
              <a:ext cx="6096000" cy="926592"/>
            </a:xfrm>
            <a:custGeom>
              <a:avLst/>
              <a:gdLst/>
              <a:ahLst/>
              <a:cxnLst/>
              <a:rect r="r" b="b" t="t" l="l"/>
              <a:pathLst>
                <a:path h="926592" w="6096000">
                  <a:moveTo>
                    <a:pt x="0" y="0"/>
                  </a:moveTo>
                  <a:lnTo>
                    <a:pt x="6096000" y="0"/>
                  </a:lnTo>
                  <a:lnTo>
                    <a:pt x="6096000" y="926592"/>
                  </a:lnTo>
                  <a:lnTo>
                    <a:pt x="0" y="926592"/>
                  </a:lnTo>
                  <a:close/>
                </a:path>
              </a:pathLst>
            </a:custGeom>
            <a:blipFill>
              <a:blip r:embed="rId3">
                <a:alphaModFix amt="0"/>
              </a:blip>
              <a:stretch>
                <a:fillRect l="0" t="-78191" r="0" b="-78191"/>
              </a:stretch>
            </a:blipFill>
          </p:spPr>
        </p:sp>
        <p:sp>
          <p:nvSpPr>
            <p:cNvPr name="TextBox 14" id="14"/>
            <p:cNvSpPr txBox="true"/>
            <p:nvPr/>
          </p:nvSpPr>
          <p:spPr>
            <a:xfrm>
              <a:off x="0" y="-47625"/>
              <a:ext cx="6096000" cy="974217"/>
            </a:xfrm>
            <a:prstGeom prst="rect">
              <a:avLst/>
            </a:prstGeom>
          </p:spPr>
          <p:txBody>
            <a:bodyPr anchor="ctr" rtlCol="false" tIns="0" lIns="0" bIns="0" rIns="0"/>
            <a:lstStyle/>
            <a:p>
              <a:pPr algn="ctr">
                <a:lnSpc>
                  <a:spcPts val="3360"/>
                </a:lnSpc>
              </a:pPr>
              <a:r>
                <a:rPr lang="en-US" sz="2800" b="true">
                  <a:solidFill>
                    <a:srgbClr val="EF4444"/>
                  </a:solidFill>
                  <a:latin typeface="Calibri (MS) Bold"/>
                  <a:ea typeface="Calibri (MS) Bold"/>
                  <a:cs typeface="Calibri (MS) Bold"/>
                  <a:sym typeface="Calibri (MS) Bold"/>
                </a:rPr>
                <a:t>Human Writers</a:t>
              </a:r>
            </a:p>
          </p:txBody>
        </p:sp>
      </p:grpSp>
      <p:grpSp>
        <p:nvGrpSpPr>
          <p:cNvPr name="Group 15" id="15"/>
          <p:cNvGrpSpPr/>
          <p:nvPr/>
        </p:nvGrpSpPr>
        <p:grpSpPr>
          <a:xfrm rot="0">
            <a:off x="943366" y="3430534"/>
            <a:ext cx="4696949" cy="893045"/>
            <a:chOff x="0" y="0"/>
            <a:chExt cx="6262599" cy="1190727"/>
          </a:xfrm>
        </p:grpSpPr>
        <p:sp>
          <p:nvSpPr>
            <p:cNvPr name="Freeform 16" id="16"/>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F1829"/>
            </a:solidFill>
            <a:ln w="15225" cap="sq">
              <a:solidFill>
                <a:srgbClr val="1A2540"/>
              </a:solidFill>
              <a:prstDash val="solid"/>
              <a:miter/>
            </a:ln>
          </p:spPr>
        </p:sp>
      </p:grpSp>
      <p:grpSp>
        <p:nvGrpSpPr>
          <p:cNvPr name="Group 17" id="17"/>
          <p:cNvGrpSpPr/>
          <p:nvPr/>
        </p:nvGrpSpPr>
        <p:grpSpPr>
          <a:xfrm rot="0">
            <a:off x="1060704" y="3511296"/>
            <a:ext cx="4462272" cy="731520"/>
            <a:chOff x="0" y="0"/>
            <a:chExt cx="5949696" cy="975360"/>
          </a:xfrm>
        </p:grpSpPr>
        <p:sp>
          <p:nvSpPr>
            <p:cNvPr name="Freeform 18" id="18"/>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19" id="19"/>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94A3B8"/>
                  </a:solidFill>
                  <a:latin typeface="Calibri (MS)"/>
                  <a:ea typeface="Calibri (MS)"/>
                  <a:cs typeface="Calibri (MS)"/>
                  <a:sym typeface="Calibri (MS)"/>
                </a:rPr>
                <a:t>✕  Slow — hours per article</a:t>
              </a:r>
            </a:p>
          </p:txBody>
        </p:sp>
      </p:grpSp>
      <p:grpSp>
        <p:nvGrpSpPr>
          <p:cNvPr name="Group 20" id="20"/>
          <p:cNvGrpSpPr/>
          <p:nvPr/>
        </p:nvGrpSpPr>
        <p:grpSpPr>
          <a:xfrm rot="0">
            <a:off x="943366" y="4491238"/>
            <a:ext cx="4696949" cy="893045"/>
            <a:chOff x="0" y="0"/>
            <a:chExt cx="6262599" cy="1190727"/>
          </a:xfrm>
        </p:grpSpPr>
        <p:sp>
          <p:nvSpPr>
            <p:cNvPr name="Freeform 21" id="21"/>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F1829"/>
            </a:solidFill>
            <a:ln w="15225" cap="sq">
              <a:solidFill>
                <a:srgbClr val="1A2540"/>
              </a:solidFill>
              <a:prstDash val="solid"/>
              <a:miter/>
            </a:ln>
          </p:spPr>
        </p:sp>
      </p:grpSp>
      <p:grpSp>
        <p:nvGrpSpPr>
          <p:cNvPr name="Group 22" id="22"/>
          <p:cNvGrpSpPr/>
          <p:nvPr/>
        </p:nvGrpSpPr>
        <p:grpSpPr>
          <a:xfrm rot="0">
            <a:off x="1060704" y="4572000"/>
            <a:ext cx="4462272" cy="731520"/>
            <a:chOff x="0" y="0"/>
            <a:chExt cx="5949696" cy="975360"/>
          </a:xfrm>
        </p:grpSpPr>
        <p:sp>
          <p:nvSpPr>
            <p:cNvPr name="Freeform 23" id="23"/>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24" id="24"/>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94A3B8"/>
                  </a:solidFill>
                  <a:latin typeface="Calibri (MS)"/>
                  <a:ea typeface="Calibri (MS)"/>
                  <a:cs typeface="Calibri (MS)"/>
                  <a:sym typeface="Calibri (MS)"/>
                </a:rPr>
                <a:t>✕  Very expensive at scale</a:t>
              </a:r>
            </a:p>
          </p:txBody>
        </p:sp>
      </p:grpSp>
      <p:grpSp>
        <p:nvGrpSpPr>
          <p:cNvPr name="Group 25" id="25"/>
          <p:cNvGrpSpPr/>
          <p:nvPr/>
        </p:nvGrpSpPr>
        <p:grpSpPr>
          <a:xfrm rot="0">
            <a:off x="943366" y="5551942"/>
            <a:ext cx="4696949" cy="893045"/>
            <a:chOff x="0" y="0"/>
            <a:chExt cx="6262599" cy="1190727"/>
          </a:xfrm>
        </p:grpSpPr>
        <p:sp>
          <p:nvSpPr>
            <p:cNvPr name="Freeform 26" id="26"/>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F1829"/>
            </a:solidFill>
            <a:ln w="15225" cap="sq">
              <a:solidFill>
                <a:srgbClr val="1A2540"/>
              </a:solidFill>
              <a:prstDash val="solid"/>
              <a:miter/>
            </a:ln>
          </p:spPr>
        </p:sp>
      </p:grpSp>
      <p:grpSp>
        <p:nvGrpSpPr>
          <p:cNvPr name="Group 27" id="27"/>
          <p:cNvGrpSpPr/>
          <p:nvPr/>
        </p:nvGrpSpPr>
        <p:grpSpPr>
          <a:xfrm rot="0">
            <a:off x="1060704" y="5632704"/>
            <a:ext cx="4462272" cy="731520"/>
            <a:chOff x="0" y="0"/>
            <a:chExt cx="5949696" cy="975360"/>
          </a:xfrm>
        </p:grpSpPr>
        <p:sp>
          <p:nvSpPr>
            <p:cNvPr name="Freeform 28" id="28"/>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29" id="29"/>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94A3B8"/>
                  </a:solidFill>
                  <a:latin typeface="Calibri (MS)"/>
                  <a:ea typeface="Calibri (MS)"/>
                  <a:cs typeface="Calibri (MS)"/>
                  <a:sym typeface="Calibri (MS)"/>
                </a:rPr>
                <a:t>✕  Inconsistent quality </a:t>
              </a:r>
            </a:p>
          </p:txBody>
        </p:sp>
      </p:grpSp>
      <p:grpSp>
        <p:nvGrpSpPr>
          <p:cNvPr name="Group 30" id="30"/>
          <p:cNvGrpSpPr/>
          <p:nvPr/>
        </p:nvGrpSpPr>
        <p:grpSpPr>
          <a:xfrm rot="0">
            <a:off x="943366" y="6612646"/>
            <a:ext cx="4696949" cy="893045"/>
            <a:chOff x="0" y="0"/>
            <a:chExt cx="6262599" cy="1190727"/>
          </a:xfrm>
        </p:grpSpPr>
        <p:sp>
          <p:nvSpPr>
            <p:cNvPr name="Freeform 31" id="31"/>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F1829"/>
            </a:solidFill>
            <a:ln w="15225" cap="sq">
              <a:solidFill>
                <a:srgbClr val="1A2540"/>
              </a:solidFill>
              <a:prstDash val="solid"/>
              <a:miter/>
            </a:ln>
          </p:spPr>
        </p:sp>
      </p:grpSp>
      <p:grpSp>
        <p:nvGrpSpPr>
          <p:cNvPr name="Group 32" id="32"/>
          <p:cNvGrpSpPr/>
          <p:nvPr/>
        </p:nvGrpSpPr>
        <p:grpSpPr>
          <a:xfrm rot="0">
            <a:off x="1060704" y="6693408"/>
            <a:ext cx="4462272" cy="731520"/>
            <a:chOff x="0" y="0"/>
            <a:chExt cx="5949696" cy="975360"/>
          </a:xfrm>
        </p:grpSpPr>
        <p:sp>
          <p:nvSpPr>
            <p:cNvPr name="Freeform 33" id="33"/>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34" id="34"/>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94A3B8"/>
                  </a:solidFill>
                  <a:latin typeface="Calibri (MS)"/>
                  <a:ea typeface="Calibri (MS)"/>
                  <a:cs typeface="Calibri (MS)"/>
                  <a:sym typeface="Calibri (MS)"/>
                </a:rPr>
                <a:t>✕  Cannot handle high volume</a:t>
              </a:r>
            </a:p>
          </p:txBody>
        </p:sp>
      </p:grpSp>
      <p:grpSp>
        <p:nvGrpSpPr>
          <p:cNvPr name="Group 35" id="35"/>
          <p:cNvGrpSpPr/>
          <p:nvPr/>
        </p:nvGrpSpPr>
        <p:grpSpPr>
          <a:xfrm rot="0">
            <a:off x="6482715" y="2367915"/>
            <a:ext cx="5139690" cy="6236970"/>
            <a:chOff x="0" y="0"/>
            <a:chExt cx="6852920" cy="8315960"/>
          </a:xfrm>
        </p:grpSpPr>
        <p:sp>
          <p:nvSpPr>
            <p:cNvPr name="Freeform 36" id="36"/>
            <p:cNvSpPr/>
            <p:nvPr/>
          </p:nvSpPr>
          <p:spPr>
            <a:xfrm flipH="false" flipV="false" rot="0">
              <a:off x="0" y="0"/>
              <a:ext cx="6852920" cy="8315960"/>
            </a:xfrm>
            <a:custGeom>
              <a:avLst/>
              <a:gdLst/>
              <a:ahLst/>
              <a:cxnLst/>
              <a:rect r="r" b="b" t="t" l="l"/>
              <a:pathLst>
                <a:path h="8315960" w="6852920">
                  <a:moveTo>
                    <a:pt x="0" y="293751"/>
                  </a:moveTo>
                  <a:cubicBezTo>
                    <a:pt x="0" y="131445"/>
                    <a:pt x="131445" y="0"/>
                    <a:pt x="293751" y="0"/>
                  </a:cubicBezTo>
                  <a:lnTo>
                    <a:pt x="6559169" y="0"/>
                  </a:lnTo>
                  <a:cubicBezTo>
                    <a:pt x="6721348" y="0"/>
                    <a:pt x="6852920" y="131445"/>
                    <a:pt x="6852920" y="293751"/>
                  </a:cubicBezTo>
                  <a:lnTo>
                    <a:pt x="6852920" y="8022209"/>
                  </a:lnTo>
                  <a:cubicBezTo>
                    <a:pt x="6852920" y="8184388"/>
                    <a:pt x="6721475" y="8315960"/>
                    <a:pt x="6559169" y="8315960"/>
                  </a:cubicBezTo>
                  <a:lnTo>
                    <a:pt x="293751" y="8315960"/>
                  </a:lnTo>
                  <a:cubicBezTo>
                    <a:pt x="131445" y="8315960"/>
                    <a:pt x="0" y="8184515"/>
                    <a:pt x="0" y="8022209"/>
                  </a:cubicBezTo>
                  <a:close/>
                </a:path>
              </a:pathLst>
            </a:custGeom>
            <a:solidFill>
              <a:srgbClr val="111827"/>
            </a:solidFill>
            <a:ln w="19050" cap="sq">
              <a:solidFill>
                <a:srgbClr val="1E293B"/>
              </a:solidFill>
              <a:prstDash val="solid"/>
              <a:miter/>
            </a:ln>
          </p:spPr>
        </p:sp>
      </p:grpSp>
      <p:grpSp>
        <p:nvGrpSpPr>
          <p:cNvPr name="Group 37" id="37"/>
          <p:cNvGrpSpPr/>
          <p:nvPr/>
        </p:nvGrpSpPr>
        <p:grpSpPr>
          <a:xfrm rot="0">
            <a:off x="6766560" y="2596896"/>
            <a:ext cx="4572000" cy="694944"/>
            <a:chOff x="0" y="0"/>
            <a:chExt cx="6096000" cy="926592"/>
          </a:xfrm>
        </p:grpSpPr>
        <p:sp>
          <p:nvSpPr>
            <p:cNvPr name="Freeform 38" id="38"/>
            <p:cNvSpPr/>
            <p:nvPr/>
          </p:nvSpPr>
          <p:spPr>
            <a:xfrm flipH="false" flipV="false" rot="0">
              <a:off x="0" y="0"/>
              <a:ext cx="6096000" cy="926592"/>
            </a:xfrm>
            <a:custGeom>
              <a:avLst/>
              <a:gdLst/>
              <a:ahLst/>
              <a:cxnLst/>
              <a:rect r="r" b="b" t="t" l="l"/>
              <a:pathLst>
                <a:path h="926592" w="6096000">
                  <a:moveTo>
                    <a:pt x="0" y="0"/>
                  </a:moveTo>
                  <a:lnTo>
                    <a:pt x="6096000" y="0"/>
                  </a:lnTo>
                  <a:lnTo>
                    <a:pt x="6096000" y="926592"/>
                  </a:lnTo>
                  <a:lnTo>
                    <a:pt x="0" y="926592"/>
                  </a:lnTo>
                  <a:close/>
                </a:path>
              </a:pathLst>
            </a:custGeom>
            <a:blipFill>
              <a:blip r:embed="rId3">
                <a:alphaModFix amt="0"/>
              </a:blip>
              <a:stretch>
                <a:fillRect l="0" t="-78191" r="0" b="-78191"/>
              </a:stretch>
            </a:blipFill>
          </p:spPr>
        </p:sp>
        <p:sp>
          <p:nvSpPr>
            <p:cNvPr name="TextBox 39" id="39"/>
            <p:cNvSpPr txBox="true"/>
            <p:nvPr/>
          </p:nvSpPr>
          <p:spPr>
            <a:xfrm>
              <a:off x="0" y="-47625"/>
              <a:ext cx="6096000" cy="974217"/>
            </a:xfrm>
            <a:prstGeom prst="rect">
              <a:avLst/>
            </a:prstGeom>
          </p:spPr>
          <p:txBody>
            <a:bodyPr anchor="ctr" rtlCol="false" tIns="0" lIns="0" bIns="0" rIns="0"/>
            <a:lstStyle/>
            <a:p>
              <a:pPr algn="ctr">
                <a:lnSpc>
                  <a:spcPts val="3360"/>
                </a:lnSpc>
              </a:pPr>
              <a:r>
                <a:rPr lang="en-US" sz="2800" b="true">
                  <a:solidFill>
                    <a:srgbClr val="F59E0B"/>
                  </a:solidFill>
                  <a:latin typeface="Calibri (MS) Bold"/>
                  <a:ea typeface="Calibri (MS) Bold"/>
                  <a:cs typeface="Calibri (MS) Bold"/>
                  <a:sym typeface="Calibri (MS) Bold"/>
                </a:rPr>
                <a:t>Generic AI Tools</a:t>
              </a:r>
            </a:p>
          </p:txBody>
        </p:sp>
      </p:grpSp>
      <p:grpSp>
        <p:nvGrpSpPr>
          <p:cNvPr name="Group 40" id="40"/>
          <p:cNvGrpSpPr/>
          <p:nvPr/>
        </p:nvGrpSpPr>
        <p:grpSpPr>
          <a:xfrm rot="0">
            <a:off x="6704086" y="3430534"/>
            <a:ext cx="4696949" cy="893045"/>
            <a:chOff x="0" y="0"/>
            <a:chExt cx="6262599" cy="1190727"/>
          </a:xfrm>
        </p:grpSpPr>
        <p:sp>
          <p:nvSpPr>
            <p:cNvPr name="Freeform 41" id="41"/>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F1829"/>
            </a:solidFill>
            <a:ln w="15225" cap="sq">
              <a:solidFill>
                <a:srgbClr val="1A2540"/>
              </a:solidFill>
              <a:prstDash val="solid"/>
              <a:miter/>
            </a:ln>
          </p:spPr>
        </p:sp>
      </p:grpSp>
      <p:grpSp>
        <p:nvGrpSpPr>
          <p:cNvPr name="Group 42" id="42"/>
          <p:cNvGrpSpPr/>
          <p:nvPr/>
        </p:nvGrpSpPr>
        <p:grpSpPr>
          <a:xfrm rot="0">
            <a:off x="6821424" y="3511296"/>
            <a:ext cx="4462272" cy="731520"/>
            <a:chOff x="0" y="0"/>
            <a:chExt cx="5949696" cy="975360"/>
          </a:xfrm>
        </p:grpSpPr>
        <p:sp>
          <p:nvSpPr>
            <p:cNvPr name="Freeform 43" id="43"/>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44" id="44"/>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94A3B8"/>
                  </a:solidFill>
                  <a:latin typeface="Calibri (MS)"/>
                  <a:ea typeface="Calibri (MS)"/>
                  <a:cs typeface="Calibri (MS)"/>
                  <a:sym typeface="Calibri (MS)"/>
                </a:rPr>
                <a:t>✕  One-size-fits-all output</a:t>
              </a:r>
            </a:p>
          </p:txBody>
        </p:sp>
      </p:grpSp>
      <p:grpSp>
        <p:nvGrpSpPr>
          <p:cNvPr name="Group 45" id="45"/>
          <p:cNvGrpSpPr/>
          <p:nvPr/>
        </p:nvGrpSpPr>
        <p:grpSpPr>
          <a:xfrm rot="0">
            <a:off x="6704086" y="4491238"/>
            <a:ext cx="4696949" cy="893045"/>
            <a:chOff x="0" y="0"/>
            <a:chExt cx="6262599" cy="1190727"/>
          </a:xfrm>
        </p:grpSpPr>
        <p:sp>
          <p:nvSpPr>
            <p:cNvPr name="Freeform 46" id="46"/>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F1829"/>
            </a:solidFill>
            <a:ln w="15225" cap="sq">
              <a:solidFill>
                <a:srgbClr val="1A2540"/>
              </a:solidFill>
              <a:prstDash val="solid"/>
              <a:miter/>
            </a:ln>
          </p:spPr>
        </p:sp>
      </p:grpSp>
      <p:grpSp>
        <p:nvGrpSpPr>
          <p:cNvPr name="Group 47" id="47"/>
          <p:cNvGrpSpPr/>
          <p:nvPr/>
        </p:nvGrpSpPr>
        <p:grpSpPr>
          <a:xfrm rot="0">
            <a:off x="6821424" y="4572000"/>
            <a:ext cx="4462272" cy="731520"/>
            <a:chOff x="0" y="0"/>
            <a:chExt cx="5949696" cy="975360"/>
          </a:xfrm>
        </p:grpSpPr>
        <p:sp>
          <p:nvSpPr>
            <p:cNvPr name="Freeform 48" id="48"/>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49" id="49"/>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94A3B8"/>
                  </a:solidFill>
                  <a:latin typeface="Calibri (MS)"/>
                  <a:ea typeface="Calibri (MS)"/>
                  <a:cs typeface="Calibri (MS)"/>
                  <a:sym typeface="Calibri (MS)"/>
                </a:rPr>
                <a:t>✕  No content-type specialization</a:t>
              </a:r>
            </a:p>
          </p:txBody>
        </p:sp>
      </p:grpSp>
      <p:grpSp>
        <p:nvGrpSpPr>
          <p:cNvPr name="Group 50" id="50"/>
          <p:cNvGrpSpPr/>
          <p:nvPr/>
        </p:nvGrpSpPr>
        <p:grpSpPr>
          <a:xfrm rot="0">
            <a:off x="6704086" y="5551942"/>
            <a:ext cx="4696949" cy="893045"/>
            <a:chOff x="0" y="0"/>
            <a:chExt cx="6262599" cy="1190727"/>
          </a:xfrm>
        </p:grpSpPr>
        <p:sp>
          <p:nvSpPr>
            <p:cNvPr name="Freeform 51" id="51"/>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F1829"/>
            </a:solidFill>
            <a:ln w="15225" cap="sq">
              <a:solidFill>
                <a:srgbClr val="1A2540"/>
              </a:solidFill>
              <a:prstDash val="solid"/>
              <a:miter/>
            </a:ln>
          </p:spPr>
        </p:sp>
      </p:grpSp>
      <p:grpSp>
        <p:nvGrpSpPr>
          <p:cNvPr name="Group 52" id="52"/>
          <p:cNvGrpSpPr/>
          <p:nvPr/>
        </p:nvGrpSpPr>
        <p:grpSpPr>
          <a:xfrm rot="0">
            <a:off x="6821424" y="5632704"/>
            <a:ext cx="4462272" cy="731520"/>
            <a:chOff x="0" y="0"/>
            <a:chExt cx="5949696" cy="975360"/>
          </a:xfrm>
        </p:grpSpPr>
        <p:sp>
          <p:nvSpPr>
            <p:cNvPr name="Freeform 53" id="53"/>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54" id="54"/>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94A3B8"/>
                  </a:solidFill>
                  <a:latin typeface="Calibri (MS)"/>
                  <a:ea typeface="Calibri (MS)"/>
                  <a:cs typeface="Calibri (MS)"/>
                  <a:sym typeface="Calibri (MS)"/>
                </a:rPr>
                <a:t>✕  Lacks fine-tuned domain focus</a:t>
              </a:r>
            </a:p>
          </p:txBody>
        </p:sp>
      </p:grpSp>
      <p:grpSp>
        <p:nvGrpSpPr>
          <p:cNvPr name="Group 55" id="55"/>
          <p:cNvGrpSpPr/>
          <p:nvPr/>
        </p:nvGrpSpPr>
        <p:grpSpPr>
          <a:xfrm rot="0">
            <a:off x="6704086" y="6612646"/>
            <a:ext cx="4696949" cy="893045"/>
            <a:chOff x="0" y="0"/>
            <a:chExt cx="6262599" cy="1190727"/>
          </a:xfrm>
        </p:grpSpPr>
        <p:sp>
          <p:nvSpPr>
            <p:cNvPr name="Freeform 56" id="56"/>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F1829"/>
            </a:solidFill>
            <a:ln w="15225" cap="sq">
              <a:solidFill>
                <a:srgbClr val="1A2540"/>
              </a:solidFill>
              <a:prstDash val="solid"/>
              <a:miter/>
            </a:ln>
          </p:spPr>
        </p:sp>
      </p:grpSp>
      <p:grpSp>
        <p:nvGrpSpPr>
          <p:cNvPr name="Group 57" id="57"/>
          <p:cNvGrpSpPr/>
          <p:nvPr/>
        </p:nvGrpSpPr>
        <p:grpSpPr>
          <a:xfrm rot="0">
            <a:off x="6821424" y="6693408"/>
            <a:ext cx="4462272" cy="731520"/>
            <a:chOff x="0" y="0"/>
            <a:chExt cx="5949696" cy="975360"/>
          </a:xfrm>
        </p:grpSpPr>
        <p:sp>
          <p:nvSpPr>
            <p:cNvPr name="Freeform 58" id="58"/>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59" id="59"/>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94A3B8"/>
                  </a:solidFill>
                  <a:latin typeface="Calibri (MS)"/>
                  <a:ea typeface="Calibri (MS)"/>
                  <a:cs typeface="Calibri (MS)"/>
                  <a:sym typeface="Calibri (MS)"/>
                </a:rPr>
                <a:t>✕  Generic</a:t>
              </a:r>
            </a:p>
          </p:txBody>
        </p:sp>
      </p:grpSp>
      <p:grpSp>
        <p:nvGrpSpPr>
          <p:cNvPr name="Group 60" id="60"/>
          <p:cNvGrpSpPr/>
          <p:nvPr/>
        </p:nvGrpSpPr>
        <p:grpSpPr>
          <a:xfrm rot="0">
            <a:off x="12238672" y="2363152"/>
            <a:ext cx="5149215" cy="6246495"/>
            <a:chOff x="0" y="0"/>
            <a:chExt cx="6865620" cy="8328660"/>
          </a:xfrm>
        </p:grpSpPr>
        <p:sp>
          <p:nvSpPr>
            <p:cNvPr name="Freeform 61" id="61"/>
            <p:cNvSpPr/>
            <p:nvPr/>
          </p:nvSpPr>
          <p:spPr>
            <a:xfrm flipH="false" flipV="false" rot="0">
              <a:off x="0" y="0"/>
              <a:ext cx="6865620" cy="8328660"/>
            </a:xfrm>
            <a:custGeom>
              <a:avLst/>
              <a:gdLst/>
              <a:ahLst/>
              <a:cxnLst/>
              <a:rect r="r" b="b" t="t" l="l"/>
              <a:pathLst>
                <a:path h="8328660" w="6865620">
                  <a:moveTo>
                    <a:pt x="0" y="294259"/>
                  </a:moveTo>
                  <a:cubicBezTo>
                    <a:pt x="0" y="131699"/>
                    <a:pt x="131699" y="0"/>
                    <a:pt x="294259" y="0"/>
                  </a:cubicBezTo>
                  <a:lnTo>
                    <a:pt x="6571361" y="0"/>
                  </a:lnTo>
                  <a:cubicBezTo>
                    <a:pt x="6733921" y="0"/>
                    <a:pt x="6865620" y="131699"/>
                    <a:pt x="6865620" y="294259"/>
                  </a:cubicBezTo>
                  <a:lnTo>
                    <a:pt x="6865620" y="8034401"/>
                  </a:lnTo>
                  <a:cubicBezTo>
                    <a:pt x="6865620" y="8196961"/>
                    <a:pt x="6733921" y="8328660"/>
                    <a:pt x="6571361" y="8328660"/>
                  </a:cubicBezTo>
                  <a:lnTo>
                    <a:pt x="294259" y="8328660"/>
                  </a:lnTo>
                  <a:cubicBezTo>
                    <a:pt x="131699" y="8328660"/>
                    <a:pt x="0" y="8196961"/>
                    <a:pt x="0" y="8034401"/>
                  </a:cubicBezTo>
                  <a:close/>
                </a:path>
              </a:pathLst>
            </a:custGeom>
            <a:solidFill>
              <a:srgbClr val="0A2518"/>
            </a:solidFill>
            <a:ln w="28575" cap="sq">
              <a:solidFill>
                <a:srgbClr val="10B981"/>
              </a:solidFill>
              <a:prstDash val="solid"/>
              <a:miter/>
            </a:ln>
          </p:spPr>
        </p:sp>
      </p:grpSp>
      <p:grpSp>
        <p:nvGrpSpPr>
          <p:cNvPr name="Group 62" id="62"/>
          <p:cNvGrpSpPr/>
          <p:nvPr/>
        </p:nvGrpSpPr>
        <p:grpSpPr>
          <a:xfrm rot="0">
            <a:off x="12527280" y="2596896"/>
            <a:ext cx="4572000" cy="694944"/>
            <a:chOff x="0" y="0"/>
            <a:chExt cx="6096000" cy="926592"/>
          </a:xfrm>
        </p:grpSpPr>
        <p:sp>
          <p:nvSpPr>
            <p:cNvPr name="Freeform 63" id="63"/>
            <p:cNvSpPr/>
            <p:nvPr/>
          </p:nvSpPr>
          <p:spPr>
            <a:xfrm flipH="false" flipV="false" rot="0">
              <a:off x="0" y="0"/>
              <a:ext cx="6096000" cy="926592"/>
            </a:xfrm>
            <a:custGeom>
              <a:avLst/>
              <a:gdLst/>
              <a:ahLst/>
              <a:cxnLst/>
              <a:rect r="r" b="b" t="t" l="l"/>
              <a:pathLst>
                <a:path h="926592" w="6096000">
                  <a:moveTo>
                    <a:pt x="0" y="0"/>
                  </a:moveTo>
                  <a:lnTo>
                    <a:pt x="6096000" y="0"/>
                  </a:lnTo>
                  <a:lnTo>
                    <a:pt x="6096000" y="926592"/>
                  </a:lnTo>
                  <a:lnTo>
                    <a:pt x="0" y="926592"/>
                  </a:lnTo>
                  <a:close/>
                </a:path>
              </a:pathLst>
            </a:custGeom>
            <a:blipFill>
              <a:blip r:embed="rId3">
                <a:alphaModFix amt="0"/>
              </a:blip>
              <a:stretch>
                <a:fillRect l="0" t="-78191" r="0" b="-78191"/>
              </a:stretch>
            </a:blipFill>
          </p:spPr>
        </p:sp>
        <p:sp>
          <p:nvSpPr>
            <p:cNvPr name="TextBox 64" id="64"/>
            <p:cNvSpPr txBox="true"/>
            <p:nvPr/>
          </p:nvSpPr>
          <p:spPr>
            <a:xfrm>
              <a:off x="0" y="-47625"/>
              <a:ext cx="6096000" cy="974217"/>
            </a:xfrm>
            <a:prstGeom prst="rect">
              <a:avLst/>
            </a:prstGeom>
          </p:spPr>
          <p:txBody>
            <a:bodyPr anchor="ctr" rtlCol="false" tIns="0" lIns="0" bIns="0" rIns="0"/>
            <a:lstStyle/>
            <a:p>
              <a:pPr algn="ctr">
                <a:lnSpc>
                  <a:spcPts val="3360"/>
                </a:lnSpc>
              </a:pPr>
              <a:r>
                <a:rPr lang="en-US" sz="2800" b="true">
                  <a:solidFill>
                    <a:srgbClr val="10B981"/>
                  </a:solidFill>
                  <a:latin typeface="Calibri (MS) Bold"/>
                  <a:ea typeface="Calibri (MS) Bold"/>
                  <a:cs typeface="Calibri (MS) Bold"/>
                  <a:sym typeface="Calibri (MS) Bold"/>
                </a:rPr>
                <a:t>Lexora AI </a:t>
              </a:r>
            </a:p>
          </p:txBody>
        </p:sp>
      </p:grpSp>
      <p:grpSp>
        <p:nvGrpSpPr>
          <p:cNvPr name="Group 65" id="65"/>
          <p:cNvGrpSpPr/>
          <p:nvPr/>
        </p:nvGrpSpPr>
        <p:grpSpPr>
          <a:xfrm rot="0">
            <a:off x="12464806" y="3430534"/>
            <a:ext cx="4696949" cy="893045"/>
            <a:chOff x="0" y="0"/>
            <a:chExt cx="6262599" cy="1190727"/>
          </a:xfrm>
        </p:grpSpPr>
        <p:sp>
          <p:nvSpPr>
            <p:cNvPr name="Freeform 66" id="66"/>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D2E1C"/>
            </a:solidFill>
            <a:ln w="15225" cap="sq">
              <a:solidFill>
                <a:srgbClr val="1A4A2C"/>
              </a:solidFill>
              <a:prstDash val="solid"/>
              <a:miter/>
            </a:ln>
          </p:spPr>
        </p:sp>
      </p:grpSp>
      <p:grpSp>
        <p:nvGrpSpPr>
          <p:cNvPr name="Group 67" id="67"/>
          <p:cNvGrpSpPr/>
          <p:nvPr/>
        </p:nvGrpSpPr>
        <p:grpSpPr>
          <a:xfrm rot="0">
            <a:off x="12582144" y="3511296"/>
            <a:ext cx="4462272" cy="731520"/>
            <a:chOff x="0" y="0"/>
            <a:chExt cx="5949696" cy="975360"/>
          </a:xfrm>
        </p:grpSpPr>
        <p:sp>
          <p:nvSpPr>
            <p:cNvPr name="Freeform 68" id="68"/>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69" id="69"/>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10B981"/>
                  </a:solidFill>
                  <a:latin typeface="Calibri (MS)"/>
                  <a:ea typeface="Calibri (MS)"/>
                  <a:cs typeface="Calibri (MS)"/>
                  <a:sym typeface="Calibri (MS)"/>
                </a:rPr>
                <a:t>✓  Unified multi-format platform</a:t>
              </a:r>
            </a:p>
          </p:txBody>
        </p:sp>
      </p:grpSp>
      <p:grpSp>
        <p:nvGrpSpPr>
          <p:cNvPr name="Group 70" id="70"/>
          <p:cNvGrpSpPr/>
          <p:nvPr/>
        </p:nvGrpSpPr>
        <p:grpSpPr>
          <a:xfrm rot="0">
            <a:off x="12464806" y="4491238"/>
            <a:ext cx="4696949" cy="893045"/>
            <a:chOff x="0" y="0"/>
            <a:chExt cx="6262599" cy="1190727"/>
          </a:xfrm>
        </p:grpSpPr>
        <p:sp>
          <p:nvSpPr>
            <p:cNvPr name="Freeform 71" id="71"/>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D2E1C"/>
            </a:solidFill>
            <a:ln w="15225" cap="sq">
              <a:solidFill>
                <a:srgbClr val="1A4A2C"/>
              </a:solidFill>
              <a:prstDash val="solid"/>
              <a:miter/>
            </a:ln>
          </p:spPr>
        </p:sp>
      </p:grpSp>
      <p:grpSp>
        <p:nvGrpSpPr>
          <p:cNvPr name="Group 72" id="72"/>
          <p:cNvGrpSpPr/>
          <p:nvPr/>
        </p:nvGrpSpPr>
        <p:grpSpPr>
          <a:xfrm rot="0">
            <a:off x="12582144" y="4572000"/>
            <a:ext cx="4462272" cy="731520"/>
            <a:chOff x="0" y="0"/>
            <a:chExt cx="5949696" cy="975360"/>
          </a:xfrm>
        </p:grpSpPr>
        <p:sp>
          <p:nvSpPr>
            <p:cNvPr name="Freeform 73" id="73"/>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74" id="74"/>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10B981"/>
                  </a:solidFill>
                  <a:latin typeface="Calibri (MS)"/>
                  <a:ea typeface="Calibri (MS)"/>
                  <a:cs typeface="Calibri (MS)"/>
                  <a:sym typeface="Calibri (MS)"/>
                </a:rPr>
                <a:t>✓  Domain-specific Phi-3 fine-tuning</a:t>
              </a:r>
            </a:p>
          </p:txBody>
        </p:sp>
      </p:grpSp>
      <p:grpSp>
        <p:nvGrpSpPr>
          <p:cNvPr name="Group 75" id="75"/>
          <p:cNvGrpSpPr/>
          <p:nvPr/>
        </p:nvGrpSpPr>
        <p:grpSpPr>
          <a:xfrm rot="0">
            <a:off x="12464806" y="5551942"/>
            <a:ext cx="4696949" cy="893045"/>
            <a:chOff x="0" y="0"/>
            <a:chExt cx="6262599" cy="1190727"/>
          </a:xfrm>
        </p:grpSpPr>
        <p:sp>
          <p:nvSpPr>
            <p:cNvPr name="Freeform 76" id="76"/>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D2E1C"/>
            </a:solidFill>
            <a:ln w="15225" cap="sq">
              <a:solidFill>
                <a:srgbClr val="1A4A2C"/>
              </a:solidFill>
              <a:prstDash val="solid"/>
              <a:miter/>
            </a:ln>
          </p:spPr>
        </p:sp>
      </p:grpSp>
      <p:grpSp>
        <p:nvGrpSpPr>
          <p:cNvPr name="Group 77" id="77"/>
          <p:cNvGrpSpPr/>
          <p:nvPr/>
        </p:nvGrpSpPr>
        <p:grpSpPr>
          <a:xfrm rot="0">
            <a:off x="12582144" y="5632704"/>
            <a:ext cx="4462272" cy="731520"/>
            <a:chOff x="0" y="0"/>
            <a:chExt cx="5949696" cy="975360"/>
          </a:xfrm>
        </p:grpSpPr>
        <p:sp>
          <p:nvSpPr>
            <p:cNvPr name="Freeform 78" id="78"/>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79" id="79"/>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10B981"/>
                  </a:solidFill>
                  <a:latin typeface="Calibri (MS)"/>
                  <a:ea typeface="Calibri (MS)"/>
                  <a:cs typeface="Calibri (MS)"/>
                  <a:sym typeface="Calibri (MS)"/>
                </a:rPr>
                <a:t>✓  3 curated specialized datasets</a:t>
              </a:r>
            </a:p>
          </p:txBody>
        </p:sp>
      </p:grpSp>
      <p:grpSp>
        <p:nvGrpSpPr>
          <p:cNvPr name="Group 80" id="80"/>
          <p:cNvGrpSpPr/>
          <p:nvPr/>
        </p:nvGrpSpPr>
        <p:grpSpPr>
          <a:xfrm rot="0">
            <a:off x="12464806" y="6612646"/>
            <a:ext cx="4696949" cy="893045"/>
            <a:chOff x="0" y="0"/>
            <a:chExt cx="6262599" cy="1190727"/>
          </a:xfrm>
        </p:grpSpPr>
        <p:sp>
          <p:nvSpPr>
            <p:cNvPr name="Freeform 81" id="81"/>
            <p:cNvSpPr/>
            <p:nvPr/>
          </p:nvSpPr>
          <p:spPr>
            <a:xfrm flipH="false" flipV="false" rot="0">
              <a:off x="0" y="0"/>
              <a:ext cx="6262624" cy="1190752"/>
            </a:xfrm>
            <a:custGeom>
              <a:avLst/>
              <a:gdLst/>
              <a:ahLst/>
              <a:cxnLst/>
              <a:rect r="r" b="b" t="t" l="l"/>
              <a:pathLst>
                <a:path h="1190752" w="6262624">
                  <a:moveTo>
                    <a:pt x="0" y="173609"/>
                  </a:moveTo>
                  <a:cubicBezTo>
                    <a:pt x="0" y="77724"/>
                    <a:pt x="77724" y="0"/>
                    <a:pt x="173609" y="0"/>
                  </a:cubicBezTo>
                  <a:lnTo>
                    <a:pt x="6089015" y="0"/>
                  </a:lnTo>
                  <a:cubicBezTo>
                    <a:pt x="6184900" y="0"/>
                    <a:pt x="6262624" y="77724"/>
                    <a:pt x="6262624" y="173609"/>
                  </a:cubicBezTo>
                  <a:lnTo>
                    <a:pt x="6262624" y="1017143"/>
                  </a:lnTo>
                  <a:cubicBezTo>
                    <a:pt x="6262624" y="1113028"/>
                    <a:pt x="6184900" y="1190752"/>
                    <a:pt x="6089015" y="1190752"/>
                  </a:cubicBezTo>
                  <a:lnTo>
                    <a:pt x="173609" y="1190752"/>
                  </a:lnTo>
                  <a:cubicBezTo>
                    <a:pt x="77724" y="1190752"/>
                    <a:pt x="0" y="1113028"/>
                    <a:pt x="0" y="1017143"/>
                  </a:cubicBezTo>
                  <a:close/>
                </a:path>
              </a:pathLst>
            </a:custGeom>
            <a:solidFill>
              <a:srgbClr val="0D2E1C"/>
            </a:solidFill>
            <a:ln w="15225" cap="sq">
              <a:solidFill>
                <a:srgbClr val="1A4A2C"/>
              </a:solidFill>
              <a:prstDash val="solid"/>
              <a:miter/>
            </a:ln>
          </p:spPr>
        </p:sp>
      </p:grpSp>
      <p:grpSp>
        <p:nvGrpSpPr>
          <p:cNvPr name="Group 82" id="82"/>
          <p:cNvGrpSpPr/>
          <p:nvPr/>
        </p:nvGrpSpPr>
        <p:grpSpPr>
          <a:xfrm rot="0">
            <a:off x="12582144" y="6693408"/>
            <a:ext cx="4462272" cy="731520"/>
            <a:chOff x="0" y="0"/>
            <a:chExt cx="5949696" cy="975360"/>
          </a:xfrm>
        </p:grpSpPr>
        <p:sp>
          <p:nvSpPr>
            <p:cNvPr name="Freeform 83" id="83"/>
            <p:cNvSpPr/>
            <p:nvPr/>
          </p:nvSpPr>
          <p:spPr>
            <a:xfrm flipH="false" flipV="false" rot="0">
              <a:off x="0" y="0"/>
              <a:ext cx="5949696" cy="975360"/>
            </a:xfrm>
            <a:custGeom>
              <a:avLst/>
              <a:gdLst/>
              <a:ahLst/>
              <a:cxnLst/>
              <a:rect r="r" b="b" t="t" l="l"/>
              <a:pathLst>
                <a:path h="975360" w="5949696">
                  <a:moveTo>
                    <a:pt x="0" y="0"/>
                  </a:moveTo>
                  <a:lnTo>
                    <a:pt x="5949696" y="0"/>
                  </a:lnTo>
                  <a:lnTo>
                    <a:pt x="5949696" y="975360"/>
                  </a:lnTo>
                  <a:lnTo>
                    <a:pt x="0" y="975360"/>
                  </a:lnTo>
                  <a:close/>
                </a:path>
              </a:pathLst>
            </a:custGeom>
            <a:blipFill>
              <a:blip r:embed="rId3">
                <a:alphaModFix amt="0"/>
              </a:blip>
              <a:stretch>
                <a:fillRect l="0" t="-68858" r="0" b="-68858"/>
              </a:stretch>
            </a:blipFill>
          </p:spPr>
        </p:sp>
        <p:sp>
          <p:nvSpPr>
            <p:cNvPr name="TextBox 84" id="84"/>
            <p:cNvSpPr txBox="true"/>
            <p:nvPr/>
          </p:nvSpPr>
          <p:spPr>
            <a:xfrm>
              <a:off x="0" y="-47625"/>
              <a:ext cx="5949696" cy="1022985"/>
            </a:xfrm>
            <a:prstGeom prst="rect">
              <a:avLst/>
            </a:prstGeom>
          </p:spPr>
          <p:txBody>
            <a:bodyPr anchor="ctr" rtlCol="false" tIns="0" lIns="0" bIns="0" rIns="0"/>
            <a:lstStyle/>
            <a:p>
              <a:pPr algn="l">
                <a:lnSpc>
                  <a:spcPts val="2640"/>
                </a:lnSpc>
              </a:pPr>
              <a:r>
                <a:rPr lang="en-US" sz="2200">
                  <a:solidFill>
                    <a:srgbClr val="10B981"/>
                  </a:solidFill>
                  <a:latin typeface="Calibri (MS)"/>
                  <a:ea typeface="Calibri (MS)"/>
                  <a:cs typeface="Calibri (MS)"/>
                  <a:sym typeface="Calibri (MS)"/>
                </a:rPr>
                <a:t>✓  Self-hosted, low inference cost</a:t>
              </a:r>
            </a:p>
          </p:txBody>
        </p:sp>
      </p:grpSp>
      <p:grpSp>
        <p:nvGrpSpPr>
          <p:cNvPr name="Group 85" id="85"/>
          <p:cNvGrpSpPr/>
          <p:nvPr/>
        </p:nvGrpSpPr>
        <p:grpSpPr>
          <a:xfrm rot="0">
            <a:off x="731520" y="8997696"/>
            <a:ext cx="16824960" cy="548640"/>
            <a:chOff x="0" y="0"/>
            <a:chExt cx="22433280" cy="731520"/>
          </a:xfrm>
        </p:grpSpPr>
        <p:sp>
          <p:nvSpPr>
            <p:cNvPr name="Freeform 86" id="86"/>
            <p:cNvSpPr/>
            <p:nvPr/>
          </p:nvSpPr>
          <p:spPr>
            <a:xfrm flipH="false" flipV="false" rot="0">
              <a:off x="0" y="0"/>
              <a:ext cx="22433280" cy="731520"/>
            </a:xfrm>
            <a:custGeom>
              <a:avLst/>
              <a:gdLst/>
              <a:ahLst/>
              <a:cxnLst/>
              <a:rect r="r" b="b" t="t" l="l"/>
              <a:pathLst>
                <a:path h="731520" w="22433280">
                  <a:moveTo>
                    <a:pt x="0" y="0"/>
                  </a:moveTo>
                  <a:lnTo>
                    <a:pt x="22433280" y="0"/>
                  </a:lnTo>
                  <a:lnTo>
                    <a:pt x="22433280" y="731520"/>
                  </a:lnTo>
                  <a:lnTo>
                    <a:pt x="0" y="731520"/>
                  </a:lnTo>
                  <a:close/>
                </a:path>
              </a:pathLst>
            </a:custGeom>
            <a:blipFill>
              <a:blip r:embed="rId3">
                <a:alphaModFix amt="0"/>
              </a:blip>
              <a:stretch>
                <a:fillRect l="0" t="-547541" r="0" b="-547541"/>
              </a:stretch>
            </a:blipFill>
          </p:spPr>
        </p:sp>
        <p:sp>
          <p:nvSpPr>
            <p:cNvPr name="TextBox 87" id="87"/>
            <p:cNvSpPr txBox="true"/>
            <p:nvPr/>
          </p:nvSpPr>
          <p:spPr>
            <a:xfrm>
              <a:off x="0" y="-47625"/>
              <a:ext cx="22433280" cy="779145"/>
            </a:xfrm>
            <a:prstGeom prst="rect">
              <a:avLst/>
            </a:prstGeom>
          </p:spPr>
          <p:txBody>
            <a:bodyPr anchor="ctr" rtlCol="false" tIns="0" lIns="0" bIns="0" rIns="0"/>
            <a:lstStyle/>
            <a:p>
              <a:pPr algn="ctr">
                <a:lnSpc>
                  <a:spcPts val="2640"/>
                </a:lnSpc>
              </a:pPr>
              <a:r>
                <a:rPr lang="en-US" sz="2200" i="true">
                  <a:solidFill>
                    <a:srgbClr val="22D3EE"/>
                  </a:solidFill>
                  <a:latin typeface="Calibri (MS) Italics"/>
                  <a:ea typeface="Calibri (MS) Italics"/>
                  <a:cs typeface="Calibri (MS) Italics"/>
                  <a:sym typeface="Calibri (MS) Italics"/>
                </a:rPr>
                <a:t>The market needs a specialized, fine-tuned, multi-AI content platform.</a:t>
              </a:r>
            </a:p>
          </p:txBody>
        </p:sp>
      </p:grpSp>
      <p:grpSp>
        <p:nvGrpSpPr>
          <p:cNvPr name="Group 88" id="88"/>
          <p:cNvGrpSpPr/>
          <p:nvPr/>
        </p:nvGrpSpPr>
        <p:grpSpPr>
          <a:xfrm rot="0">
            <a:off x="-9525" y="9774555"/>
            <a:ext cx="18307050" cy="521970"/>
            <a:chOff x="0" y="0"/>
            <a:chExt cx="24409400" cy="695960"/>
          </a:xfrm>
        </p:grpSpPr>
        <p:sp>
          <p:nvSpPr>
            <p:cNvPr name="Freeform 89" id="89"/>
            <p:cNvSpPr/>
            <p:nvPr/>
          </p:nvSpPr>
          <p:spPr>
            <a:xfrm flipH="false" flipV="false" rot="0">
              <a:off x="0" y="0"/>
              <a:ext cx="24409400" cy="695960"/>
            </a:xfrm>
            <a:custGeom>
              <a:avLst/>
              <a:gdLst/>
              <a:ahLst/>
              <a:cxnLst/>
              <a:rect r="r" b="b" t="t" l="l"/>
              <a:pathLst>
                <a:path h="695960" w="24409400">
                  <a:moveTo>
                    <a:pt x="0" y="0"/>
                  </a:moveTo>
                  <a:lnTo>
                    <a:pt x="24409400" y="0"/>
                  </a:lnTo>
                  <a:lnTo>
                    <a:pt x="24409400" y="695960"/>
                  </a:lnTo>
                  <a:lnTo>
                    <a:pt x="0" y="695960"/>
                  </a:lnTo>
                  <a:close/>
                </a:path>
              </a:pathLst>
            </a:custGeom>
            <a:solidFill>
              <a:srgbClr val="080C17"/>
            </a:solidFill>
            <a:ln w="19050" cap="sq">
              <a:solidFill>
                <a:srgbClr val="080C17"/>
              </a:solidFill>
              <a:prstDash val="solid"/>
              <a:miter/>
            </a:ln>
          </p:spPr>
        </p:sp>
      </p:grpSp>
      <p:grpSp>
        <p:nvGrpSpPr>
          <p:cNvPr name="Group 90" id="90"/>
          <p:cNvGrpSpPr/>
          <p:nvPr/>
        </p:nvGrpSpPr>
        <p:grpSpPr>
          <a:xfrm rot="0">
            <a:off x="548640" y="9802368"/>
            <a:ext cx="9144000" cy="457200"/>
            <a:chOff x="0" y="0"/>
            <a:chExt cx="12192000" cy="609600"/>
          </a:xfrm>
        </p:grpSpPr>
        <p:sp>
          <p:nvSpPr>
            <p:cNvPr name="Freeform 91" id="91"/>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92" id="92"/>
            <p:cNvSpPr txBox="true"/>
            <p:nvPr/>
          </p:nvSpPr>
          <p:spPr>
            <a:xfrm>
              <a:off x="0" y="-38100"/>
              <a:ext cx="12192000" cy="647700"/>
            </a:xfrm>
            <a:prstGeom prst="rect">
              <a:avLst/>
            </a:prstGeom>
          </p:spPr>
          <p:txBody>
            <a:bodyPr anchor="ctr" rtlCol="false" tIns="0" lIns="0" bIns="0" rIns="0"/>
            <a:lstStyle/>
            <a:p>
              <a:pPr algn="l">
                <a:lnSpc>
                  <a:spcPts val="2160"/>
                </a:lnSpc>
              </a:pPr>
              <a:r>
                <a:rPr lang="en-US" sz="1800" b="true">
                  <a:solidFill>
                    <a:srgbClr val="22D3EE"/>
                  </a:solidFill>
                  <a:latin typeface="Calibri (MS) Bold"/>
                  <a:ea typeface="Calibri (MS) Bold"/>
                  <a:cs typeface="Calibri (MS) Bold"/>
                  <a:sym typeface="Calibri (MS) Bold"/>
                </a:rPr>
                <a:t>Generative AI Track 2026</a:t>
              </a:r>
            </a:p>
          </p:txBody>
        </p:sp>
      </p:grpSp>
      <p:grpSp>
        <p:nvGrpSpPr>
          <p:cNvPr name="Group 93" id="93"/>
          <p:cNvGrpSpPr/>
          <p:nvPr/>
        </p:nvGrpSpPr>
        <p:grpSpPr>
          <a:xfrm rot="0">
            <a:off x="7315200" y="9802368"/>
            <a:ext cx="10424160" cy="457200"/>
            <a:chOff x="0" y="0"/>
            <a:chExt cx="13898880" cy="609600"/>
          </a:xfrm>
        </p:grpSpPr>
        <p:sp>
          <p:nvSpPr>
            <p:cNvPr name="Freeform 94" id="94"/>
            <p:cNvSpPr/>
            <p:nvPr/>
          </p:nvSpPr>
          <p:spPr>
            <a:xfrm flipH="false" flipV="false" rot="0">
              <a:off x="0" y="0"/>
              <a:ext cx="13898880" cy="609600"/>
            </a:xfrm>
            <a:custGeom>
              <a:avLst/>
              <a:gdLst/>
              <a:ahLst/>
              <a:cxnLst/>
              <a:rect r="r" b="b" t="t" l="l"/>
              <a:pathLst>
                <a:path h="609600" w="13898880">
                  <a:moveTo>
                    <a:pt x="0" y="0"/>
                  </a:moveTo>
                  <a:lnTo>
                    <a:pt x="13898880" y="0"/>
                  </a:lnTo>
                  <a:lnTo>
                    <a:pt x="13898880" y="609600"/>
                  </a:lnTo>
                  <a:lnTo>
                    <a:pt x="0" y="609600"/>
                  </a:lnTo>
                  <a:close/>
                </a:path>
              </a:pathLst>
            </a:custGeom>
            <a:blipFill>
              <a:blip r:embed="rId3">
                <a:alphaModFix amt="0"/>
              </a:blip>
              <a:stretch>
                <a:fillRect l="0" t="-394258" r="0" b="-394258"/>
              </a:stretch>
            </a:blipFill>
          </p:spPr>
        </p:sp>
        <p:sp>
          <p:nvSpPr>
            <p:cNvPr name="TextBox 95" id="95"/>
            <p:cNvSpPr txBox="true"/>
            <p:nvPr/>
          </p:nvSpPr>
          <p:spPr>
            <a:xfrm>
              <a:off x="0" y="-28575"/>
              <a:ext cx="13898880" cy="638175"/>
            </a:xfrm>
            <a:prstGeom prst="rect">
              <a:avLst/>
            </a:prstGeom>
          </p:spPr>
          <p:txBody>
            <a:bodyPr anchor="ctr" rtlCol="false" tIns="0" lIns="0" bIns="0" rIns="0"/>
            <a:lstStyle/>
            <a:p>
              <a:pPr algn="r">
                <a:lnSpc>
                  <a:spcPts val="1920"/>
                </a:lnSpc>
              </a:pPr>
              <a:r>
                <a:rPr lang="en-US" sz="1600">
                  <a:solidFill>
                    <a:srgbClr val="64748B"/>
                  </a:solidFill>
                  <a:latin typeface="Calibri (MS)"/>
                  <a:ea typeface="Calibri (MS)"/>
                  <a:cs typeface="Calibri (MS)"/>
                  <a:sym typeface="Calibri (MS)"/>
                </a:rPr>
                <a:t>Farha Mostafa  ·  Ahmed Alsayed  ·  Ahmed Mohamed  ·  Ahmed Amir  ·  Arwa Alaa</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2 · GOAL</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Project Objective</a:t>
              </a:r>
            </a:p>
          </p:txBody>
        </p:sp>
      </p:grpSp>
      <p:grpSp>
        <p:nvGrpSpPr>
          <p:cNvPr name="Group 8" id="8"/>
          <p:cNvGrpSpPr/>
          <p:nvPr/>
        </p:nvGrpSpPr>
        <p:grpSpPr>
          <a:xfrm rot="0">
            <a:off x="960120" y="2125980"/>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6213E"/>
            </a:solidFill>
          </p:spPr>
        </p:sp>
      </p:grpSp>
      <p:grpSp>
        <p:nvGrpSpPr>
          <p:cNvPr name="Group 10" id="10"/>
          <p:cNvGrpSpPr/>
          <p:nvPr/>
        </p:nvGrpSpPr>
        <p:grpSpPr>
          <a:xfrm rot="0">
            <a:off x="1062171" y="2228031"/>
            <a:ext cx="646300" cy="646300"/>
            <a:chOff x="0" y="0"/>
            <a:chExt cx="861733" cy="861733"/>
          </a:xfrm>
        </p:grpSpPr>
        <p:sp>
          <p:nvSpPr>
            <p:cNvPr name="Freeform 11" id="11" descr="/home/claude/pptx/icons/objective.png"/>
            <p:cNvSpPr/>
            <p:nvPr/>
          </p:nvSpPr>
          <p:spPr>
            <a:xfrm flipH="false" flipV="false" rot="0">
              <a:off x="0" y="0"/>
              <a:ext cx="861695" cy="861695"/>
            </a:xfrm>
            <a:custGeom>
              <a:avLst/>
              <a:gdLst/>
              <a:ahLst/>
              <a:cxnLst/>
              <a:rect r="r" b="b" t="t" l="l"/>
              <a:pathLst>
                <a:path h="861695" w="861695">
                  <a:moveTo>
                    <a:pt x="0" y="0"/>
                  </a:moveTo>
                  <a:lnTo>
                    <a:pt x="861695" y="0"/>
                  </a:lnTo>
                  <a:lnTo>
                    <a:pt x="861695" y="861695"/>
                  </a:lnTo>
                  <a:lnTo>
                    <a:pt x="0" y="861695"/>
                  </a:lnTo>
                  <a:lnTo>
                    <a:pt x="0" y="0"/>
                  </a:lnTo>
                  <a:close/>
                </a:path>
              </a:pathLst>
            </a:custGeom>
            <a:blipFill>
              <a:blip r:embed="rId4"/>
              <a:stretch>
                <a:fillRect l="0" t="0" r="-4" b="-4"/>
              </a:stretch>
            </a:blipFill>
          </p:spPr>
        </p:sp>
      </p:grpSp>
      <p:grpSp>
        <p:nvGrpSpPr>
          <p:cNvPr name="Group 12" id="12"/>
          <p:cNvGrpSpPr/>
          <p:nvPr/>
        </p:nvGrpSpPr>
        <p:grpSpPr>
          <a:xfrm rot="0">
            <a:off x="2125980" y="2057400"/>
            <a:ext cx="14538960" cy="1028700"/>
            <a:chOff x="0" y="0"/>
            <a:chExt cx="19385280" cy="1371600"/>
          </a:xfrm>
        </p:grpSpPr>
        <p:sp>
          <p:nvSpPr>
            <p:cNvPr name="Freeform 13" id="13"/>
            <p:cNvSpPr/>
            <p:nvPr/>
          </p:nvSpPr>
          <p:spPr>
            <a:xfrm flipH="false" flipV="false" rot="0">
              <a:off x="0" y="0"/>
              <a:ext cx="19385280" cy="1371600"/>
            </a:xfrm>
            <a:custGeom>
              <a:avLst/>
              <a:gdLst/>
              <a:ahLst/>
              <a:cxnLst/>
              <a:rect r="r" b="b" t="t" l="l"/>
              <a:pathLst>
                <a:path h="1371600" w="19385280">
                  <a:moveTo>
                    <a:pt x="0" y="0"/>
                  </a:moveTo>
                  <a:lnTo>
                    <a:pt x="19385280" y="0"/>
                  </a:lnTo>
                  <a:lnTo>
                    <a:pt x="19385280" y="1371600"/>
                  </a:lnTo>
                  <a:lnTo>
                    <a:pt x="0" y="1371600"/>
                  </a:lnTo>
                  <a:close/>
                </a:path>
              </a:pathLst>
            </a:custGeom>
            <a:blipFill>
              <a:blip r:embed="rId3">
                <a:alphaModFix amt="0"/>
              </a:blip>
              <a:stretch>
                <a:fillRect l="0" t="-225388" r="0" b="-225388"/>
              </a:stretch>
            </a:blipFill>
          </p:spPr>
        </p:sp>
        <p:sp>
          <p:nvSpPr>
            <p:cNvPr name="TextBox 14" id="14"/>
            <p:cNvSpPr txBox="true"/>
            <p:nvPr/>
          </p:nvSpPr>
          <p:spPr>
            <a:xfrm>
              <a:off x="0" y="-47625"/>
              <a:ext cx="19385280" cy="1419225"/>
            </a:xfrm>
            <a:prstGeom prst="rect">
              <a:avLst/>
            </a:prstGeom>
          </p:spPr>
          <p:txBody>
            <a:bodyPr anchor="ctr" rtlCol="false" tIns="0" lIns="0" bIns="0" rIns="0"/>
            <a:lstStyle/>
            <a:p>
              <a:pPr algn="l">
                <a:lnSpc>
                  <a:spcPts val="2790"/>
                </a:lnSpc>
              </a:pPr>
              <a:r>
                <a:rPr lang="en-US" sz="2325">
                  <a:solidFill>
                    <a:srgbClr val="17213B"/>
                  </a:solidFill>
                  <a:latin typeface="Calibri (MS)"/>
                  <a:ea typeface="Calibri (MS)"/>
                  <a:cs typeface="Calibri (MS)"/>
                  <a:sym typeface="Calibri (MS)"/>
                </a:rPr>
                <a:t>Build an automated content generation system that turns a topic into a finished, platform-ready draft.</a:t>
              </a:r>
            </a:p>
          </p:txBody>
        </p:sp>
      </p:grpSp>
      <p:grpSp>
        <p:nvGrpSpPr>
          <p:cNvPr name="Group 15" id="15"/>
          <p:cNvGrpSpPr/>
          <p:nvPr/>
        </p:nvGrpSpPr>
        <p:grpSpPr>
          <a:xfrm rot="0">
            <a:off x="960120" y="3525012"/>
            <a:ext cx="850392" cy="850392"/>
            <a:chOff x="0" y="0"/>
            <a:chExt cx="1133856" cy="1133856"/>
          </a:xfrm>
        </p:grpSpPr>
        <p:sp>
          <p:nvSpPr>
            <p:cNvPr name="Freeform 16" id="16"/>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6213E"/>
            </a:solidFill>
          </p:spPr>
        </p:sp>
      </p:grpSp>
      <p:grpSp>
        <p:nvGrpSpPr>
          <p:cNvPr name="Group 17" id="17"/>
          <p:cNvGrpSpPr/>
          <p:nvPr/>
        </p:nvGrpSpPr>
        <p:grpSpPr>
          <a:xfrm rot="0">
            <a:off x="1062171" y="3627063"/>
            <a:ext cx="646300" cy="646300"/>
            <a:chOff x="0" y="0"/>
            <a:chExt cx="861733" cy="861733"/>
          </a:xfrm>
        </p:grpSpPr>
        <p:sp>
          <p:nvSpPr>
            <p:cNvPr name="Freeform 18" id="18" descr="/home/claude/pptx/icons/api.png"/>
            <p:cNvSpPr/>
            <p:nvPr/>
          </p:nvSpPr>
          <p:spPr>
            <a:xfrm flipH="false" flipV="false" rot="0">
              <a:off x="0" y="0"/>
              <a:ext cx="861695" cy="861695"/>
            </a:xfrm>
            <a:custGeom>
              <a:avLst/>
              <a:gdLst/>
              <a:ahLst/>
              <a:cxnLst/>
              <a:rect r="r" b="b" t="t" l="l"/>
              <a:pathLst>
                <a:path h="861695" w="861695">
                  <a:moveTo>
                    <a:pt x="0" y="0"/>
                  </a:moveTo>
                  <a:lnTo>
                    <a:pt x="861695" y="0"/>
                  </a:lnTo>
                  <a:lnTo>
                    <a:pt x="861695" y="861695"/>
                  </a:lnTo>
                  <a:lnTo>
                    <a:pt x="0" y="861695"/>
                  </a:lnTo>
                  <a:lnTo>
                    <a:pt x="0" y="0"/>
                  </a:lnTo>
                  <a:close/>
                </a:path>
              </a:pathLst>
            </a:custGeom>
            <a:blipFill>
              <a:blip r:embed="rId5"/>
              <a:stretch>
                <a:fillRect l="0" t="0" r="-4" b="-4"/>
              </a:stretch>
            </a:blipFill>
          </p:spPr>
        </p:sp>
      </p:grpSp>
      <p:grpSp>
        <p:nvGrpSpPr>
          <p:cNvPr name="Group 19" id="19"/>
          <p:cNvGrpSpPr/>
          <p:nvPr/>
        </p:nvGrpSpPr>
        <p:grpSpPr>
          <a:xfrm rot="0">
            <a:off x="2125980" y="3456432"/>
            <a:ext cx="14538960" cy="1028700"/>
            <a:chOff x="0" y="0"/>
            <a:chExt cx="19385280" cy="1371600"/>
          </a:xfrm>
        </p:grpSpPr>
        <p:sp>
          <p:nvSpPr>
            <p:cNvPr name="Freeform 20" id="20"/>
            <p:cNvSpPr/>
            <p:nvPr/>
          </p:nvSpPr>
          <p:spPr>
            <a:xfrm flipH="false" flipV="false" rot="0">
              <a:off x="0" y="0"/>
              <a:ext cx="19385280" cy="1371600"/>
            </a:xfrm>
            <a:custGeom>
              <a:avLst/>
              <a:gdLst/>
              <a:ahLst/>
              <a:cxnLst/>
              <a:rect r="r" b="b" t="t" l="l"/>
              <a:pathLst>
                <a:path h="1371600" w="19385280">
                  <a:moveTo>
                    <a:pt x="0" y="0"/>
                  </a:moveTo>
                  <a:lnTo>
                    <a:pt x="19385280" y="0"/>
                  </a:lnTo>
                  <a:lnTo>
                    <a:pt x="19385280" y="1371600"/>
                  </a:lnTo>
                  <a:lnTo>
                    <a:pt x="0" y="1371600"/>
                  </a:lnTo>
                  <a:close/>
                </a:path>
              </a:pathLst>
            </a:custGeom>
            <a:blipFill>
              <a:blip r:embed="rId3">
                <a:alphaModFix amt="0"/>
              </a:blip>
              <a:stretch>
                <a:fillRect l="0" t="-225388" r="0" b="-225388"/>
              </a:stretch>
            </a:blipFill>
          </p:spPr>
        </p:sp>
        <p:sp>
          <p:nvSpPr>
            <p:cNvPr name="TextBox 21" id="21"/>
            <p:cNvSpPr txBox="true"/>
            <p:nvPr/>
          </p:nvSpPr>
          <p:spPr>
            <a:xfrm>
              <a:off x="0" y="-47625"/>
              <a:ext cx="19385280" cy="1419225"/>
            </a:xfrm>
            <a:prstGeom prst="rect">
              <a:avLst/>
            </a:prstGeom>
          </p:spPr>
          <p:txBody>
            <a:bodyPr anchor="ctr" rtlCol="false" tIns="0" lIns="0" bIns="0" rIns="0"/>
            <a:lstStyle/>
            <a:p>
              <a:pPr algn="l">
                <a:lnSpc>
                  <a:spcPts val="2790"/>
                </a:lnSpc>
              </a:pPr>
              <a:r>
                <a:rPr lang="en-US" sz="2325">
                  <a:solidFill>
                    <a:srgbClr val="17213B"/>
                  </a:solidFill>
                  <a:latin typeface="Calibri (MS)"/>
                  <a:ea typeface="Calibri (MS)"/>
                  <a:cs typeface="Calibri (MS)"/>
                  <a:sym typeface="Calibri (MS)"/>
                </a:rPr>
                <a:t>Accept requests through API, so the system can be integrated into any workflow or tool.</a:t>
              </a:r>
            </a:p>
          </p:txBody>
        </p:sp>
      </p:grpSp>
      <p:grpSp>
        <p:nvGrpSpPr>
          <p:cNvPr name="Group 22" id="22"/>
          <p:cNvGrpSpPr/>
          <p:nvPr/>
        </p:nvGrpSpPr>
        <p:grpSpPr>
          <a:xfrm rot="0">
            <a:off x="960120" y="4924044"/>
            <a:ext cx="850392" cy="850392"/>
            <a:chOff x="0" y="0"/>
            <a:chExt cx="1133856" cy="1133856"/>
          </a:xfrm>
        </p:grpSpPr>
        <p:sp>
          <p:nvSpPr>
            <p:cNvPr name="Freeform 23" id="23"/>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6213E"/>
            </a:solidFill>
          </p:spPr>
        </p:sp>
      </p:grpSp>
      <p:grpSp>
        <p:nvGrpSpPr>
          <p:cNvPr name="Group 24" id="24"/>
          <p:cNvGrpSpPr/>
          <p:nvPr/>
        </p:nvGrpSpPr>
        <p:grpSpPr>
          <a:xfrm rot="0">
            <a:off x="1062171" y="5026095"/>
            <a:ext cx="646300" cy="646300"/>
            <a:chOff x="0" y="0"/>
            <a:chExt cx="861733" cy="861733"/>
          </a:xfrm>
        </p:grpSpPr>
        <p:sp>
          <p:nvSpPr>
            <p:cNvPr name="Freeform 25" id="25" descr="/home/claude/pptx/icons/agents.png"/>
            <p:cNvSpPr/>
            <p:nvPr/>
          </p:nvSpPr>
          <p:spPr>
            <a:xfrm flipH="false" flipV="false" rot="0">
              <a:off x="0" y="0"/>
              <a:ext cx="861695" cy="861695"/>
            </a:xfrm>
            <a:custGeom>
              <a:avLst/>
              <a:gdLst/>
              <a:ahLst/>
              <a:cxnLst/>
              <a:rect r="r" b="b" t="t" l="l"/>
              <a:pathLst>
                <a:path h="861695" w="861695">
                  <a:moveTo>
                    <a:pt x="0" y="0"/>
                  </a:moveTo>
                  <a:lnTo>
                    <a:pt x="861695" y="0"/>
                  </a:lnTo>
                  <a:lnTo>
                    <a:pt x="861695" y="861695"/>
                  </a:lnTo>
                  <a:lnTo>
                    <a:pt x="0" y="861695"/>
                  </a:lnTo>
                  <a:lnTo>
                    <a:pt x="0" y="0"/>
                  </a:lnTo>
                  <a:close/>
                </a:path>
              </a:pathLst>
            </a:custGeom>
            <a:blipFill>
              <a:blip r:embed="rId6"/>
              <a:stretch>
                <a:fillRect l="0" t="0" r="-4" b="-4"/>
              </a:stretch>
            </a:blipFill>
          </p:spPr>
        </p:sp>
      </p:grpSp>
      <p:grpSp>
        <p:nvGrpSpPr>
          <p:cNvPr name="Group 26" id="26"/>
          <p:cNvGrpSpPr/>
          <p:nvPr/>
        </p:nvGrpSpPr>
        <p:grpSpPr>
          <a:xfrm rot="0">
            <a:off x="2125980" y="4855464"/>
            <a:ext cx="14538960" cy="1028700"/>
            <a:chOff x="0" y="0"/>
            <a:chExt cx="19385280" cy="1371600"/>
          </a:xfrm>
        </p:grpSpPr>
        <p:sp>
          <p:nvSpPr>
            <p:cNvPr name="Freeform 27" id="27"/>
            <p:cNvSpPr/>
            <p:nvPr/>
          </p:nvSpPr>
          <p:spPr>
            <a:xfrm flipH="false" flipV="false" rot="0">
              <a:off x="0" y="0"/>
              <a:ext cx="19385280" cy="1371600"/>
            </a:xfrm>
            <a:custGeom>
              <a:avLst/>
              <a:gdLst/>
              <a:ahLst/>
              <a:cxnLst/>
              <a:rect r="r" b="b" t="t" l="l"/>
              <a:pathLst>
                <a:path h="1371600" w="19385280">
                  <a:moveTo>
                    <a:pt x="0" y="0"/>
                  </a:moveTo>
                  <a:lnTo>
                    <a:pt x="19385280" y="0"/>
                  </a:lnTo>
                  <a:lnTo>
                    <a:pt x="19385280" y="1371600"/>
                  </a:lnTo>
                  <a:lnTo>
                    <a:pt x="0" y="1371600"/>
                  </a:lnTo>
                  <a:close/>
                </a:path>
              </a:pathLst>
            </a:custGeom>
            <a:blipFill>
              <a:blip r:embed="rId3">
                <a:alphaModFix amt="0"/>
              </a:blip>
              <a:stretch>
                <a:fillRect l="0" t="-225388" r="0" b="-225388"/>
              </a:stretch>
            </a:blipFill>
          </p:spPr>
        </p:sp>
        <p:sp>
          <p:nvSpPr>
            <p:cNvPr name="TextBox 28" id="28"/>
            <p:cNvSpPr txBox="true"/>
            <p:nvPr/>
          </p:nvSpPr>
          <p:spPr>
            <a:xfrm>
              <a:off x="0" y="-47625"/>
              <a:ext cx="19385280" cy="1419225"/>
            </a:xfrm>
            <a:prstGeom prst="rect">
              <a:avLst/>
            </a:prstGeom>
          </p:spPr>
          <p:txBody>
            <a:bodyPr anchor="ctr" rtlCol="false" tIns="0" lIns="0" bIns="0" rIns="0"/>
            <a:lstStyle/>
            <a:p>
              <a:pPr algn="l">
                <a:lnSpc>
                  <a:spcPts val="2790"/>
                </a:lnSpc>
              </a:pPr>
              <a:r>
                <a:rPr lang="en-US" sz="2325">
                  <a:solidFill>
                    <a:srgbClr val="17213B"/>
                  </a:solidFill>
                  <a:latin typeface="Calibri (MS)"/>
                  <a:ea typeface="Calibri (MS)"/>
                  <a:cs typeface="Calibri (MS)"/>
                  <a:sym typeface="Calibri (MS)"/>
                </a:rPr>
                <a:t>Use multiple cooperating AI agents for planning, research, writing, and quality review — not a single prompt.</a:t>
              </a:r>
            </a:p>
          </p:txBody>
        </p:sp>
      </p:grpSp>
      <p:grpSp>
        <p:nvGrpSpPr>
          <p:cNvPr name="Group 29" id="29"/>
          <p:cNvGrpSpPr/>
          <p:nvPr/>
        </p:nvGrpSpPr>
        <p:grpSpPr>
          <a:xfrm rot="0">
            <a:off x="960120" y="6323076"/>
            <a:ext cx="850392" cy="850392"/>
            <a:chOff x="0" y="0"/>
            <a:chExt cx="1133856" cy="1133856"/>
          </a:xfrm>
        </p:grpSpPr>
        <p:sp>
          <p:nvSpPr>
            <p:cNvPr name="Freeform 30" id="30"/>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6213E"/>
            </a:solidFill>
          </p:spPr>
        </p:sp>
      </p:grpSp>
      <p:grpSp>
        <p:nvGrpSpPr>
          <p:cNvPr name="Group 31" id="31"/>
          <p:cNvGrpSpPr/>
          <p:nvPr/>
        </p:nvGrpSpPr>
        <p:grpSpPr>
          <a:xfrm rot="0">
            <a:off x="1062171" y="6425127"/>
            <a:ext cx="646300" cy="646300"/>
            <a:chOff x="0" y="0"/>
            <a:chExt cx="861733" cy="861733"/>
          </a:xfrm>
        </p:grpSpPr>
        <p:sp>
          <p:nvSpPr>
            <p:cNvPr name="Freeform 32" id="32" descr="/home/claude/pptx/icons/blog.png"/>
            <p:cNvSpPr/>
            <p:nvPr/>
          </p:nvSpPr>
          <p:spPr>
            <a:xfrm flipH="false" flipV="false" rot="0">
              <a:off x="0" y="0"/>
              <a:ext cx="861695" cy="861695"/>
            </a:xfrm>
            <a:custGeom>
              <a:avLst/>
              <a:gdLst/>
              <a:ahLst/>
              <a:cxnLst/>
              <a:rect r="r" b="b" t="t" l="l"/>
              <a:pathLst>
                <a:path h="861695" w="861695">
                  <a:moveTo>
                    <a:pt x="0" y="0"/>
                  </a:moveTo>
                  <a:lnTo>
                    <a:pt x="861695" y="0"/>
                  </a:lnTo>
                  <a:lnTo>
                    <a:pt x="861695" y="861695"/>
                  </a:lnTo>
                  <a:lnTo>
                    <a:pt x="0" y="861695"/>
                  </a:lnTo>
                  <a:lnTo>
                    <a:pt x="0" y="0"/>
                  </a:lnTo>
                  <a:close/>
                </a:path>
              </a:pathLst>
            </a:custGeom>
            <a:blipFill>
              <a:blip r:embed="rId7"/>
              <a:stretch>
                <a:fillRect l="0" t="0" r="-4" b="-4"/>
              </a:stretch>
            </a:blipFill>
          </p:spPr>
        </p:sp>
      </p:grpSp>
      <p:grpSp>
        <p:nvGrpSpPr>
          <p:cNvPr name="Group 33" id="33"/>
          <p:cNvGrpSpPr/>
          <p:nvPr/>
        </p:nvGrpSpPr>
        <p:grpSpPr>
          <a:xfrm rot="0">
            <a:off x="2125980" y="6254496"/>
            <a:ext cx="14538960" cy="1028700"/>
            <a:chOff x="0" y="0"/>
            <a:chExt cx="19385280" cy="1371600"/>
          </a:xfrm>
        </p:grpSpPr>
        <p:sp>
          <p:nvSpPr>
            <p:cNvPr name="Freeform 34" id="34"/>
            <p:cNvSpPr/>
            <p:nvPr/>
          </p:nvSpPr>
          <p:spPr>
            <a:xfrm flipH="false" flipV="false" rot="0">
              <a:off x="0" y="0"/>
              <a:ext cx="19385280" cy="1371600"/>
            </a:xfrm>
            <a:custGeom>
              <a:avLst/>
              <a:gdLst/>
              <a:ahLst/>
              <a:cxnLst/>
              <a:rect r="r" b="b" t="t" l="l"/>
              <a:pathLst>
                <a:path h="1371600" w="19385280">
                  <a:moveTo>
                    <a:pt x="0" y="0"/>
                  </a:moveTo>
                  <a:lnTo>
                    <a:pt x="19385280" y="0"/>
                  </a:lnTo>
                  <a:lnTo>
                    <a:pt x="19385280" y="1371600"/>
                  </a:lnTo>
                  <a:lnTo>
                    <a:pt x="0" y="1371600"/>
                  </a:lnTo>
                  <a:close/>
                </a:path>
              </a:pathLst>
            </a:custGeom>
            <a:blipFill>
              <a:blip r:embed="rId3">
                <a:alphaModFix amt="0"/>
              </a:blip>
              <a:stretch>
                <a:fillRect l="0" t="-225388" r="0" b="-225388"/>
              </a:stretch>
            </a:blipFill>
          </p:spPr>
        </p:sp>
        <p:sp>
          <p:nvSpPr>
            <p:cNvPr name="TextBox 35" id="35"/>
            <p:cNvSpPr txBox="true"/>
            <p:nvPr/>
          </p:nvSpPr>
          <p:spPr>
            <a:xfrm>
              <a:off x="0" y="-47625"/>
              <a:ext cx="19385280" cy="1419225"/>
            </a:xfrm>
            <a:prstGeom prst="rect">
              <a:avLst/>
            </a:prstGeom>
          </p:spPr>
          <p:txBody>
            <a:bodyPr anchor="ctr" rtlCol="false" tIns="0" lIns="0" bIns="0" rIns="0"/>
            <a:lstStyle/>
            <a:p>
              <a:pPr algn="l">
                <a:lnSpc>
                  <a:spcPts val="2790"/>
                </a:lnSpc>
              </a:pPr>
              <a:r>
                <a:rPr lang="en-US" sz="2325">
                  <a:solidFill>
                    <a:srgbClr val="17213B"/>
                  </a:solidFill>
                  <a:latin typeface="Calibri (MS)"/>
                  <a:ea typeface="Calibri (MS)"/>
                  <a:cs typeface="Calibri (MS)"/>
                  <a:sym typeface="Calibri (MS)"/>
                </a:rPr>
                <a:t>Support multiple content types: blog, LinkedIn, tweet, Instagram, and short story.</a:t>
              </a:r>
            </a:p>
          </p:txBody>
        </p:sp>
      </p:grpSp>
      <p:grpSp>
        <p:nvGrpSpPr>
          <p:cNvPr name="Group 36" id="36"/>
          <p:cNvGrpSpPr/>
          <p:nvPr/>
        </p:nvGrpSpPr>
        <p:grpSpPr>
          <a:xfrm rot="0">
            <a:off x="960120" y="7722108"/>
            <a:ext cx="850392" cy="850392"/>
            <a:chOff x="0" y="0"/>
            <a:chExt cx="1133856" cy="1133856"/>
          </a:xfrm>
        </p:grpSpPr>
        <p:sp>
          <p:nvSpPr>
            <p:cNvPr name="Freeform 37" id="37"/>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16213E"/>
            </a:solidFill>
          </p:spPr>
        </p:sp>
      </p:grpSp>
      <p:grpSp>
        <p:nvGrpSpPr>
          <p:cNvPr name="Group 38" id="38"/>
          <p:cNvGrpSpPr/>
          <p:nvPr/>
        </p:nvGrpSpPr>
        <p:grpSpPr>
          <a:xfrm rot="0">
            <a:off x="1062171" y="7824159"/>
            <a:ext cx="646300" cy="646300"/>
            <a:chOff x="0" y="0"/>
            <a:chExt cx="861733" cy="861733"/>
          </a:xfrm>
        </p:grpSpPr>
        <p:sp>
          <p:nvSpPr>
            <p:cNvPr name="Freeform 39" id="39" descr="/home/claude/pptx/icons/testing.png"/>
            <p:cNvSpPr/>
            <p:nvPr/>
          </p:nvSpPr>
          <p:spPr>
            <a:xfrm flipH="false" flipV="false" rot="0">
              <a:off x="0" y="0"/>
              <a:ext cx="861695" cy="861695"/>
            </a:xfrm>
            <a:custGeom>
              <a:avLst/>
              <a:gdLst/>
              <a:ahLst/>
              <a:cxnLst/>
              <a:rect r="r" b="b" t="t" l="l"/>
              <a:pathLst>
                <a:path h="861695" w="861695">
                  <a:moveTo>
                    <a:pt x="0" y="0"/>
                  </a:moveTo>
                  <a:lnTo>
                    <a:pt x="861695" y="0"/>
                  </a:lnTo>
                  <a:lnTo>
                    <a:pt x="861695" y="861695"/>
                  </a:lnTo>
                  <a:lnTo>
                    <a:pt x="0" y="861695"/>
                  </a:lnTo>
                  <a:lnTo>
                    <a:pt x="0" y="0"/>
                  </a:lnTo>
                  <a:close/>
                </a:path>
              </a:pathLst>
            </a:custGeom>
            <a:blipFill>
              <a:blip r:embed="rId8"/>
              <a:stretch>
                <a:fillRect l="0" t="0" r="-4" b="-4"/>
              </a:stretch>
            </a:blipFill>
          </p:spPr>
        </p:sp>
      </p:grpSp>
      <p:grpSp>
        <p:nvGrpSpPr>
          <p:cNvPr name="Group 40" id="40"/>
          <p:cNvGrpSpPr/>
          <p:nvPr/>
        </p:nvGrpSpPr>
        <p:grpSpPr>
          <a:xfrm rot="0">
            <a:off x="2125980" y="7653528"/>
            <a:ext cx="14538960" cy="1028700"/>
            <a:chOff x="0" y="0"/>
            <a:chExt cx="19385280" cy="1371600"/>
          </a:xfrm>
        </p:grpSpPr>
        <p:sp>
          <p:nvSpPr>
            <p:cNvPr name="Freeform 41" id="41"/>
            <p:cNvSpPr/>
            <p:nvPr/>
          </p:nvSpPr>
          <p:spPr>
            <a:xfrm flipH="false" flipV="false" rot="0">
              <a:off x="0" y="0"/>
              <a:ext cx="19385280" cy="1371600"/>
            </a:xfrm>
            <a:custGeom>
              <a:avLst/>
              <a:gdLst/>
              <a:ahLst/>
              <a:cxnLst/>
              <a:rect r="r" b="b" t="t" l="l"/>
              <a:pathLst>
                <a:path h="1371600" w="19385280">
                  <a:moveTo>
                    <a:pt x="0" y="0"/>
                  </a:moveTo>
                  <a:lnTo>
                    <a:pt x="19385280" y="0"/>
                  </a:lnTo>
                  <a:lnTo>
                    <a:pt x="19385280" y="1371600"/>
                  </a:lnTo>
                  <a:lnTo>
                    <a:pt x="0" y="1371600"/>
                  </a:lnTo>
                  <a:close/>
                </a:path>
              </a:pathLst>
            </a:custGeom>
            <a:blipFill>
              <a:blip r:embed="rId3">
                <a:alphaModFix amt="0"/>
              </a:blip>
              <a:stretch>
                <a:fillRect l="0" t="-225388" r="0" b="-225388"/>
              </a:stretch>
            </a:blipFill>
          </p:spPr>
        </p:sp>
        <p:sp>
          <p:nvSpPr>
            <p:cNvPr name="TextBox 42" id="42"/>
            <p:cNvSpPr txBox="true"/>
            <p:nvPr/>
          </p:nvSpPr>
          <p:spPr>
            <a:xfrm>
              <a:off x="0" y="-47625"/>
              <a:ext cx="19385280" cy="1419225"/>
            </a:xfrm>
            <a:prstGeom prst="rect">
              <a:avLst/>
            </a:prstGeom>
          </p:spPr>
          <p:txBody>
            <a:bodyPr anchor="ctr" rtlCol="false" tIns="0" lIns="0" bIns="0" rIns="0"/>
            <a:lstStyle/>
            <a:p>
              <a:pPr algn="l">
                <a:lnSpc>
                  <a:spcPts val="2790"/>
                </a:lnSpc>
              </a:pPr>
              <a:r>
                <a:rPr lang="en-US" sz="2325">
                  <a:solidFill>
                    <a:srgbClr val="17213B"/>
                  </a:solidFill>
                  <a:latin typeface="Calibri (MS)"/>
                  <a:ea typeface="Calibri (MS)"/>
                  <a:cs typeface="Calibri (MS)"/>
                  <a:sym typeface="Calibri (MS)"/>
                </a:rPr>
                <a:t>Make the system testable, containerised, and extensible for future growth.</a:t>
              </a:r>
            </a:p>
          </p:txBody>
        </p:sp>
      </p:grpSp>
      <p:grpSp>
        <p:nvGrpSpPr>
          <p:cNvPr name="Group 43" id="43"/>
          <p:cNvGrpSpPr/>
          <p:nvPr/>
        </p:nvGrpSpPr>
        <p:grpSpPr>
          <a:xfrm rot="0">
            <a:off x="685800" y="9793224"/>
            <a:ext cx="10972800" cy="411480"/>
            <a:chOff x="0" y="0"/>
            <a:chExt cx="14630400" cy="548640"/>
          </a:xfrm>
        </p:grpSpPr>
        <p:sp>
          <p:nvSpPr>
            <p:cNvPr name="Freeform 44" id="4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5" id="45"/>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46" id="46"/>
          <p:cNvGrpSpPr/>
          <p:nvPr/>
        </p:nvGrpSpPr>
        <p:grpSpPr>
          <a:xfrm rot="0">
            <a:off x="17282160" y="9793224"/>
            <a:ext cx="548640" cy="411480"/>
            <a:chOff x="0" y="0"/>
            <a:chExt cx="731520" cy="548640"/>
          </a:xfrm>
        </p:grpSpPr>
        <p:sp>
          <p:nvSpPr>
            <p:cNvPr name="Freeform 47" id="47"/>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48" id="48"/>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4</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5415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3 · OUR SOLUTION</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Introducing Lexora AI</a:t>
              </a:r>
            </a:p>
          </p:txBody>
        </p:sp>
      </p:grpSp>
      <p:grpSp>
        <p:nvGrpSpPr>
          <p:cNvPr name="Group 8" id="8"/>
          <p:cNvGrpSpPr/>
          <p:nvPr/>
        </p:nvGrpSpPr>
        <p:grpSpPr>
          <a:xfrm rot="0">
            <a:off x="960120" y="1783080"/>
            <a:ext cx="16184880" cy="548640"/>
            <a:chOff x="0" y="0"/>
            <a:chExt cx="21579840" cy="731520"/>
          </a:xfrm>
        </p:grpSpPr>
        <p:sp>
          <p:nvSpPr>
            <p:cNvPr name="Freeform 9" id="9"/>
            <p:cNvSpPr/>
            <p:nvPr/>
          </p:nvSpPr>
          <p:spPr>
            <a:xfrm flipH="false" flipV="false" rot="0">
              <a:off x="0" y="0"/>
              <a:ext cx="21579839" cy="731520"/>
            </a:xfrm>
            <a:custGeom>
              <a:avLst/>
              <a:gdLst/>
              <a:ahLst/>
              <a:cxnLst/>
              <a:rect r="r" b="b" t="t" l="l"/>
              <a:pathLst>
                <a:path h="731520" w="21579839">
                  <a:moveTo>
                    <a:pt x="0" y="0"/>
                  </a:moveTo>
                  <a:lnTo>
                    <a:pt x="21579839" y="0"/>
                  </a:lnTo>
                  <a:lnTo>
                    <a:pt x="21579839" y="731520"/>
                  </a:lnTo>
                  <a:lnTo>
                    <a:pt x="0" y="731520"/>
                  </a:lnTo>
                  <a:close/>
                </a:path>
              </a:pathLst>
            </a:custGeom>
            <a:blipFill>
              <a:blip r:embed="rId3">
                <a:alphaModFix amt="0"/>
              </a:blip>
              <a:stretch>
                <a:fillRect l="0" t="-524808" r="0" b="-524808"/>
              </a:stretch>
            </a:blipFill>
          </p:spPr>
        </p:sp>
        <p:sp>
          <p:nvSpPr>
            <p:cNvPr name="TextBox 10" id="10"/>
            <p:cNvSpPr txBox="true"/>
            <p:nvPr/>
          </p:nvSpPr>
          <p:spPr>
            <a:xfrm>
              <a:off x="0" y="-47625"/>
              <a:ext cx="21579840" cy="779145"/>
            </a:xfrm>
            <a:prstGeom prst="rect">
              <a:avLst/>
            </a:prstGeom>
          </p:spPr>
          <p:txBody>
            <a:bodyPr anchor="ctr" rtlCol="false" tIns="0" lIns="0" bIns="0" rIns="0"/>
            <a:lstStyle/>
            <a:p>
              <a:pPr algn="l">
                <a:lnSpc>
                  <a:spcPts val="2520"/>
                </a:lnSpc>
              </a:pPr>
              <a:r>
                <a:rPr lang="en-US" sz="2100" i="true">
                  <a:solidFill>
                    <a:srgbClr val="64748B"/>
                  </a:solidFill>
                  <a:latin typeface="Calibri (MS) Italics"/>
                  <a:ea typeface="Calibri (MS) Italics"/>
                  <a:cs typeface="Calibri (MS) Italics"/>
                  <a:sym typeface="Calibri (MS) Italics"/>
                </a:rPr>
                <a:t>A multi-agent, LLM-orchestrated pipeline that turns a request into platform-ready content.</a:t>
              </a:r>
            </a:p>
          </p:txBody>
        </p:sp>
      </p:grpSp>
      <p:grpSp>
        <p:nvGrpSpPr>
          <p:cNvPr name="Group 11" id="11"/>
          <p:cNvGrpSpPr/>
          <p:nvPr/>
        </p:nvGrpSpPr>
        <p:grpSpPr>
          <a:xfrm rot="0">
            <a:off x="1796186" y="2759583"/>
            <a:ext cx="2556510" cy="1459230"/>
            <a:chOff x="0" y="0"/>
            <a:chExt cx="3408680" cy="1945640"/>
          </a:xfrm>
        </p:grpSpPr>
        <p:sp>
          <p:nvSpPr>
            <p:cNvPr name="Freeform 12" id="12"/>
            <p:cNvSpPr/>
            <p:nvPr/>
          </p:nvSpPr>
          <p:spPr>
            <a:xfrm flipH="false" flipV="false" rot="0">
              <a:off x="0" y="0"/>
              <a:ext cx="3408680" cy="1945640"/>
            </a:xfrm>
            <a:custGeom>
              <a:avLst/>
              <a:gdLst/>
              <a:ahLst/>
              <a:cxnLst/>
              <a:rect r="r" b="b" t="t" l="l"/>
              <a:pathLst>
                <a:path h="1945640" w="3408680">
                  <a:moveTo>
                    <a:pt x="0" y="148209"/>
                  </a:moveTo>
                  <a:cubicBezTo>
                    <a:pt x="0" y="66421"/>
                    <a:pt x="66421" y="0"/>
                    <a:pt x="148209" y="0"/>
                  </a:cubicBezTo>
                  <a:lnTo>
                    <a:pt x="3260471" y="0"/>
                  </a:lnTo>
                  <a:cubicBezTo>
                    <a:pt x="3342386" y="0"/>
                    <a:pt x="3408680" y="66421"/>
                    <a:pt x="3408680" y="148209"/>
                  </a:cubicBezTo>
                  <a:lnTo>
                    <a:pt x="3408680" y="1797431"/>
                  </a:lnTo>
                  <a:cubicBezTo>
                    <a:pt x="3408680" y="1879346"/>
                    <a:pt x="3342259" y="1945640"/>
                    <a:pt x="3260471" y="1945640"/>
                  </a:cubicBezTo>
                  <a:lnTo>
                    <a:pt x="148209" y="1945640"/>
                  </a:lnTo>
                  <a:cubicBezTo>
                    <a:pt x="66421" y="1945640"/>
                    <a:pt x="0" y="1879219"/>
                    <a:pt x="0" y="1797431"/>
                  </a:cubicBezTo>
                  <a:close/>
                </a:path>
              </a:pathLst>
            </a:custGeom>
            <a:solidFill>
              <a:srgbClr val="FFFFFF"/>
            </a:solidFill>
            <a:ln w="19050" cap="sq">
              <a:solidFill>
                <a:srgbClr val="E2E8F0"/>
              </a:solidFill>
              <a:prstDash val="solid"/>
              <a:miter/>
            </a:ln>
          </p:spPr>
        </p:sp>
      </p:grpSp>
      <p:grpSp>
        <p:nvGrpSpPr>
          <p:cNvPr name="Group 13" id="13"/>
          <p:cNvGrpSpPr/>
          <p:nvPr/>
        </p:nvGrpSpPr>
        <p:grpSpPr>
          <a:xfrm rot="0">
            <a:off x="1874291" y="2769108"/>
            <a:ext cx="2400300" cy="1440180"/>
            <a:chOff x="0" y="0"/>
            <a:chExt cx="3200400" cy="1920240"/>
          </a:xfrm>
        </p:grpSpPr>
        <p:sp>
          <p:nvSpPr>
            <p:cNvPr name="Freeform 14" id="14"/>
            <p:cNvSpPr/>
            <p:nvPr/>
          </p:nvSpPr>
          <p:spPr>
            <a:xfrm flipH="false" flipV="false" rot="0">
              <a:off x="0" y="0"/>
              <a:ext cx="3200400" cy="1920240"/>
            </a:xfrm>
            <a:custGeom>
              <a:avLst/>
              <a:gdLst/>
              <a:ahLst/>
              <a:cxnLst/>
              <a:rect r="r" b="b" t="t" l="l"/>
              <a:pathLst>
                <a:path h="1920240" w="3200400">
                  <a:moveTo>
                    <a:pt x="0" y="0"/>
                  </a:moveTo>
                  <a:lnTo>
                    <a:pt x="3200400" y="0"/>
                  </a:lnTo>
                  <a:lnTo>
                    <a:pt x="3200400" y="1920240"/>
                  </a:lnTo>
                  <a:lnTo>
                    <a:pt x="0" y="1920240"/>
                  </a:lnTo>
                  <a:close/>
                </a:path>
              </a:pathLst>
            </a:custGeom>
            <a:blipFill>
              <a:blip r:embed="rId3">
                <a:alphaModFix amt="0"/>
              </a:blip>
              <a:stretch>
                <a:fillRect l="-26982" t="0" r="-26982" b="0"/>
              </a:stretch>
            </a:blipFill>
          </p:spPr>
        </p:sp>
        <p:sp>
          <p:nvSpPr>
            <p:cNvPr name="TextBox 15" id="15"/>
            <p:cNvSpPr txBox="true"/>
            <p:nvPr/>
          </p:nvSpPr>
          <p:spPr>
            <a:xfrm>
              <a:off x="0" y="-38100"/>
              <a:ext cx="3200400" cy="1958340"/>
            </a:xfrm>
            <a:prstGeom prst="rect">
              <a:avLst/>
            </a:prstGeom>
          </p:spPr>
          <p:txBody>
            <a:bodyPr anchor="ctr" rtlCol="false" tIns="0" lIns="0" bIns="0" rIns="0"/>
            <a:lstStyle/>
            <a:p>
              <a:pPr algn="ctr">
                <a:lnSpc>
                  <a:spcPts val="2070"/>
                </a:lnSpc>
              </a:pPr>
              <a:r>
                <a:rPr lang="en-US" sz="1725" b="true">
                  <a:solidFill>
                    <a:srgbClr val="17213B"/>
                  </a:solidFill>
                  <a:latin typeface="Calibri (MS) Bold"/>
                  <a:ea typeface="Calibri (MS) Bold"/>
                  <a:cs typeface="Calibri (MS) Bold"/>
                  <a:sym typeface="Calibri (MS) Bold"/>
                </a:rPr>
                <a:t>User Request</a:t>
              </a:r>
            </a:p>
          </p:txBody>
        </p:sp>
      </p:grpSp>
      <p:grpSp>
        <p:nvGrpSpPr>
          <p:cNvPr name="Group 16" id="16"/>
          <p:cNvGrpSpPr/>
          <p:nvPr/>
        </p:nvGrpSpPr>
        <p:grpSpPr>
          <a:xfrm rot="0">
            <a:off x="4315739" y="3317748"/>
            <a:ext cx="438912" cy="342900"/>
            <a:chOff x="0" y="0"/>
            <a:chExt cx="585216" cy="457200"/>
          </a:xfrm>
        </p:grpSpPr>
        <p:sp>
          <p:nvSpPr>
            <p:cNvPr name="Freeform 17" id="17"/>
            <p:cNvSpPr/>
            <p:nvPr/>
          </p:nvSpPr>
          <p:spPr>
            <a:xfrm flipH="false" flipV="false" rot="0">
              <a:off x="0" y="0"/>
              <a:ext cx="585216" cy="457200"/>
            </a:xfrm>
            <a:custGeom>
              <a:avLst/>
              <a:gdLst/>
              <a:ahLst/>
              <a:cxnLst/>
              <a:rect r="r" b="b" t="t" l="l"/>
              <a:pathLst>
                <a:path h="457200" w="585216">
                  <a:moveTo>
                    <a:pt x="0" y="114300"/>
                  </a:moveTo>
                  <a:lnTo>
                    <a:pt x="356616" y="114300"/>
                  </a:lnTo>
                  <a:lnTo>
                    <a:pt x="356616" y="0"/>
                  </a:lnTo>
                  <a:lnTo>
                    <a:pt x="585216" y="228600"/>
                  </a:lnTo>
                  <a:lnTo>
                    <a:pt x="356616" y="457200"/>
                  </a:lnTo>
                  <a:lnTo>
                    <a:pt x="356616" y="342900"/>
                  </a:lnTo>
                  <a:lnTo>
                    <a:pt x="0" y="342900"/>
                  </a:lnTo>
                  <a:close/>
                </a:path>
              </a:pathLst>
            </a:custGeom>
            <a:solidFill>
              <a:srgbClr val="2DD4BF"/>
            </a:solidFill>
          </p:spPr>
        </p:sp>
      </p:grpSp>
      <p:grpSp>
        <p:nvGrpSpPr>
          <p:cNvPr name="Group 18" id="18"/>
          <p:cNvGrpSpPr/>
          <p:nvPr/>
        </p:nvGrpSpPr>
        <p:grpSpPr>
          <a:xfrm rot="0">
            <a:off x="4717694" y="2759583"/>
            <a:ext cx="2556510" cy="1459230"/>
            <a:chOff x="0" y="0"/>
            <a:chExt cx="3408680" cy="1945640"/>
          </a:xfrm>
        </p:grpSpPr>
        <p:sp>
          <p:nvSpPr>
            <p:cNvPr name="Freeform 19" id="19"/>
            <p:cNvSpPr/>
            <p:nvPr/>
          </p:nvSpPr>
          <p:spPr>
            <a:xfrm flipH="false" flipV="false" rot="0">
              <a:off x="0" y="0"/>
              <a:ext cx="3408680" cy="1945640"/>
            </a:xfrm>
            <a:custGeom>
              <a:avLst/>
              <a:gdLst/>
              <a:ahLst/>
              <a:cxnLst/>
              <a:rect r="r" b="b" t="t" l="l"/>
              <a:pathLst>
                <a:path h="1945640" w="3408680">
                  <a:moveTo>
                    <a:pt x="0" y="148209"/>
                  </a:moveTo>
                  <a:cubicBezTo>
                    <a:pt x="0" y="66421"/>
                    <a:pt x="66421" y="0"/>
                    <a:pt x="148209" y="0"/>
                  </a:cubicBezTo>
                  <a:lnTo>
                    <a:pt x="3260471" y="0"/>
                  </a:lnTo>
                  <a:cubicBezTo>
                    <a:pt x="3342386" y="0"/>
                    <a:pt x="3408680" y="66421"/>
                    <a:pt x="3408680" y="148209"/>
                  </a:cubicBezTo>
                  <a:lnTo>
                    <a:pt x="3408680" y="1797431"/>
                  </a:lnTo>
                  <a:cubicBezTo>
                    <a:pt x="3408680" y="1879346"/>
                    <a:pt x="3342259" y="1945640"/>
                    <a:pt x="3260471" y="1945640"/>
                  </a:cubicBezTo>
                  <a:lnTo>
                    <a:pt x="148209" y="1945640"/>
                  </a:lnTo>
                  <a:cubicBezTo>
                    <a:pt x="66421" y="1945640"/>
                    <a:pt x="0" y="1879219"/>
                    <a:pt x="0" y="1797431"/>
                  </a:cubicBezTo>
                  <a:close/>
                </a:path>
              </a:pathLst>
            </a:custGeom>
            <a:solidFill>
              <a:srgbClr val="FFFFFF"/>
            </a:solidFill>
            <a:ln w="19050" cap="sq">
              <a:solidFill>
                <a:srgbClr val="E2E8F0"/>
              </a:solidFill>
              <a:prstDash val="solid"/>
              <a:miter/>
            </a:ln>
          </p:spPr>
        </p:sp>
      </p:grpSp>
      <p:grpSp>
        <p:nvGrpSpPr>
          <p:cNvPr name="Group 20" id="20"/>
          <p:cNvGrpSpPr/>
          <p:nvPr/>
        </p:nvGrpSpPr>
        <p:grpSpPr>
          <a:xfrm rot="0">
            <a:off x="4795799" y="2769108"/>
            <a:ext cx="2400300" cy="1440180"/>
            <a:chOff x="0" y="0"/>
            <a:chExt cx="3200400" cy="1920240"/>
          </a:xfrm>
        </p:grpSpPr>
        <p:sp>
          <p:nvSpPr>
            <p:cNvPr name="Freeform 21" id="21"/>
            <p:cNvSpPr/>
            <p:nvPr/>
          </p:nvSpPr>
          <p:spPr>
            <a:xfrm flipH="false" flipV="false" rot="0">
              <a:off x="0" y="0"/>
              <a:ext cx="3200400" cy="1920240"/>
            </a:xfrm>
            <a:custGeom>
              <a:avLst/>
              <a:gdLst/>
              <a:ahLst/>
              <a:cxnLst/>
              <a:rect r="r" b="b" t="t" l="l"/>
              <a:pathLst>
                <a:path h="1920240" w="3200400">
                  <a:moveTo>
                    <a:pt x="0" y="0"/>
                  </a:moveTo>
                  <a:lnTo>
                    <a:pt x="3200400" y="0"/>
                  </a:lnTo>
                  <a:lnTo>
                    <a:pt x="3200400" y="1920240"/>
                  </a:lnTo>
                  <a:lnTo>
                    <a:pt x="0" y="1920240"/>
                  </a:lnTo>
                  <a:close/>
                </a:path>
              </a:pathLst>
            </a:custGeom>
            <a:blipFill>
              <a:blip r:embed="rId3">
                <a:alphaModFix amt="0"/>
              </a:blip>
              <a:stretch>
                <a:fillRect l="-26982" t="0" r="-26982" b="0"/>
              </a:stretch>
            </a:blipFill>
          </p:spPr>
        </p:sp>
        <p:sp>
          <p:nvSpPr>
            <p:cNvPr name="TextBox 22" id="22"/>
            <p:cNvSpPr txBox="true"/>
            <p:nvPr/>
          </p:nvSpPr>
          <p:spPr>
            <a:xfrm>
              <a:off x="0" y="-38100"/>
              <a:ext cx="3200400" cy="1958340"/>
            </a:xfrm>
            <a:prstGeom prst="rect">
              <a:avLst/>
            </a:prstGeom>
          </p:spPr>
          <p:txBody>
            <a:bodyPr anchor="ctr" rtlCol="false" tIns="0" lIns="0" bIns="0" rIns="0"/>
            <a:lstStyle/>
            <a:p>
              <a:pPr algn="ctr">
                <a:lnSpc>
                  <a:spcPts val="2070"/>
                </a:lnSpc>
              </a:pPr>
              <a:r>
                <a:rPr lang="en-US" sz="1725" b="true">
                  <a:solidFill>
                    <a:srgbClr val="17213B"/>
                  </a:solidFill>
                  <a:latin typeface="Calibri (MS) Bold"/>
                  <a:ea typeface="Calibri (MS) Bold"/>
                  <a:cs typeface="Calibri (MS) Bold"/>
                  <a:sym typeface="Calibri (MS) Bold"/>
                </a:rPr>
                <a:t>API</a:t>
              </a:r>
            </a:p>
          </p:txBody>
        </p:sp>
      </p:grpSp>
      <p:grpSp>
        <p:nvGrpSpPr>
          <p:cNvPr name="Group 23" id="23"/>
          <p:cNvGrpSpPr/>
          <p:nvPr/>
        </p:nvGrpSpPr>
        <p:grpSpPr>
          <a:xfrm rot="0">
            <a:off x="7237247" y="3317748"/>
            <a:ext cx="438912" cy="342900"/>
            <a:chOff x="0" y="0"/>
            <a:chExt cx="585216" cy="457200"/>
          </a:xfrm>
        </p:grpSpPr>
        <p:sp>
          <p:nvSpPr>
            <p:cNvPr name="Freeform 24" id="24"/>
            <p:cNvSpPr/>
            <p:nvPr/>
          </p:nvSpPr>
          <p:spPr>
            <a:xfrm flipH="false" flipV="false" rot="0">
              <a:off x="0" y="0"/>
              <a:ext cx="585216" cy="457200"/>
            </a:xfrm>
            <a:custGeom>
              <a:avLst/>
              <a:gdLst/>
              <a:ahLst/>
              <a:cxnLst/>
              <a:rect r="r" b="b" t="t" l="l"/>
              <a:pathLst>
                <a:path h="457200" w="585216">
                  <a:moveTo>
                    <a:pt x="0" y="114300"/>
                  </a:moveTo>
                  <a:lnTo>
                    <a:pt x="356616" y="114300"/>
                  </a:lnTo>
                  <a:lnTo>
                    <a:pt x="356616" y="0"/>
                  </a:lnTo>
                  <a:lnTo>
                    <a:pt x="585216" y="228600"/>
                  </a:lnTo>
                  <a:lnTo>
                    <a:pt x="356616" y="457200"/>
                  </a:lnTo>
                  <a:lnTo>
                    <a:pt x="356616" y="342900"/>
                  </a:lnTo>
                  <a:lnTo>
                    <a:pt x="0" y="342900"/>
                  </a:lnTo>
                  <a:close/>
                </a:path>
              </a:pathLst>
            </a:custGeom>
            <a:solidFill>
              <a:srgbClr val="2DD4BF"/>
            </a:solidFill>
          </p:spPr>
        </p:sp>
      </p:grpSp>
      <p:grpSp>
        <p:nvGrpSpPr>
          <p:cNvPr name="Group 25" id="25"/>
          <p:cNvGrpSpPr/>
          <p:nvPr/>
        </p:nvGrpSpPr>
        <p:grpSpPr>
          <a:xfrm rot="0">
            <a:off x="7639202" y="2759583"/>
            <a:ext cx="2556510" cy="1459230"/>
            <a:chOff x="0" y="0"/>
            <a:chExt cx="3408680" cy="1945640"/>
          </a:xfrm>
        </p:grpSpPr>
        <p:sp>
          <p:nvSpPr>
            <p:cNvPr name="Freeform 26" id="26"/>
            <p:cNvSpPr/>
            <p:nvPr/>
          </p:nvSpPr>
          <p:spPr>
            <a:xfrm flipH="false" flipV="false" rot="0">
              <a:off x="0" y="0"/>
              <a:ext cx="3408680" cy="1945640"/>
            </a:xfrm>
            <a:custGeom>
              <a:avLst/>
              <a:gdLst/>
              <a:ahLst/>
              <a:cxnLst/>
              <a:rect r="r" b="b" t="t" l="l"/>
              <a:pathLst>
                <a:path h="1945640" w="3408680">
                  <a:moveTo>
                    <a:pt x="0" y="148209"/>
                  </a:moveTo>
                  <a:cubicBezTo>
                    <a:pt x="0" y="66421"/>
                    <a:pt x="66421" y="0"/>
                    <a:pt x="148209" y="0"/>
                  </a:cubicBezTo>
                  <a:lnTo>
                    <a:pt x="3260471" y="0"/>
                  </a:lnTo>
                  <a:cubicBezTo>
                    <a:pt x="3342386" y="0"/>
                    <a:pt x="3408680" y="66421"/>
                    <a:pt x="3408680" y="148209"/>
                  </a:cubicBezTo>
                  <a:lnTo>
                    <a:pt x="3408680" y="1797431"/>
                  </a:lnTo>
                  <a:cubicBezTo>
                    <a:pt x="3408680" y="1879346"/>
                    <a:pt x="3342259" y="1945640"/>
                    <a:pt x="3260471" y="1945640"/>
                  </a:cubicBezTo>
                  <a:lnTo>
                    <a:pt x="148209" y="1945640"/>
                  </a:lnTo>
                  <a:cubicBezTo>
                    <a:pt x="66421" y="1945640"/>
                    <a:pt x="0" y="1879219"/>
                    <a:pt x="0" y="1797431"/>
                  </a:cubicBezTo>
                  <a:close/>
                </a:path>
              </a:pathLst>
            </a:custGeom>
            <a:solidFill>
              <a:srgbClr val="FFFFFF"/>
            </a:solidFill>
            <a:ln w="19050" cap="sq">
              <a:solidFill>
                <a:srgbClr val="E2E8F0"/>
              </a:solidFill>
              <a:prstDash val="solid"/>
              <a:miter/>
            </a:ln>
          </p:spPr>
        </p:sp>
      </p:grpSp>
      <p:grpSp>
        <p:nvGrpSpPr>
          <p:cNvPr name="Group 27" id="27"/>
          <p:cNvGrpSpPr/>
          <p:nvPr/>
        </p:nvGrpSpPr>
        <p:grpSpPr>
          <a:xfrm rot="0">
            <a:off x="7717307" y="2769108"/>
            <a:ext cx="2400300" cy="1440180"/>
            <a:chOff x="0" y="0"/>
            <a:chExt cx="3200400" cy="1920240"/>
          </a:xfrm>
        </p:grpSpPr>
        <p:sp>
          <p:nvSpPr>
            <p:cNvPr name="Freeform 28" id="28"/>
            <p:cNvSpPr/>
            <p:nvPr/>
          </p:nvSpPr>
          <p:spPr>
            <a:xfrm flipH="false" flipV="false" rot="0">
              <a:off x="0" y="0"/>
              <a:ext cx="3200400" cy="1920240"/>
            </a:xfrm>
            <a:custGeom>
              <a:avLst/>
              <a:gdLst/>
              <a:ahLst/>
              <a:cxnLst/>
              <a:rect r="r" b="b" t="t" l="l"/>
              <a:pathLst>
                <a:path h="1920240" w="3200400">
                  <a:moveTo>
                    <a:pt x="0" y="0"/>
                  </a:moveTo>
                  <a:lnTo>
                    <a:pt x="3200400" y="0"/>
                  </a:lnTo>
                  <a:lnTo>
                    <a:pt x="3200400" y="1920240"/>
                  </a:lnTo>
                  <a:lnTo>
                    <a:pt x="0" y="1920240"/>
                  </a:lnTo>
                  <a:close/>
                </a:path>
              </a:pathLst>
            </a:custGeom>
            <a:blipFill>
              <a:blip r:embed="rId3">
                <a:alphaModFix amt="0"/>
              </a:blip>
              <a:stretch>
                <a:fillRect l="-26982" t="0" r="-26982" b="0"/>
              </a:stretch>
            </a:blipFill>
          </p:spPr>
        </p:sp>
        <p:sp>
          <p:nvSpPr>
            <p:cNvPr name="TextBox 29" id="29"/>
            <p:cNvSpPr txBox="true"/>
            <p:nvPr/>
          </p:nvSpPr>
          <p:spPr>
            <a:xfrm>
              <a:off x="0" y="-38100"/>
              <a:ext cx="3200400" cy="1958340"/>
            </a:xfrm>
            <a:prstGeom prst="rect">
              <a:avLst/>
            </a:prstGeom>
          </p:spPr>
          <p:txBody>
            <a:bodyPr anchor="ctr" rtlCol="false" tIns="0" lIns="0" bIns="0" rIns="0"/>
            <a:lstStyle/>
            <a:p>
              <a:pPr algn="ctr">
                <a:lnSpc>
                  <a:spcPts val="2070"/>
                </a:lnSpc>
              </a:pPr>
              <a:r>
                <a:rPr lang="en-US" sz="1725" b="true">
                  <a:solidFill>
                    <a:srgbClr val="17213B"/>
                  </a:solidFill>
                  <a:latin typeface="Calibri (MS) Bold"/>
                  <a:ea typeface="Calibri (MS) Bold"/>
                  <a:cs typeface="Calibri (MS) Bold"/>
                  <a:sym typeface="Calibri (MS) Bold"/>
                </a:rPr>
                <a:t>Background Job</a:t>
              </a:r>
            </a:p>
          </p:txBody>
        </p:sp>
      </p:grpSp>
      <p:grpSp>
        <p:nvGrpSpPr>
          <p:cNvPr name="Group 30" id="30"/>
          <p:cNvGrpSpPr/>
          <p:nvPr/>
        </p:nvGrpSpPr>
        <p:grpSpPr>
          <a:xfrm rot="0">
            <a:off x="10158755" y="3317748"/>
            <a:ext cx="438912" cy="342900"/>
            <a:chOff x="0" y="0"/>
            <a:chExt cx="585216" cy="457200"/>
          </a:xfrm>
        </p:grpSpPr>
        <p:sp>
          <p:nvSpPr>
            <p:cNvPr name="Freeform 31" id="31"/>
            <p:cNvSpPr/>
            <p:nvPr/>
          </p:nvSpPr>
          <p:spPr>
            <a:xfrm flipH="false" flipV="false" rot="0">
              <a:off x="0" y="0"/>
              <a:ext cx="585216" cy="457200"/>
            </a:xfrm>
            <a:custGeom>
              <a:avLst/>
              <a:gdLst/>
              <a:ahLst/>
              <a:cxnLst/>
              <a:rect r="r" b="b" t="t" l="l"/>
              <a:pathLst>
                <a:path h="457200" w="585216">
                  <a:moveTo>
                    <a:pt x="0" y="114300"/>
                  </a:moveTo>
                  <a:lnTo>
                    <a:pt x="356616" y="114300"/>
                  </a:lnTo>
                  <a:lnTo>
                    <a:pt x="356616" y="0"/>
                  </a:lnTo>
                  <a:lnTo>
                    <a:pt x="585216" y="228600"/>
                  </a:lnTo>
                  <a:lnTo>
                    <a:pt x="356616" y="457200"/>
                  </a:lnTo>
                  <a:lnTo>
                    <a:pt x="356616" y="342900"/>
                  </a:lnTo>
                  <a:lnTo>
                    <a:pt x="0" y="342900"/>
                  </a:lnTo>
                  <a:close/>
                </a:path>
              </a:pathLst>
            </a:custGeom>
            <a:solidFill>
              <a:srgbClr val="2DD4BF"/>
            </a:solidFill>
          </p:spPr>
        </p:sp>
      </p:grpSp>
      <p:grpSp>
        <p:nvGrpSpPr>
          <p:cNvPr name="Group 32" id="32"/>
          <p:cNvGrpSpPr/>
          <p:nvPr/>
        </p:nvGrpSpPr>
        <p:grpSpPr>
          <a:xfrm rot="0">
            <a:off x="10560710" y="2759583"/>
            <a:ext cx="2556510" cy="1459230"/>
            <a:chOff x="0" y="0"/>
            <a:chExt cx="3408680" cy="1945640"/>
          </a:xfrm>
        </p:grpSpPr>
        <p:sp>
          <p:nvSpPr>
            <p:cNvPr name="Freeform 33" id="33"/>
            <p:cNvSpPr/>
            <p:nvPr/>
          </p:nvSpPr>
          <p:spPr>
            <a:xfrm flipH="false" flipV="false" rot="0">
              <a:off x="0" y="0"/>
              <a:ext cx="3408680" cy="1945640"/>
            </a:xfrm>
            <a:custGeom>
              <a:avLst/>
              <a:gdLst/>
              <a:ahLst/>
              <a:cxnLst/>
              <a:rect r="r" b="b" t="t" l="l"/>
              <a:pathLst>
                <a:path h="1945640" w="3408680">
                  <a:moveTo>
                    <a:pt x="0" y="148209"/>
                  </a:moveTo>
                  <a:cubicBezTo>
                    <a:pt x="0" y="66421"/>
                    <a:pt x="66421" y="0"/>
                    <a:pt x="148209" y="0"/>
                  </a:cubicBezTo>
                  <a:lnTo>
                    <a:pt x="3260471" y="0"/>
                  </a:lnTo>
                  <a:cubicBezTo>
                    <a:pt x="3342386" y="0"/>
                    <a:pt x="3408680" y="66421"/>
                    <a:pt x="3408680" y="148209"/>
                  </a:cubicBezTo>
                  <a:lnTo>
                    <a:pt x="3408680" y="1797431"/>
                  </a:lnTo>
                  <a:cubicBezTo>
                    <a:pt x="3408680" y="1879346"/>
                    <a:pt x="3342259" y="1945640"/>
                    <a:pt x="3260471" y="1945640"/>
                  </a:cubicBezTo>
                  <a:lnTo>
                    <a:pt x="148209" y="1945640"/>
                  </a:lnTo>
                  <a:cubicBezTo>
                    <a:pt x="66421" y="1945640"/>
                    <a:pt x="0" y="1879219"/>
                    <a:pt x="0" y="1797431"/>
                  </a:cubicBezTo>
                  <a:close/>
                </a:path>
              </a:pathLst>
            </a:custGeom>
            <a:solidFill>
              <a:srgbClr val="16213E"/>
            </a:solidFill>
            <a:ln w="19050" cap="sq">
              <a:solidFill>
                <a:srgbClr val="E2E8F0"/>
              </a:solidFill>
              <a:prstDash val="solid"/>
              <a:miter/>
            </a:ln>
          </p:spPr>
        </p:sp>
      </p:grpSp>
      <p:grpSp>
        <p:nvGrpSpPr>
          <p:cNvPr name="Group 34" id="34"/>
          <p:cNvGrpSpPr/>
          <p:nvPr/>
        </p:nvGrpSpPr>
        <p:grpSpPr>
          <a:xfrm rot="0">
            <a:off x="10638815" y="2769108"/>
            <a:ext cx="2400300" cy="1440180"/>
            <a:chOff x="0" y="0"/>
            <a:chExt cx="3200400" cy="1920240"/>
          </a:xfrm>
        </p:grpSpPr>
        <p:sp>
          <p:nvSpPr>
            <p:cNvPr name="Freeform 35" id="35"/>
            <p:cNvSpPr/>
            <p:nvPr/>
          </p:nvSpPr>
          <p:spPr>
            <a:xfrm flipH="false" flipV="false" rot="0">
              <a:off x="0" y="0"/>
              <a:ext cx="3200400" cy="1920240"/>
            </a:xfrm>
            <a:custGeom>
              <a:avLst/>
              <a:gdLst/>
              <a:ahLst/>
              <a:cxnLst/>
              <a:rect r="r" b="b" t="t" l="l"/>
              <a:pathLst>
                <a:path h="1920240" w="3200400">
                  <a:moveTo>
                    <a:pt x="0" y="0"/>
                  </a:moveTo>
                  <a:lnTo>
                    <a:pt x="3200400" y="0"/>
                  </a:lnTo>
                  <a:lnTo>
                    <a:pt x="3200400" y="1920240"/>
                  </a:lnTo>
                  <a:lnTo>
                    <a:pt x="0" y="1920240"/>
                  </a:lnTo>
                  <a:close/>
                </a:path>
              </a:pathLst>
            </a:custGeom>
            <a:blipFill>
              <a:blip r:embed="rId3">
                <a:alphaModFix amt="0"/>
              </a:blip>
              <a:stretch>
                <a:fillRect l="-26982" t="0" r="-26982" b="0"/>
              </a:stretch>
            </a:blipFill>
          </p:spPr>
        </p:sp>
        <p:sp>
          <p:nvSpPr>
            <p:cNvPr name="TextBox 36" id="36"/>
            <p:cNvSpPr txBox="true"/>
            <p:nvPr/>
          </p:nvSpPr>
          <p:spPr>
            <a:xfrm>
              <a:off x="0" y="-38100"/>
              <a:ext cx="3200400" cy="195834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LangGraph Agents</a:t>
              </a:r>
            </a:p>
          </p:txBody>
        </p:sp>
      </p:grpSp>
      <p:grpSp>
        <p:nvGrpSpPr>
          <p:cNvPr name="Group 37" id="37"/>
          <p:cNvGrpSpPr/>
          <p:nvPr/>
        </p:nvGrpSpPr>
        <p:grpSpPr>
          <a:xfrm rot="0">
            <a:off x="13080263" y="3317748"/>
            <a:ext cx="438912" cy="342900"/>
            <a:chOff x="0" y="0"/>
            <a:chExt cx="585216" cy="457200"/>
          </a:xfrm>
        </p:grpSpPr>
        <p:sp>
          <p:nvSpPr>
            <p:cNvPr name="Freeform 38" id="38"/>
            <p:cNvSpPr/>
            <p:nvPr/>
          </p:nvSpPr>
          <p:spPr>
            <a:xfrm flipH="false" flipV="false" rot="0">
              <a:off x="0" y="0"/>
              <a:ext cx="585216" cy="457200"/>
            </a:xfrm>
            <a:custGeom>
              <a:avLst/>
              <a:gdLst/>
              <a:ahLst/>
              <a:cxnLst/>
              <a:rect r="r" b="b" t="t" l="l"/>
              <a:pathLst>
                <a:path h="457200" w="585216">
                  <a:moveTo>
                    <a:pt x="0" y="114300"/>
                  </a:moveTo>
                  <a:lnTo>
                    <a:pt x="356616" y="114300"/>
                  </a:lnTo>
                  <a:lnTo>
                    <a:pt x="356616" y="0"/>
                  </a:lnTo>
                  <a:lnTo>
                    <a:pt x="585216" y="228600"/>
                  </a:lnTo>
                  <a:lnTo>
                    <a:pt x="356616" y="457200"/>
                  </a:lnTo>
                  <a:lnTo>
                    <a:pt x="356616" y="342900"/>
                  </a:lnTo>
                  <a:lnTo>
                    <a:pt x="0" y="342900"/>
                  </a:lnTo>
                  <a:close/>
                </a:path>
              </a:pathLst>
            </a:custGeom>
            <a:solidFill>
              <a:srgbClr val="2DD4BF"/>
            </a:solidFill>
          </p:spPr>
        </p:sp>
      </p:grpSp>
      <p:grpSp>
        <p:nvGrpSpPr>
          <p:cNvPr name="Group 39" id="39"/>
          <p:cNvGrpSpPr/>
          <p:nvPr/>
        </p:nvGrpSpPr>
        <p:grpSpPr>
          <a:xfrm rot="0">
            <a:off x="13482218" y="2759583"/>
            <a:ext cx="2556510" cy="1459230"/>
            <a:chOff x="0" y="0"/>
            <a:chExt cx="3408680" cy="1945640"/>
          </a:xfrm>
        </p:grpSpPr>
        <p:sp>
          <p:nvSpPr>
            <p:cNvPr name="Freeform 40" id="40"/>
            <p:cNvSpPr/>
            <p:nvPr/>
          </p:nvSpPr>
          <p:spPr>
            <a:xfrm flipH="false" flipV="false" rot="0">
              <a:off x="0" y="0"/>
              <a:ext cx="3408680" cy="1945640"/>
            </a:xfrm>
            <a:custGeom>
              <a:avLst/>
              <a:gdLst/>
              <a:ahLst/>
              <a:cxnLst/>
              <a:rect r="r" b="b" t="t" l="l"/>
              <a:pathLst>
                <a:path h="1945640" w="3408680">
                  <a:moveTo>
                    <a:pt x="0" y="148209"/>
                  </a:moveTo>
                  <a:cubicBezTo>
                    <a:pt x="0" y="66421"/>
                    <a:pt x="66421" y="0"/>
                    <a:pt x="148209" y="0"/>
                  </a:cubicBezTo>
                  <a:lnTo>
                    <a:pt x="3260471" y="0"/>
                  </a:lnTo>
                  <a:cubicBezTo>
                    <a:pt x="3342386" y="0"/>
                    <a:pt x="3408680" y="66421"/>
                    <a:pt x="3408680" y="148209"/>
                  </a:cubicBezTo>
                  <a:lnTo>
                    <a:pt x="3408680" y="1797431"/>
                  </a:lnTo>
                  <a:cubicBezTo>
                    <a:pt x="3408680" y="1879346"/>
                    <a:pt x="3342259" y="1945640"/>
                    <a:pt x="3260471" y="1945640"/>
                  </a:cubicBezTo>
                  <a:lnTo>
                    <a:pt x="148209" y="1945640"/>
                  </a:lnTo>
                  <a:cubicBezTo>
                    <a:pt x="66421" y="1945640"/>
                    <a:pt x="0" y="1879219"/>
                    <a:pt x="0" y="1797431"/>
                  </a:cubicBezTo>
                  <a:close/>
                </a:path>
              </a:pathLst>
            </a:custGeom>
            <a:solidFill>
              <a:srgbClr val="FFFFFF"/>
            </a:solidFill>
            <a:ln w="19050" cap="sq">
              <a:solidFill>
                <a:srgbClr val="E2E8F0"/>
              </a:solidFill>
              <a:prstDash val="solid"/>
              <a:miter/>
            </a:ln>
          </p:spPr>
        </p:sp>
      </p:grpSp>
      <p:grpSp>
        <p:nvGrpSpPr>
          <p:cNvPr name="Group 41" id="41"/>
          <p:cNvGrpSpPr/>
          <p:nvPr/>
        </p:nvGrpSpPr>
        <p:grpSpPr>
          <a:xfrm rot="0">
            <a:off x="13560323" y="2769108"/>
            <a:ext cx="2400300" cy="1440180"/>
            <a:chOff x="0" y="0"/>
            <a:chExt cx="3200400" cy="1920240"/>
          </a:xfrm>
        </p:grpSpPr>
        <p:sp>
          <p:nvSpPr>
            <p:cNvPr name="Freeform 42" id="42"/>
            <p:cNvSpPr/>
            <p:nvPr/>
          </p:nvSpPr>
          <p:spPr>
            <a:xfrm flipH="false" flipV="false" rot="0">
              <a:off x="0" y="0"/>
              <a:ext cx="3200400" cy="1920240"/>
            </a:xfrm>
            <a:custGeom>
              <a:avLst/>
              <a:gdLst/>
              <a:ahLst/>
              <a:cxnLst/>
              <a:rect r="r" b="b" t="t" l="l"/>
              <a:pathLst>
                <a:path h="1920240" w="3200400">
                  <a:moveTo>
                    <a:pt x="0" y="0"/>
                  </a:moveTo>
                  <a:lnTo>
                    <a:pt x="3200400" y="0"/>
                  </a:lnTo>
                  <a:lnTo>
                    <a:pt x="3200400" y="1920240"/>
                  </a:lnTo>
                  <a:lnTo>
                    <a:pt x="0" y="1920240"/>
                  </a:lnTo>
                  <a:close/>
                </a:path>
              </a:pathLst>
            </a:custGeom>
            <a:blipFill>
              <a:blip r:embed="rId3">
                <a:alphaModFix amt="0"/>
              </a:blip>
              <a:stretch>
                <a:fillRect l="-26982" t="0" r="-26982" b="0"/>
              </a:stretch>
            </a:blipFill>
          </p:spPr>
        </p:sp>
        <p:sp>
          <p:nvSpPr>
            <p:cNvPr name="TextBox 43" id="43"/>
            <p:cNvSpPr txBox="true"/>
            <p:nvPr/>
          </p:nvSpPr>
          <p:spPr>
            <a:xfrm>
              <a:off x="0" y="-38100"/>
              <a:ext cx="3200400" cy="1958340"/>
            </a:xfrm>
            <a:prstGeom prst="rect">
              <a:avLst/>
            </a:prstGeom>
          </p:spPr>
          <p:txBody>
            <a:bodyPr anchor="ctr" rtlCol="false" tIns="0" lIns="0" bIns="0" rIns="0"/>
            <a:lstStyle/>
            <a:p>
              <a:pPr algn="ctr">
                <a:lnSpc>
                  <a:spcPts val="2070"/>
                </a:lnSpc>
              </a:pPr>
              <a:r>
                <a:rPr lang="en-US" sz="1725" b="true">
                  <a:solidFill>
                    <a:srgbClr val="17213B"/>
                  </a:solidFill>
                  <a:latin typeface="Calibri (MS) Bold"/>
                  <a:ea typeface="Calibri (MS) Bold"/>
                  <a:cs typeface="Calibri (MS) Bold"/>
                  <a:sym typeface="Calibri (MS) Bold"/>
                </a:rPr>
                <a:t>Generated Content</a:t>
              </a:r>
            </a:p>
          </p:txBody>
        </p:sp>
      </p:grpSp>
      <p:grpSp>
        <p:nvGrpSpPr>
          <p:cNvPr name="Group 44" id="44"/>
          <p:cNvGrpSpPr/>
          <p:nvPr/>
        </p:nvGrpSpPr>
        <p:grpSpPr>
          <a:xfrm rot="0">
            <a:off x="960120" y="4869180"/>
            <a:ext cx="8229600" cy="480060"/>
            <a:chOff x="0" y="0"/>
            <a:chExt cx="10972800" cy="640080"/>
          </a:xfrm>
        </p:grpSpPr>
        <p:sp>
          <p:nvSpPr>
            <p:cNvPr name="Freeform 45" id="45"/>
            <p:cNvSpPr/>
            <p:nvPr/>
          </p:nvSpPr>
          <p:spPr>
            <a:xfrm flipH="false" flipV="false" rot="0">
              <a:off x="0" y="0"/>
              <a:ext cx="10972800" cy="640080"/>
            </a:xfrm>
            <a:custGeom>
              <a:avLst/>
              <a:gdLst/>
              <a:ahLst/>
              <a:cxnLst/>
              <a:rect r="r" b="b" t="t" l="l"/>
              <a:pathLst>
                <a:path h="640080" w="10972800">
                  <a:moveTo>
                    <a:pt x="0" y="0"/>
                  </a:moveTo>
                  <a:lnTo>
                    <a:pt x="10972800" y="0"/>
                  </a:lnTo>
                  <a:lnTo>
                    <a:pt x="10972800" y="640080"/>
                  </a:lnTo>
                  <a:lnTo>
                    <a:pt x="0" y="640080"/>
                  </a:lnTo>
                  <a:close/>
                </a:path>
              </a:pathLst>
            </a:custGeom>
            <a:blipFill>
              <a:blip r:embed="rId3">
                <a:alphaModFix amt="0"/>
              </a:blip>
              <a:stretch>
                <a:fillRect l="0" t="-284029" r="0" b="-284029"/>
              </a:stretch>
            </a:blipFill>
          </p:spPr>
        </p:sp>
        <p:sp>
          <p:nvSpPr>
            <p:cNvPr name="TextBox 46" id="46"/>
            <p:cNvSpPr txBox="true"/>
            <p:nvPr/>
          </p:nvSpPr>
          <p:spPr>
            <a:xfrm>
              <a:off x="0" y="-57150"/>
              <a:ext cx="10972800" cy="697230"/>
            </a:xfrm>
            <a:prstGeom prst="rect">
              <a:avLst/>
            </a:prstGeom>
          </p:spPr>
          <p:txBody>
            <a:bodyPr anchor="ctr" rtlCol="false" tIns="0" lIns="0" bIns="0" rIns="0"/>
            <a:lstStyle/>
            <a:p>
              <a:pPr algn="l">
                <a:lnSpc>
                  <a:spcPts val="2700"/>
                </a:lnSpc>
              </a:pPr>
              <a:r>
                <a:rPr lang="en-US" sz="2250" b="true">
                  <a:solidFill>
                    <a:srgbClr val="17213B"/>
                  </a:solidFill>
                  <a:latin typeface="Calibri (MS) Bold"/>
                  <a:ea typeface="Calibri (MS) Bold"/>
                  <a:cs typeface="Calibri (MS) Bold"/>
                  <a:sym typeface="Calibri (MS) Bold"/>
                </a:rPr>
                <a:t>Supported Content Types</a:t>
              </a:r>
            </a:p>
          </p:txBody>
        </p:sp>
      </p:grpSp>
      <p:grpSp>
        <p:nvGrpSpPr>
          <p:cNvPr name="Group 47" id="47"/>
          <p:cNvGrpSpPr/>
          <p:nvPr/>
        </p:nvGrpSpPr>
        <p:grpSpPr>
          <a:xfrm rot="0">
            <a:off x="769868" y="5547836"/>
            <a:ext cx="3141536" cy="2688908"/>
            <a:chOff x="0" y="0"/>
            <a:chExt cx="4188714" cy="3585210"/>
          </a:xfrm>
        </p:grpSpPr>
        <p:sp>
          <p:nvSpPr>
            <p:cNvPr name="Freeform 48" id="48"/>
            <p:cNvSpPr/>
            <p:nvPr/>
          </p:nvSpPr>
          <p:spPr>
            <a:xfrm flipH="false" flipV="false" rot="0">
              <a:off x="0" y="0"/>
              <a:ext cx="4188714" cy="3585210"/>
            </a:xfrm>
            <a:custGeom>
              <a:avLst/>
              <a:gdLst/>
              <a:ahLst/>
              <a:cxnLst/>
              <a:rect r="r" b="b" t="t" l="l"/>
              <a:pathLst>
                <a:path h="3585210" w="4188714">
                  <a:moveTo>
                    <a:pt x="0" y="147066"/>
                  </a:moveTo>
                  <a:cubicBezTo>
                    <a:pt x="0" y="65913"/>
                    <a:pt x="65913" y="0"/>
                    <a:pt x="147066" y="0"/>
                  </a:cubicBezTo>
                  <a:lnTo>
                    <a:pt x="4041648" y="0"/>
                  </a:lnTo>
                  <a:cubicBezTo>
                    <a:pt x="4122928" y="0"/>
                    <a:pt x="4188714" y="65913"/>
                    <a:pt x="4188714" y="147066"/>
                  </a:cubicBezTo>
                  <a:lnTo>
                    <a:pt x="4188714" y="3438144"/>
                  </a:lnTo>
                  <a:cubicBezTo>
                    <a:pt x="4188714" y="3519424"/>
                    <a:pt x="4122801" y="3585210"/>
                    <a:pt x="4041648" y="3585210"/>
                  </a:cubicBezTo>
                  <a:lnTo>
                    <a:pt x="147066" y="3585210"/>
                  </a:lnTo>
                  <a:cubicBezTo>
                    <a:pt x="65913" y="3585210"/>
                    <a:pt x="0" y="3519297"/>
                    <a:pt x="0" y="3438144"/>
                  </a:cubicBezTo>
                  <a:close/>
                </a:path>
              </a:pathLst>
            </a:custGeom>
            <a:solidFill>
              <a:srgbClr val="FFFFFF"/>
            </a:solidFill>
            <a:ln w="14288" cap="sq">
              <a:solidFill>
                <a:srgbClr val="E2E8F0"/>
              </a:solidFill>
              <a:prstDash val="solid"/>
              <a:miter/>
            </a:ln>
          </p:spPr>
        </p:sp>
      </p:grpSp>
      <p:grpSp>
        <p:nvGrpSpPr>
          <p:cNvPr name="Group 49" id="49"/>
          <p:cNvGrpSpPr/>
          <p:nvPr/>
        </p:nvGrpSpPr>
        <p:grpSpPr>
          <a:xfrm rot="0">
            <a:off x="1757705" y="5966460"/>
            <a:ext cx="1165860" cy="1165860"/>
            <a:chOff x="0" y="0"/>
            <a:chExt cx="1554480" cy="1554480"/>
          </a:xfrm>
        </p:grpSpPr>
        <p:sp>
          <p:nvSpPr>
            <p:cNvPr name="Freeform 50" id="50"/>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F5F7FB"/>
            </a:solidFill>
          </p:spPr>
        </p:sp>
      </p:grpSp>
      <p:grpSp>
        <p:nvGrpSpPr>
          <p:cNvPr name="Group 51" id="51"/>
          <p:cNvGrpSpPr/>
          <p:nvPr/>
        </p:nvGrpSpPr>
        <p:grpSpPr>
          <a:xfrm rot="0">
            <a:off x="1897609" y="6106363"/>
            <a:ext cx="886054" cy="886054"/>
            <a:chOff x="0" y="0"/>
            <a:chExt cx="1181405" cy="1181405"/>
          </a:xfrm>
        </p:grpSpPr>
        <p:sp>
          <p:nvSpPr>
            <p:cNvPr name="Freeform 52" id="52" descr="/home/claude/pptx/icons/blog.png"/>
            <p:cNvSpPr/>
            <p:nvPr/>
          </p:nvSpPr>
          <p:spPr>
            <a:xfrm flipH="false" flipV="false" rot="0">
              <a:off x="0" y="0"/>
              <a:ext cx="1181354" cy="1181354"/>
            </a:xfrm>
            <a:custGeom>
              <a:avLst/>
              <a:gdLst/>
              <a:ahLst/>
              <a:cxnLst/>
              <a:rect r="r" b="b" t="t" l="l"/>
              <a:pathLst>
                <a:path h="1181354" w="1181354">
                  <a:moveTo>
                    <a:pt x="0" y="0"/>
                  </a:moveTo>
                  <a:lnTo>
                    <a:pt x="1181354" y="0"/>
                  </a:lnTo>
                  <a:lnTo>
                    <a:pt x="1181354" y="1181354"/>
                  </a:lnTo>
                  <a:lnTo>
                    <a:pt x="0" y="1181354"/>
                  </a:lnTo>
                  <a:lnTo>
                    <a:pt x="0" y="0"/>
                  </a:lnTo>
                  <a:close/>
                </a:path>
              </a:pathLst>
            </a:custGeom>
            <a:blipFill>
              <a:blip r:embed="rId4"/>
              <a:stretch>
                <a:fillRect l="0" t="0" r="-4" b="-4"/>
              </a:stretch>
            </a:blipFill>
          </p:spPr>
        </p:sp>
      </p:grpSp>
      <p:grpSp>
        <p:nvGrpSpPr>
          <p:cNvPr name="Group 53" id="53"/>
          <p:cNvGrpSpPr/>
          <p:nvPr/>
        </p:nvGrpSpPr>
        <p:grpSpPr>
          <a:xfrm rot="0">
            <a:off x="914171" y="7406640"/>
            <a:ext cx="2852928" cy="617220"/>
            <a:chOff x="0" y="0"/>
            <a:chExt cx="3803904" cy="822960"/>
          </a:xfrm>
        </p:grpSpPr>
        <p:sp>
          <p:nvSpPr>
            <p:cNvPr name="Freeform 54" id="54"/>
            <p:cNvSpPr/>
            <p:nvPr/>
          </p:nvSpPr>
          <p:spPr>
            <a:xfrm flipH="false" flipV="false" rot="0">
              <a:off x="0" y="0"/>
              <a:ext cx="3803904" cy="822960"/>
            </a:xfrm>
            <a:custGeom>
              <a:avLst/>
              <a:gdLst/>
              <a:ahLst/>
              <a:cxnLst/>
              <a:rect r="r" b="b" t="t" l="l"/>
              <a:pathLst>
                <a:path h="822960" w="3803904">
                  <a:moveTo>
                    <a:pt x="0" y="0"/>
                  </a:moveTo>
                  <a:lnTo>
                    <a:pt x="3803904" y="0"/>
                  </a:lnTo>
                  <a:lnTo>
                    <a:pt x="3803904" y="822960"/>
                  </a:lnTo>
                  <a:lnTo>
                    <a:pt x="0" y="822960"/>
                  </a:lnTo>
                  <a:close/>
                </a:path>
              </a:pathLst>
            </a:custGeom>
            <a:blipFill>
              <a:blip r:embed="rId3">
                <a:alphaModFix amt="0"/>
              </a:blip>
              <a:stretch>
                <a:fillRect l="0" t="-40064" r="0" b="-40064"/>
              </a:stretch>
            </a:blipFill>
          </p:spPr>
        </p:sp>
        <p:sp>
          <p:nvSpPr>
            <p:cNvPr name="TextBox 55" id="55"/>
            <p:cNvSpPr txBox="true"/>
            <p:nvPr/>
          </p:nvSpPr>
          <p:spPr>
            <a:xfrm>
              <a:off x="0" y="-38100"/>
              <a:ext cx="3803904" cy="861060"/>
            </a:xfrm>
            <a:prstGeom prst="rect">
              <a:avLst/>
            </a:prstGeom>
          </p:spPr>
          <p:txBody>
            <a:bodyPr anchor="ctr" rtlCol="false" tIns="0" lIns="0" bIns="0" rIns="0"/>
            <a:lstStyle/>
            <a:p>
              <a:pPr algn="ctr">
                <a:lnSpc>
                  <a:spcPts val="2430"/>
                </a:lnSpc>
              </a:pPr>
              <a:r>
                <a:rPr lang="en-US" sz="2025" b="true">
                  <a:solidFill>
                    <a:srgbClr val="17213B"/>
                  </a:solidFill>
                  <a:latin typeface="Calibri (MS) Bold"/>
                  <a:ea typeface="Calibri (MS) Bold"/>
                  <a:cs typeface="Calibri (MS) Bold"/>
                  <a:sym typeface="Calibri (MS) Bold"/>
                </a:rPr>
                <a:t>Blog</a:t>
              </a:r>
            </a:p>
          </p:txBody>
        </p:sp>
      </p:grpSp>
      <p:grpSp>
        <p:nvGrpSpPr>
          <p:cNvPr name="Group 56" id="56"/>
          <p:cNvGrpSpPr/>
          <p:nvPr/>
        </p:nvGrpSpPr>
        <p:grpSpPr>
          <a:xfrm rot="0">
            <a:off x="4171436" y="5547836"/>
            <a:ext cx="3141536" cy="2688908"/>
            <a:chOff x="0" y="0"/>
            <a:chExt cx="4188714" cy="3585210"/>
          </a:xfrm>
        </p:grpSpPr>
        <p:sp>
          <p:nvSpPr>
            <p:cNvPr name="Freeform 57" id="57"/>
            <p:cNvSpPr/>
            <p:nvPr/>
          </p:nvSpPr>
          <p:spPr>
            <a:xfrm flipH="false" flipV="false" rot="0">
              <a:off x="0" y="0"/>
              <a:ext cx="4188714" cy="3585210"/>
            </a:xfrm>
            <a:custGeom>
              <a:avLst/>
              <a:gdLst/>
              <a:ahLst/>
              <a:cxnLst/>
              <a:rect r="r" b="b" t="t" l="l"/>
              <a:pathLst>
                <a:path h="3585210" w="4188714">
                  <a:moveTo>
                    <a:pt x="0" y="147066"/>
                  </a:moveTo>
                  <a:cubicBezTo>
                    <a:pt x="0" y="65913"/>
                    <a:pt x="65913" y="0"/>
                    <a:pt x="147066" y="0"/>
                  </a:cubicBezTo>
                  <a:lnTo>
                    <a:pt x="4041648" y="0"/>
                  </a:lnTo>
                  <a:cubicBezTo>
                    <a:pt x="4122928" y="0"/>
                    <a:pt x="4188714" y="65913"/>
                    <a:pt x="4188714" y="147066"/>
                  </a:cubicBezTo>
                  <a:lnTo>
                    <a:pt x="4188714" y="3438144"/>
                  </a:lnTo>
                  <a:cubicBezTo>
                    <a:pt x="4188714" y="3519424"/>
                    <a:pt x="4122801" y="3585210"/>
                    <a:pt x="4041648" y="3585210"/>
                  </a:cubicBezTo>
                  <a:lnTo>
                    <a:pt x="147066" y="3585210"/>
                  </a:lnTo>
                  <a:cubicBezTo>
                    <a:pt x="65913" y="3585210"/>
                    <a:pt x="0" y="3519297"/>
                    <a:pt x="0" y="3438144"/>
                  </a:cubicBezTo>
                  <a:close/>
                </a:path>
              </a:pathLst>
            </a:custGeom>
            <a:solidFill>
              <a:srgbClr val="FFFFFF"/>
            </a:solidFill>
            <a:ln w="14288" cap="sq">
              <a:solidFill>
                <a:srgbClr val="E2E8F0"/>
              </a:solidFill>
              <a:prstDash val="solid"/>
              <a:miter/>
            </a:ln>
          </p:spPr>
        </p:sp>
      </p:grpSp>
      <p:grpSp>
        <p:nvGrpSpPr>
          <p:cNvPr name="Group 58" id="58"/>
          <p:cNvGrpSpPr/>
          <p:nvPr/>
        </p:nvGrpSpPr>
        <p:grpSpPr>
          <a:xfrm rot="0">
            <a:off x="5159273" y="5966460"/>
            <a:ext cx="1165860" cy="1165860"/>
            <a:chOff x="0" y="0"/>
            <a:chExt cx="1554480" cy="1554480"/>
          </a:xfrm>
        </p:grpSpPr>
        <p:sp>
          <p:nvSpPr>
            <p:cNvPr name="Freeform 59" id="59"/>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F5F7FB"/>
            </a:solidFill>
          </p:spPr>
        </p:sp>
      </p:grpSp>
      <p:grpSp>
        <p:nvGrpSpPr>
          <p:cNvPr name="Group 60" id="60"/>
          <p:cNvGrpSpPr/>
          <p:nvPr/>
        </p:nvGrpSpPr>
        <p:grpSpPr>
          <a:xfrm rot="0">
            <a:off x="5299177" y="6106363"/>
            <a:ext cx="886054" cy="886054"/>
            <a:chOff x="0" y="0"/>
            <a:chExt cx="1181405" cy="1181405"/>
          </a:xfrm>
        </p:grpSpPr>
        <p:sp>
          <p:nvSpPr>
            <p:cNvPr name="Freeform 61" id="61" descr="/home/claude/pptx/icons/linkedin.png"/>
            <p:cNvSpPr/>
            <p:nvPr/>
          </p:nvSpPr>
          <p:spPr>
            <a:xfrm flipH="false" flipV="false" rot="0">
              <a:off x="0" y="0"/>
              <a:ext cx="1181354" cy="1181354"/>
            </a:xfrm>
            <a:custGeom>
              <a:avLst/>
              <a:gdLst/>
              <a:ahLst/>
              <a:cxnLst/>
              <a:rect r="r" b="b" t="t" l="l"/>
              <a:pathLst>
                <a:path h="1181354" w="1181354">
                  <a:moveTo>
                    <a:pt x="0" y="0"/>
                  </a:moveTo>
                  <a:lnTo>
                    <a:pt x="1181354" y="0"/>
                  </a:lnTo>
                  <a:lnTo>
                    <a:pt x="1181354" y="1181354"/>
                  </a:lnTo>
                  <a:lnTo>
                    <a:pt x="0" y="1181354"/>
                  </a:lnTo>
                  <a:lnTo>
                    <a:pt x="0" y="0"/>
                  </a:lnTo>
                  <a:close/>
                </a:path>
              </a:pathLst>
            </a:custGeom>
            <a:blipFill>
              <a:blip r:embed="rId5"/>
              <a:stretch>
                <a:fillRect l="0" t="0" r="-4" b="-4"/>
              </a:stretch>
            </a:blipFill>
          </p:spPr>
        </p:sp>
      </p:grpSp>
      <p:grpSp>
        <p:nvGrpSpPr>
          <p:cNvPr name="Group 62" id="62"/>
          <p:cNvGrpSpPr/>
          <p:nvPr/>
        </p:nvGrpSpPr>
        <p:grpSpPr>
          <a:xfrm rot="0">
            <a:off x="4315739" y="7406640"/>
            <a:ext cx="2852928" cy="617220"/>
            <a:chOff x="0" y="0"/>
            <a:chExt cx="3803904" cy="822960"/>
          </a:xfrm>
        </p:grpSpPr>
        <p:sp>
          <p:nvSpPr>
            <p:cNvPr name="Freeform 63" id="63"/>
            <p:cNvSpPr/>
            <p:nvPr/>
          </p:nvSpPr>
          <p:spPr>
            <a:xfrm flipH="false" flipV="false" rot="0">
              <a:off x="0" y="0"/>
              <a:ext cx="3803904" cy="822960"/>
            </a:xfrm>
            <a:custGeom>
              <a:avLst/>
              <a:gdLst/>
              <a:ahLst/>
              <a:cxnLst/>
              <a:rect r="r" b="b" t="t" l="l"/>
              <a:pathLst>
                <a:path h="822960" w="3803904">
                  <a:moveTo>
                    <a:pt x="0" y="0"/>
                  </a:moveTo>
                  <a:lnTo>
                    <a:pt x="3803904" y="0"/>
                  </a:lnTo>
                  <a:lnTo>
                    <a:pt x="3803904" y="822960"/>
                  </a:lnTo>
                  <a:lnTo>
                    <a:pt x="0" y="822960"/>
                  </a:lnTo>
                  <a:close/>
                </a:path>
              </a:pathLst>
            </a:custGeom>
            <a:blipFill>
              <a:blip r:embed="rId3">
                <a:alphaModFix amt="0"/>
              </a:blip>
              <a:stretch>
                <a:fillRect l="0" t="-40064" r="0" b="-40064"/>
              </a:stretch>
            </a:blipFill>
          </p:spPr>
        </p:sp>
        <p:sp>
          <p:nvSpPr>
            <p:cNvPr name="TextBox 64" id="64"/>
            <p:cNvSpPr txBox="true"/>
            <p:nvPr/>
          </p:nvSpPr>
          <p:spPr>
            <a:xfrm>
              <a:off x="0" y="-38100"/>
              <a:ext cx="3803904" cy="861060"/>
            </a:xfrm>
            <a:prstGeom prst="rect">
              <a:avLst/>
            </a:prstGeom>
          </p:spPr>
          <p:txBody>
            <a:bodyPr anchor="ctr" rtlCol="false" tIns="0" lIns="0" bIns="0" rIns="0"/>
            <a:lstStyle/>
            <a:p>
              <a:pPr algn="ctr">
                <a:lnSpc>
                  <a:spcPts val="2430"/>
                </a:lnSpc>
              </a:pPr>
              <a:r>
                <a:rPr lang="en-US" sz="2025" b="true">
                  <a:solidFill>
                    <a:srgbClr val="17213B"/>
                  </a:solidFill>
                  <a:latin typeface="Calibri (MS) Bold"/>
                  <a:ea typeface="Calibri (MS) Bold"/>
                  <a:cs typeface="Calibri (MS) Bold"/>
                  <a:sym typeface="Calibri (MS) Bold"/>
                </a:rPr>
                <a:t>LinkedIn</a:t>
              </a:r>
            </a:p>
          </p:txBody>
        </p:sp>
      </p:grpSp>
      <p:grpSp>
        <p:nvGrpSpPr>
          <p:cNvPr name="Group 65" id="65"/>
          <p:cNvGrpSpPr/>
          <p:nvPr/>
        </p:nvGrpSpPr>
        <p:grpSpPr>
          <a:xfrm rot="0">
            <a:off x="7573004" y="5547836"/>
            <a:ext cx="3141536" cy="2688908"/>
            <a:chOff x="0" y="0"/>
            <a:chExt cx="4188714" cy="3585210"/>
          </a:xfrm>
        </p:grpSpPr>
        <p:sp>
          <p:nvSpPr>
            <p:cNvPr name="Freeform 66" id="66"/>
            <p:cNvSpPr/>
            <p:nvPr/>
          </p:nvSpPr>
          <p:spPr>
            <a:xfrm flipH="false" flipV="false" rot="0">
              <a:off x="0" y="0"/>
              <a:ext cx="4188714" cy="3585210"/>
            </a:xfrm>
            <a:custGeom>
              <a:avLst/>
              <a:gdLst/>
              <a:ahLst/>
              <a:cxnLst/>
              <a:rect r="r" b="b" t="t" l="l"/>
              <a:pathLst>
                <a:path h="3585210" w="4188714">
                  <a:moveTo>
                    <a:pt x="0" y="147066"/>
                  </a:moveTo>
                  <a:cubicBezTo>
                    <a:pt x="0" y="65913"/>
                    <a:pt x="65913" y="0"/>
                    <a:pt x="147066" y="0"/>
                  </a:cubicBezTo>
                  <a:lnTo>
                    <a:pt x="4041648" y="0"/>
                  </a:lnTo>
                  <a:cubicBezTo>
                    <a:pt x="4122928" y="0"/>
                    <a:pt x="4188714" y="65913"/>
                    <a:pt x="4188714" y="147066"/>
                  </a:cubicBezTo>
                  <a:lnTo>
                    <a:pt x="4188714" y="3438144"/>
                  </a:lnTo>
                  <a:cubicBezTo>
                    <a:pt x="4188714" y="3519424"/>
                    <a:pt x="4122801" y="3585210"/>
                    <a:pt x="4041648" y="3585210"/>
                  </a:cubicBezTo>
                  <a:lnTo>
                    <a:pt x="147066" y="3585210"/>
                  </a:lnTo>
                  <a:cubicBezTo>
                    <a:pt x="65913" y="3585210"/>
                    <a:pt x="0" y="3519297"/>
                    <a:pt x="0" y="3438144"/>
                  </a:cubicBezTo>
                  <a:close/>
                </a:path>
              </a:pathLst>
            </a:custGeom>
            <a:solidFill>
              <a:srgbClr val="FFFFFF"/>
            </a:solidFill>
            <a:ln w="14288" cap="sq">
              <a:solidFill>
                <a:srgbClr val="E2E8F0"/>
              </a:solidFill>
              <a:prstDash val="solid"/>
              <a:miter/>
            </a:ln>
          </p:spPr>
        </p:sp>
      </p:grpSp>
      <p:grpSp>
        <p:nvGrpSpPr>
          <p:cNvPr name="Group 67" id="67"/>
          <p:cNvGrpSpPr/>
          <p:nvPr/>
        </p:nvGrpSpPr>
        <p:grpSpPr>
          <a:xfrm rot="0">
            <a:off x="8560841" y="5966460"/>
            <a:ext cx="1165860" cy="1165860"/>
            <a:chOff x="0" y="0"/>
            <a:chExt cx="1554480" cy="1554480"/>
          </a:xfrm>
        </p:grpSpPr>
        <p:sp>
          <p:nvSpPr>
            <p:cNvPr name="Freeform 68" id="68"/>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F5F7FB"/>
            </a:solidFill>
          </p:spPr>
        </p:sp>
      </p:grpSp>
      <p:grpSp>
        <p:nvGrpSpPr>
          <p:cNvPr name="Group 69" id="69"/>
          <p:cNvGrpSpPr/>
          <p:nvPr/>
        </p:nvGrpSpPr>
        <p:grpSpPr>
          <a:xfrm rot="0">
            <a:off x="8700745" y="6106363"/>
            <a:ext cx="886054" cy="886054"/>
            <a:chOff x="0" y="0"/>
            <a:chExt cx="1181405" cy="1181405"/>
          </a:xfrm>
        </p:grpSpPr>
        <p:sp>
          <p:nvSpPr>
            <p:cNvPr name="Freeform 70" id="70" descr="/home/claude/pptx/icons/tweet.png"/>
            <p:cNvSpPr/>
            <p:nvPr/>
          </p:nvSpPr>
          <p:spPr>
            <a:xfrm flipH="false" flipV="false" rot="0">
              <a:off x="0" y="0"/>
              <a:ext cx="1181354" cy="1181354"/>
            </a:xfrm>
            <a:custGeom>
              <a:avLst/>
              <a:gdLst/>
              <a:ahLst/>
              <a:cxnLst/>
              <a:rect r="r" b="b" t="t" l="l"/>
              <a:pathLst>
                <a:path h="1181354" w="1181354">
                  <a:moveTo>
                    <a:pt x="0" y="0"/>
                  </a:moveTo>
                  <a:lnTo>
                    <a:pt x="1181354" y="0"/>
                  </a:lnTo>
                  <a:lnTo>
                    <a:pt x="1181354" y="1181354"/>
                  </a:lnTo>
                  <a:lnTo>
                    <a:pt x="0" y="1181354"/>
                  </a:lnTo>
                  <a:lnTo>
                    <a:pt x="0" y="0"/>
                  </a:lnTo>
                  <a:close/>
                </a:path>
              </a:pathLst>
            </a:custGeom>
            <a:blipFill>
              <a:blip r:embed="rId6"/>
              <a:stretch>
                <a:fillRect l="0" t="0" r="-4" b="-4"/>
              </a:stretch>
            </a:blipFill>
          </p:spPr>
        </p:sp>
      </p:grpSp>
      <p:grpSp>
        <p:nvGrpSpPr>
          <p:cNvPr name="Group 71" id="71"/>
          <p:cNvGrpSpPr/>
          <p:nvPr/>
        </p:nvGrpSpPr>
        <p:grpSpPr>
          <a:xfrm rot="0">
            <a:off x="7717307" y="7406640"/>
            <a:ext cx="2852928" cy="617220"/>
            <a:chOff x="0" y="0"/>
            <a:chExt cx="3803904" cy="822960"/>
          </a:xfrm>
        </p:grpSpPr>
        <p:sp>
          <p:nvSpPr>
            <p:cNvPr name="Freeform 72" id="72"/>
            <p:cNvSpPr/>
            <p:nvPr/>
          </p:nvSpPr>
          <p:spPr>
            <a:xfrm flipH="false" flipV="false" rot="0">
              <a:off x="0" y="0"/>
              <a:ext cx="3803904" cy="822960"/>
            </a:xfrm>
            <a:custGeom>
              <a:avLst/>
              <a:gdLst/>
              <a:ahLst/>
              <a:cxnLst/>
              <a:rect r="r" b="b" t="t" l="l"/>
              <a:pathLst>
                <a:path h="822960" w="3803904">
                  <a:moveTo>
                    <a:pt x="0" y="0"/>
                  </a:moveTo>
                  <a:lnTo>
                    <a:pt x="3803904" y="0"/>
                  </a:lnTo>
                  <a:lnTo>
                    <a:pt x="3803904" y="822960"/>
                  </a:lnTo>
                  <a:lnTo>
                    <a:pt x="0" y="822960"/>
                  </a:lnTo>
                  <a:close/>
                </a:path>
              </a:pathLst>
            </a:custGeom>
            <a:blipFill>
              <a:blip r:embed="rId3">
                <a:alphaModFix amt="0"/>
              </a:blip>
              <a:stretch>
                <a:fillRect l="0" t="-40064" r="0" b="-40064"/>
              </a:stretch>
            </a:blipFill>
          </p:spPr>
        </p:sp>
        <p:sp>
          <p:nvSpPr>
            <p:cNvPr name="TextBox 73" id="73"/>
            <p:cNvSpPr txBox="true"/>
            <p:nvPr/>
          </p:nvSpPr>
          <p:spPr>
            <a:xfrm>
              <a:off x="0" y="-38100"/>
              <a:ext cx="3803904" cy="861060"/>
            </a:xfrm>
            <a:prstGeom prst="rect">
              <a:avLst/>
            </a:prstGeom>
          </p:spPr>
          <p:txBody>
            <a:bodyPr anchor="ctr" rtlCol="false" tIns="0" lIns="0" bIns="0" rIns="0"/>
            <a:lstStyle/>
            <a:p>
              <a:pPr algn="ctr">
                <a:lnSpc>
                  <a:spcPts val="2430"/>
                </a:lnSpc>
              </a:pPr>
              <a:r>
                <a:rPr lang="en-US" sz="2025" b="true">
                  <a:solidFill>
                    <a:srgbClr val="17213B"/>
                  </a:solidFill>
                  <a:latin typeface="Calibri (MS) Bold"/>
                  <a:ea typeface="Calibri (MS) Bold"/>
                  <a:cs typeface="Calibri (MS) Bold"/>
                  <a:sym typeface="Calibri (MS) Bold"/>
                </a:rPr>
                <a:t>Tweet</a:t>
              </a:r>
            </a:p>
          </p:txBody>
        </p:sp>
      </p:grpSp>
      <p:grpSp>
        <p:nvGrpSpPr>
          <p:cNvPr name="Group 74" id="74"/>
          <p:cNvGrpSpPr/>
          <p:nvPr/>
        </p:nvGrpSpPr>
        <p:grpSpPr>
          <a:xfrm rot="0">
            <a:off x="10974572" y="5547836"/>
            <a:ext cx="3141536" cy="2688908"/>
            <a:chOff x="0" y="0"/>
            <a:chExt cx="4188714" cy="3585210"/>
          </a:xfrm>
        </p:grpSpPr>
        <p:sp>
          <p:nvSpPr>
            <p:cNvPr name="Freeform 75" id="75"/>
            <p:cNvSpPr/>
            <p:nvPr/>
          </p:nvSpPr>
          <p:spPr>
            <a:xfrm flipH="false" flipV="false" rot="0">
              <a:off x="0" y="0"/>
              <a:ext cx="4188714" cy="3585210"/>
            </a:xfrm>
            <a:custGeom>
              <a:avLst/>
              <a:gdLst/>
              <a:ahLst/>
              <a:cxnLst/>
              <a:rect r="r" b="b" t="t" l="l"/>
              <a:pathLst>
                <a:path h="3585210" w="4188714">
                  <a:moveTo>
                    <a:pt x="0" y="147066"/>
                  </a:moveTo>
                  <a:cubicBezTo>
                    <a:pt x="0" y="65913"/>
                    <a:pt x="65913" y="0"/>
                    <a:pt x="147066" y="0"/>
                  </a:cubicBezTo>
                  <a:lnTo>
                    <a:pt x="4041648" y="0"/>
                  </a:lnTo>
                  <a:cubicBezTo>
                    <a:pt x="4122928" y="0"/>
                    <a:pt x="4188714" y="65913"/>
                    <a:pt x="4188714" y="147066"/>
                  </a:cubicBezTo>
                  <a:lnTo>
                    <a:pt x="4188714" y="3438144"/>
                  </a:lnTo>
                  <a:cubicBezTo>
                    <a:pt x="4188714" y="3519424"/>
                    <a:pt x="4122801" y="3585210"/>
                    <a:pt x="4041648" y="3585210"/>
                  </a:cubicBezTo>
                  <a:lnTo>
                    <a:pt x="147066" y="3585210"/>
                  </a:lnTo>
                  <a:cubicBezTo>
                    <a:pt x="65913" y="3585210"/>
                    <a:pt x="0" y="3519297"/>
                    <a:pt x="0" y="3438144"/>
                  </a:cubicBezTo>
                  <a:close/>
                </a:path>
              </a:pathLst>
            </a:custGeom>
            <a:solidFill>
              <a:srgbClr val="FFFFFF"/>
            </a:solidFill>
            <a:ln w="14288" cap="sq">
              <a:solidFill>
                <a:srgbClr val="E2E8F0"/>
              </a:solidFill>
              <a:prstDash val="solid"/>
              <a:miter/>
            </a:ln>
          </p:spPr>
        </p:sp>
      </p:grpSp>
      <p:grpSp>
        <p:nvGrpSpPr>
          <p:cNvPr name="Group 76" id="76"/>
          <p:cNvGrpSpPr/>
          <p:nvPr/>
        </p:nvGrpSpPr>
        <p:grpSpPr>
          <a:xfrm rot="0">
            <a:off x="11962409" y="5966460"/>
            <a:ext cx="1165860" cy="1165860"/>
            <a:chOff x="0" y="0"/>
            <a:chExt cx="1554480" cy="1554480"/>
          </a:xfrm>
        </p:grpSpPr>
        <p:sp>
          <p:nvSpPr>
            <p:cNvPr name="Freeform 77" id="77"/>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F5F7FB"/>
            </a:solidFill>
          </p:spPr>
        </p:sp>
      </p:grpSp>
      <p:grpSp>
        <p:nvGrpSpPr>
          <p:cNvPr name="Group 78" id="78"/>
          <p:cNvGrpSpPr/>
          <p:nvPr/>
        </p:nvGrpSpPr>
        <p:grpSpPr>
          <a:xfrm rot="0">
            <a:off x="12102313" y="6106363"/>
            <a:ext cx="886054" cy="886054"/>
            <a:chOff x="0" y="0"/>
            <a:chExt cx="1181405" cy="1181405"/>
          </a:xfrm>
        </p:grpSpPr>
        <p:sp>
          <p:nvSpPr>
            <p:cNvPr name="Freeform 79" id="79" descr="/home/claude/pptx/icons/instagram.png"/>
            <p:cNvSpPr/>
            <p:nvPr/>
          </p:nvSpPr>
          <p:spPr>
            <a:xfrm flipH="false" flipV="false" rot="0">
              <a:off x="0" y="0"/>
              <a:ext cx="1181354" cy="1181354"/>
            </a:xfrm>
            <a:custGeom>
              <a:avLst/>
              <a:gdLst/>
              <a:ahLst/>
              <a:cxnLst/>
              <a:rect r="r" b="b" t="t" l="l"/>
              <a:pathLst>
                <a:path h="1181354" w="1181354">
                  <a:moveTo>
                    <a:pt x="0" y="0"/>
                  </a:moveTo>
                  <a:lnTo>
                    <a:pt x="1181354" y="0"/>
                  </a:lnTo>
                  <a:lnTo>
                    <a:pt x="1181354" y="1181354"/>
                  </a:lnTo>
                  <a:lnTo>
                    <a:pt x="0" y="1181354"/>
                  </a:lnTo>
                  <a:lnTo>
                    <a:pt x="0" y="0"/>
                  </a:lnTo>
                  <a:close/>
                </a:path>
              </a:pathLst>
            </a:custGeom>
            <a:blipFill>
              <a:blip r:embed="rId7"/>
              <a:stretch>
                <a:fillRect l="0" t="0" r="-4" b="-4"/>
              </a:stretch>
            </a:blipFill>
          </p:spPr>
        </p:sp>
      </p:grpSp>
      <p:grpSp>
        <p:nvGrpSpPr>
          <p:cNvPr name="Group 80" id="80"/>
          <p:cNvGrpSpPr/>
          <p:nvPr/>
        </p:nvGrpSpPr>
        <p:grpSpPr>
          <a:xfrm rot="0">
            <a:off x="11118875" y="7406640"/>
            <a:ext cx="2852928" cy="617220"/>
            <a:chOff x="0" y="0"/>
            <a:chExt cx="3803904" cy="822960"/>
          </a:xfrm>
        </p:grpSpPr>
        <p:sp>
          <p:nvSpPr>
            <p:cNvPr name="Freeform 81" id="81"/>
            <p:cNvSpPr/>
            <p:nvPr/>
          </p:nvSpPr>
          <p:spPr>
            <a:xfrm flipH="false" flipV="false" rot="0">
              <a:off x="0" y="0"/>
              <a:ext cx="3803904" cy="822960"/>
            </a:xfrm>
            <a:custGeom>
              <a:avLst/>
              <a:gdLst/>
              <a:ahLst/>
              <a:cxnLst/>
              <a:rect r="r" b="b" t="t" l="l"/>
              <a:pathLst>
                <a:path h="822960" w="3803904">
                  <a:moveTo>
                    <a:pt x="0" y="0"/>
                  </a:moveTo>
                  <a:lnTo>
                    <a:pt x="3803904" y="0"/>
                  </a:lnTo>
                  <a:lnTo>
                    <a:pt x="3803904" y="822960"/>
                  </a:lnTo>
                  <a:lnTo>
                    <a:pt x="0" y="822960"/>
                  </a:lnTo>
                  <a:close/>
                </a:path>
              </a:pathLst>
            </a:custGeom>
            <a:blipFill>
              <a:blip r:embed="rId3">
                <a:alphaModFix amt="0"/>
              </a:blip>
              <a:stretch>
                <a:fillRect l="0" t="-40064" r="0" b="-40064"/>
              </a:stretch>
            </a:blipFill>
          </p:spPr>
        </p:sp>
        <p:sp>
          <p:nvSpPr>
            <p:cNvPr name="TextBox 82" id="82"/>
            <p:cNvSpPr txBox="true"/>
            <p:nvPr/>
          </p:nvSpPr>
          <p:spPr>
            <a:xfrm>
              <a:off x="0" y="-38100"/>
              <a:ext cx="3803904" cy="861060"/>
            </a:xfrm>
            <a:prstGeom prst="rect">
              <a:avLst/>
            </a:prstGeom>
          </p:spPr>
          <p:txBody>
            <a:bodyPr anchor="ctr" rtlCol="false" tIns="0" lIns="0" bIns="0" rIns="0"/>
            <a:lstStyle/>
            <a:p>
              <a:pPr algn="ctr">
                <a:lnSpc>
                  <a:spcPts val="2430"/>
                </a:lnSpc>
              </a:pPr>
              <a:r>
                <a:rPr lang="en-US" sz="2025" b="true">
                  <a:solidFill>
                    <a:srgbClr val="17213B"/>
                  </a:solidFill>
                  <a:latin typeface="Calibri (MS) Bold"/>
                  <a:ea typeface="Calibri (MS) Bold"/>
                  <a:cs typeface="Calibri (MS) Bold"/>
                  <a:sym typeface="Calibri (MS) Bold"/>
                </a:rPr>
                <a:t>Instagram</a:t>
              </a:r>
            </a:p>
          </p:txBody>
        </p:sp>
      </p:grpSp>
      <p:grpSp>
        <p:nvGrpSpPr>
          <p:cNvPr name="Group 83" id="83"/>
          <p:cNvGrpSpPr/>
          <p:nvPr/>
        </p:nvGrpSpPr>
        <p:grpSpPr>
          <a:xfrm rot="0">
            <a:off x="14376140" y="5547836"/>
            <a:ext cx="3141536" cy="2688908"/>
            <a:chOff x="0" y="0"/>
            <a:chExt cx="4188714" cy="3585210"/>
          </a:xfrm>
        </p:grpSpPr>
        <p:sp>
          <p:nvSpPr>
            <p:cNvPr name="Freeform 84" id="84"/>
            <p:cNvSpPr/>
            <p:nvPr/>
          </p:nvSpPr>
          <p:spPr>
            <a:xfrm flipH="false" flipV="false" rot="0">
              <a:off x="0" y="0"/>
              <a:ext cx="4188714" cy="3585210"/>
            </a:xfrm>
            <a:custGeom>
              <a:avLst/>
              <a:gdLst/>
              <a:ahLst/>
              <a:cxnLst/>
              <a:rect r="r" b="b" t="t" l="l"/>
              <a:pathLst>
                <a:path h="3585210" w="4188714">
                  <a:moveTo>
                    <a:pt x="0" y="147066"/>
                  </a:moveTo>
                  <a:cubicBezTo>
                    <a:pt x="0" y="65913"/>
                    <a:pt x="65913" y="0"/>
                    <a:pt x="147066" y="0"/>
                  </a:cubicBezTo>
                  <a:lnTo>
                    <a:pt x="4041648" y="0"/>
                  </a:lnTo>
                  <a:cubicBezTo>
                    <a:pt x="4122928" y="0"/>
                    <a:pt x="4188714" y="65913"/>
                    <a:pt x="4188714" y="147066"/>
                  </a:cubicBezTo>
                  <a:lnTo>
                    <a:pt x="4188714" y="3438144"/>
                  </a:lnTo>
                  <a:cubicBezTo>
                    <a:pt x="4188714" y="3519424"/>
                    <a:pt x="4122801" y="3585210"/>
                    <a:pt x="4041648" y="3585210"/>
                  </a:cubicBezTo>
                  <a:lnTo>
                    <a:pt x="147066" y="3585210"/>
                  </a:lnTo>
                  <a:cubicBezTo>
                    <a:pt x="65913" y="3585210"/>
                    <a:pt x="0" y="3519297"/>
                    <a:pt x="0" y="3438144"/>
                  </a:cubicBezTo>
                  <a:close/>
                </a:path>
              </a:pathLst>
            </a:custGeom>
            <a:solidFill>
              <a:srgbClr val="FFFFFF"/>
            </a:solidFill>
            <a:ln w="14288" cap="sq">
              <a:solidFill>
                <a:srgbClr val="E2E8F0"/>
              </a:solidFill>
              <a:prstDash val="solid"/>
              <a:miter/>
            </a:ln>
          </p:spPr>
        </p:sp>
      </p:grpSp>
      <p:grpSp>
        <p:nvGrpSpPr>
          <p:cNvPr name="Group 85" id="85"/>
          <p:cNvGrpSpPr/>
          <p:nvPr/>
        </p:nvGrpSpPr>
        <p:grpSpPr>
          <a:xfrm rot="0">
            <a:off x="15363977" y="5966460"/>
            <a:ext cx="1165860" cy="1165860"/>
            <a:chOff x="0" y="0"/>
            <a:chExt cx="1554480" cy="1554480"/>
          </a:xfrm>
        </p:grpSpPr>
        <p:sp>
          <p:nvSpPr>
            <p:cNvPr name="Freeform 86" id="86"/>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F5F7FB"/>
            </a:solidFill>
          </p:spPr>
        </p:sp>
      </p:grpSp>
      <p:grpSp>
        <p:nvGrpSpPr>
          <p:cNvPr name="Group 87" id="87"/>
          <p:cNvGrpSpPr/>
          <p:nvPr/>
        </p:nvGrpSpPr>
        <p:grpSpPr>
          <a:xfrm rot="0">
            <a:off x="15503881" y="6106363"/>
            <a:ext cx="886054" cy="886054"/>
            <a:chOff x="0" y="0"/>
            <a:chExt cx="1181405" cy="1181405"/>
          </a:xfrm>
        </p:grpSpPr>
        <p:sp>
          <p:nvSpPr>
            <p:cNvPr name="Freeform 88" id="88" descr="/home/claude/pptx/icons/story.png"/>
            <p:cNvSpPr/>
            <p:nvPr/>
          </p:nvSpPr>
          <p:spPr>
            <a:xfrm flipH="false" flipV="false" rot="0">
              <a:off x="0" y="0"/>
              <a:ext cx="1181354" cy="1181354"/>
            </a:xfrm>
            <a:custGeom>
              <a:avLst/>
              <a:gdLst/>
              <a:ahLst/>
              <a:cxnLst/>
              <a:rect r="r" b="b" t="t" l="l"/>
              <a:pathLst>
                <a:path h="1181354" w="1181354">
                  <a:moveTo>
                    <a:pt x="0" y="0"/>
                  </a:moveTo>
                  <a:lnTo>
                    <a:pt x="1181354" y="0"/>
                  </a:lnTo>
                  <a:lnTo>
                    <a:pt x="1181354" y="1181354"/>
                  </a:lnTo>
                  <a:lnTo>
                    <a:pt x="0" y="1181354"/>
                  </a:lnTo>
                  <a:lnTo>
                    <a:pt x="0" y="0"/>
                  </a:lnTo>
                  <a:close/>
                </a:path>
              </a:pathLst>
            </a:custGeom>
            <a:blipFill>
              <a:blip r:embed="rId8"/>
              <a:stretch>
                <a:fillRect l="0" t="0" r="-4" b="-4"/>
              </a:stretch>
            </a:blipFill>
          </p:spPr>
        </p:sp>
      </p:grpSp>
      <p:grpSp>
        <p:nvGrpSpPr>
          <p:cNvPr name="Group 89" id="89"/>
          <p:cNvGrpSpPr/>
          <p:nvPr/>
        </p:nvGrpSpPr>
        <p:grpSpPr>
          <a:xfrm rot="0">
            <a:off x="14520443" y="7406640"/>
            <a:ext cx="2852928" cy="617220"/>
            <a:chOff x="0" y="0"/>
            <a:chExt cx="3803904" cy="822960"/>
          </a:xfrm>
        </p:grpSpPr>
        <p:sp>
          <p:nvSpPr>
            <p:cNvPr name="Freeform 90" id="90"/>
            <p:cNvSpPr/>
            <p:nvPr/>
          </p:nvSpPr>
          <p:spPr>
            <a:xfrm flipH="false" flipV="false" rot="0">
              <a:off x="0" y="0"/>
              <a:ext cx="3803904" cy="822960"/>
            </a:xfrm>
            <a:custGeom>
              <a:avLst/>
              <a:gdLst/>
              <a:ahLst/>
              <a:cxnLst/>
              <a:rect r="r" b="b" t="t" l="l"/>
              <a:pathLst>
                <a:path h="822960" w="3803904">
                  <a:moveTo>
                    <a:pt x="0" y="0"/>
                  </a:moveTo>
                  <a:lnTo>
                    <a:pt x="3803904" y="0"/>
                  </a:lnTo>
                  <a:lnTo>
                    <a:pt x="3803904" y="822960"/>
                  </a:lnTo>
                  <a:lnTo>
                    <a:pt x="0" y="822960"/>
                  </a:lnTo>
                  <a:close/>
                </a:path>
              </a:pathLst>
            </a:custGeom>
            <a:blipFill>
              <a:blip r:embed="rId3">
                <a:alphaModFix amt="0"/>
              </a:blip>
              <a:stretch>
                <a:fillRect l="0" t="-40064" r="0" b="-40064"/>
              </a:stretch>
            </a:blipFill>
          </p:spPr>
        </p:sp>
        <p:sp>
          <p:nvSpPr>
            <p:cNvPr name="TextBox 91" id="91"/>
            <p:cNvSpPr txBox="true"/>
            <p:nvPr/>
          </p:nvSpPr>
          <p:spPr>
            <a:xfrm>
              <a:off x="0" y="-38100"/>
              <a:ext cx="3803904" cy="861060"/>
            </a:xfrm>
            <a:prstGeom prst="rect">
              <a:avLst/>
            </a:prstGeom>
          </p:spPr>
          <p:txBody>
            <a:bodyPr anchor="ctr" rtlCol="false" tIns="0" lIns="0" bIns="0" rIns="0"/>
            <a:lstStyle/>
            <a:p>
              <a:pPr algn="ctr">
                <a:lnSpc>
                  <a:spcPts val="2430"/>
                </a:lnSpc>
              </a:pPr>
              <a:r>
                <a:rPr lang="en-US" sz="2025" b="true">
                  <a:solidFill>
                    <a:srgbClr val="17213B"/>
                  </a:solidFill>
                  <a:latin typeface="Calibri (MS) Bold"/>
                  <a:ea typeface="Calibri (MS) Bold"/>
                  <a:cs typeface="Calibri (MS) Bold"/>
                  <a:sym typeface="Calibri (MS) Bold"/>
                </a:rPr>
                <a:t>Short Story</a:t>
              </a:r>
            </a:p>
          </p:txBody>
        </p:sp>
      </p:grpSp>
      <p:grpSp>
        <p:nvGrpSpPr>
          <p:cNvPr name="Group 92" id="92"/>
          <p:cNvGrpSpPr/>
          <p:nvPr/>
        </p:nvGrpSpPr>
        <p:grpSpPr>
          <a:xfrm rot="0">
            <a:off x="685800" y="9793224"/>
            <a:ext cx="10972800" cy="411480"/>
            <a:chOff x="0" y="0"/>
            <a:chExt cx="14630400" cy="548640"/>
          </a:xfrm>
        </p:grpSpPr>
        <p:sp>
          <p:nvSpPr>
            <p:cNvPr name="Freeform 93" id="9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94" id="9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95" id="95"/>
          <p:cNvGrpSpPr/>
          <p:nvPr/>
        </p:nvGrpSpPr>
        <p:grpSpPr>
          <a:xfrm rot="0">
            <a:off x="17282160" y="9793224"/>
            <a:ext cx="548640" cy="411480"/>
            <a:chOff x="0" y="0"/>
            <a:chExt cx="731520" cy="548640"/>
          </a:xfrm>
        </p:grpSpPr>
        <p:sp>
          <p:nvSpPr>
            <p:cNvPr name="Freeform 96" id="96"/>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97" id="97"/>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5</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2">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4 · ARCHITECTURE</a:t>
              </a:r>
            </a:p>
          </p:txBody>
        </p:sp>
      </p:grpSp>
      <p:sp>
        <p:nvSpPr>
          <p:cNvPr name="TextBox 5" id="5"/>
          <p:cNvSpPr txBox="true"/>
          <p:nvPr/>
        </p:nvSpPr>
        <p:spPr>
          <a:xfrm rot="0">
            <a:off x="1028700" y="1009650"/>
            <a:ext cx="6580693" cy="704850"/>
          </a:xfrm>
          <a:prstGeom prst="rect">
            <a:avLst/>
          </a:prstGeom>
        </p:spPr>
        <p:txBody>
          <a:bodyPr anchor="t" rtlCol="false" tIns="0" lIns="0" bIns="0" rIns="0">
            <a:spAutoFit/>
          </a:bodyPr>
          <a:lstStyle/>
          <a:p>
            <a:pPr algn="l" marL="0" indent="0" lvl="0">
              <a:lnSpc>
                <a:spcPts val="5400"/>
              </a:lnSpc>
              <a:spcBef>
                <a:spcPct val="0"/>
              </a:spcBef>
            </a:pPr>
            <a:r>
              <a:rPr lang="en-US" b="true" sz="4500" strike="noStrike" u="none">
                <a:solidFill>
                  <a:srgbClr val="17213B"/>
                </a:solidFill>
                <a:latin typeface="Cambria Bold"/>
                <a:ea typeface="Cambria Bold"/>
                <a:cs typeface="Cambria Bold"/>
                <a:sym typeface="Cambria Bold"/>
              </a:rPr>
              <a:t>Fine-Tuned LLM Strategy</a:t>
            </a:r>
          </a:p>
        </p:txBody>
      </p:sp>
      <p:grpSp>
        <p:nvGrpSpPr>
          <p:cNvPr name="Group 6" id="6"/>
          <p:cNvGrpSpPr/>
          <p:nvPr/>
        </p:nvGrpSpPr>
        <p:grpSpPr>
          <a:xfrm rot="0">
            <a:off x="2499311" y="2133708"/>
            <a:ext cx="4954982" cy="6403353"/>
            <a:chOff x="0" y="0"/>
            <a:chExt cx="6606643" cy="8537804"/>
          </a:xfrm>
        </p:grpSpPr>
        <p:grpSp>
          <p:nvGrpSpPr>
            <p:cNvPr name="Group 7" id="7"/>
            <p:cNvGrpSpPr/>
            <p:nvPr/>
          </p:nvGrpSpPr>
          <p:grpSpPr>
            <a:xfrm rot="0">
              <a:off x="0" y="0"/>
              <a:ext cx="6606643" cy="8537804"/>
              <a:chOff x="0" y="0"/>
              <a:chExt cx="6852920" cy="8856070"/>
            </a:xfrm>
          </p:grpSpPr>
          <p:sp>
            <p:nvSpPr>
              <p:cNvPr name="Freeform 8" id="8"/>
              <p:cNvSpPr/>
              <p:nvPr/>
            </p:nvSpPr>
            <p:spPr>
              <a:xfrm flipH="false" flipV="false" rot="0">
                <a:off x="0" y="0"/>
                <a:ext cx="6852920" cy="8856070"/>
              </a:xfrm>
              <a:custGeom>
                <a:avLst/>
                <a:gdLst/>
                <a:ahLst/>
                <a:cxnLst/>
                <a:rect r="r" b="b" t="t" l="l"/>
                <a:pathLst>
                  <a:path h="8856070" w="6852920">
                    <a:moveTo>
                      <a:pt x="0" y="312830"/>
                    </a:moveTo>
                    <a:cubicBezTo>
                      <a:pt x="0" y="139982"/>
                      <a:pt x="131445" y="0"/>
                      <a:pt x="293751" y="0"/>
                    </a:cubicBezTo>
                    <a:lnTo>
                      <a:pt x="6559169" y="0"/>
                    </a:lnTo>
                    <a:cubicBezTo>
                      <a:pt x="6721348" y="0"/>
                      <a:pt x="6852920" y="139982"/>
                      <a:pt x="6852920" y="312830"/>
                    </a:cubicBezTo>
                    <a:lnTo>
                      <a:pt x="6852920" y="8543241"/>
                    </a:lnTo>
                    <a:cubicBezTo>
                      <a:pt x="6852920" y="8715953"/>
                      <a:pt x="6721475" y="8856070"/>
                      <a:pt x="6559169" y="8856070"/>
                    </a:cubicBezTo>
                    <a:lnTo>
                      <a:pt x="293751" y="8856070"/>
                    </a:lnTo>
                    <a:cubicBezTo>
                      <a:pt x="131445" y="8856070"/>
                      <a:pt x="0" y="8716088"/>
                      <a:pt x="0" y="8543241"/>
                    </a:cubicBezTo>
                    <a:close/>
                  </a:path>
                </a:pathLst>
              </a:custGeom>
              <a:solidFill>
                <a:srgbClr val="1C2A4A"/>
              </a:solidFill>
              <a:ln w="23812" cap="sq">
                <a:solidFill>
                  <a:srgbClr val="16213E"/>
                </a:solidFill>
                <a:prstDash val="solid"/>
                <a:miter/>
              </a:ln>
            </p:spPr>
          </p:sp>
        </p:grpSp>
        <p:sp>
          <p:nvSpPr>
            <p:cNvPr name="TextBox 9" id="9"/>
            <p:cNvSpPr txBox="true"/>
            <p:nvPr/>
          </p:nvSpPr>
          <p:spPr>
            <a:xfrm rot="0">
              <a:off x="709851" y="521501"/>
              <a:ext cx="5409623" cy="6880225"/>
            </a:xfrm>
            <a:prstGeom prst="rect">
              <a:avLst/>
            </a:prstGeom>
          </p:spPr>
          <p:txBody>
            <a:bodyPr anchor="t" rtlCol="false" tIns="0" lIns="0" bIns="0" rIns="0">
              <a:spAutoFit/>
            </a:bodyPr>
            <a:lstStyle/>
            <a:p>
              <a:pPr algn="l" marL="0" indent="0" lvl="0">
                <a:lnSpc>
                  <a:spcPts val="2909"/>
                </a:lnSpc>
                <a:spcBef>
                  <a:spcPct val="0"/>
                </a:spcBef>
              </a:pPr>
            </a:p>
            <a:p>
              <a:pPr algn="l" marL="0" indent="0" lvl="0">
                <a:lnSpc>
                  <a:spcPts val="3149"/>
                </a:lnSpc>
                <a:spcBef>
                  <a:spcPct val="0"/>
                </a:spcBef>
              </a:pPr>
              <a:r>
                <a:rPr lang="en-US" b="true" sz="2624" strike="noStrike" u="none">
                  <a:solidFill>
                    <a:srgbClr val="FFFFFF"/>
                  </a:solidFill>
                  <a:latin typeface="Calibri (MS) Bold"/>
                  <a:ea typeface="Calibri (MS) Bold"/>
                  <a:cs typeface="Calibri (MS) Bold"/>
                  <a:sym typeface="Calibri (MS) Bold"/>
                </a:rPr>
                <a:t>GPT-2 Experiment:</a:t>
              </a:r>
            </a:p>
            <a:p>
              <a:pPr algn="l" marL="0" indent="0" lvl="0">
                <a:lnSpc>
                  <a:spcPts val="3149"/>
                </a:lnSpc>
                <a:spcBef>
                  <a:spcPct val="0"/>
                </a:spcBef>
              </a:pP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Model: GPT-2</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Dataset: roneneldan/TinyStories</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Task: Short story generation</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Training sample: 2% of dataset</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Train / Validation: 42,394 / 439</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Epochs: 3</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Batch size: 8</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Learning rate: 5e-5</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Max length: 512 tokens</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Eval loss: 1.49</a:t>
              </a:r>
            </a:p>
            <a:p>
              <a:pPr algn="l" marL="0" indent="0" lvl="0">
                <a:lnSpc>
                  <a:spcPts val="2909"/>
                </a:lnSpc>
                <a:spcBef>
                  <a:spcPct val="0"/>
                </a:spcBef>
              </a:pPr>
            </a:p>
          </p:txBody>
        </p:sp>
      </p:grpSp>
      <p:grpSp>
        <p:nvGrpSpPr>
          <p:cNvPr name="Group 10" id="10"/>
          <p:cNvGrpSpPr/>
          <p:nvPr/>
        </p:nvGrpSpPr>
        <p:grpSpPr>
          <a:xfrm rot="0">
            <a:off x="9405474" y="2133708"/>
            <a:ext cx="4954982" cy="6476784"/>
            <a:chOff x="0" y="0"/>
            <a:chExt cx="6606643" cy="8635712"/>
          </a:xfrm>
        </p:grpSpPr>
        <p:grpSp>
          <p:nvGrpSpPr>
            <p:cNvPr name="Group 11" id="11"/>
            <p:cNvGrpSpPr/>
            <p:nvPr/>
          </p:nvGrpSpPr>
          <p:grpSpPr>
            <a:xfrm rot="0">
              <a:off x="0" y="0"/>
              <a:ext cx="6606643" cy="8635712"/>
              <a:chOff x="0" y="0"/>
              <a:chExt cx="6852920" cy="8957627"/>
            </a:xfrm>
          </p:grpSpPr>
          <p:sp>
            <p:nvSpPr>
              <p:cNvPr name="Freeform 12" id="12"/>
              <p:cNvSpPr/>
              <p:nvPr/>
            </p:nvSpPr>
            <p:spPr>
              <a:xfrm flipH="false" flipV="false" rot="0">
                <a:off x="0" y="0"/>
                <a:ext cx="6852920" cy="8957627"/>
              </a:xfrm>
              <a:custGeom>
                <a:avLst/>
                <a:gdLst/>
                <a:ahLst/>
                <a:cxnLst/>
                <a:rect r="r" b="b" t="t" l="l"/>
                <a:pathLst>
                  <a:path h="8957627" w="6852920">
                    <a:moveTo>
                      <a:pt x="0" y="316417"/>
                    </a:moveTo>
                    <a:cubicBezTo>
                      <a:pt x="0" y="141587"/>
                      <a:pt x="131445" y="0"/>
                      <a:pt x="293751" y="0"/>
                    </a:cubicBezTo>
                    <a:lnTo>
                      <a:pt x="6559169" y="0"/>
                    </a:lnTo>
                    <a:cubicBezTo>
                      <a:pt x="6721348" y="0"/>
                      <a:pt x="6852920" y="141587"/>
                      <a:pt x="6852920" y="316417"/>
                    </a:cubicBezTo>
                    <a:lnTo>
                      <a:pt x="6852920" y="8641210"/>
                    </a:lnTo>
                    <a:cubicBezTo>
                      <a:pt x="6852920" y="8815903"/>
                      <a:pt x="6721475" y="8957627"/>
                      <a:pt x="6559169" y="8957627"/>
                    </a:cubicBezTo>
                    <a:lnTo>
                      <a:pt x="293751" y="8957627"/>
                    </a:lnTo>
                    <a:cubicBezTo>
                      <a:pt x="131445" y="8957627"/>
                      <a:pt x="0" y="8816040"/>
                      <a:pt x="0" y="8641210"/>
                    </a:cubicBezTo>
                    <a:close/>
                  </a:path>
                </a:pathLst>
              </a:custGeom>
              <a:solidFill>
                <a:srgbClr val="1C2A4A"/>
              </a:solidFill>
              <a:ln w="23812" cap="sq">
                <a:solidFill>
                  <a:srgbClr val="16213E"/>
                </a:solidFill>
                <a:prstDash val="solid"/>
                <a:miter/>
              </a:ln>
            </p:spPr>
          </p:sp>
        </p:grpSp>
        <p:sp>
          <p:nvSpPr>
            <p:cNvPr name="TextBox 13" id="13"/>
            <p:cNvSpPr txBox="true"/>
            <p:nvPr/>
          </p:nvSpPr>
          <p:spPr>
            <a:xfrm rot="0">
              <a:off x="768480" y="979084"/>
              <a:ext cx="4929841" cy="6804025"/>
            </a:xfrm>
            <a:prstGeom prst="rect">
              <a:avLst/>
            </a:prstGeom>
          </p:spPr>
          <p:txBody>
            <a:bodyPr anchor="t" rtlCol="false" tIns="0" lIns="0" bIns="0" rIns="0">
              <a:spAutoFit/>
            </a:bodyPr>
            <a:lstStyle/>
            <a:p>
              <a:pPr algn="l" marL="0" indent="0" lvl="0">
                <a:lnSpc>
                  <a:spcPts val="2909"/>
                </a:lnSpc>
                <a:spcBef>
                  <a:spcPct val="0"/>
                </a:spcBef>
              </a:pPr>
              <a:r>
                <a:rPr lang="en-US" b="true" sz="2424" strike="noStrike" u="none">
                  <a:solidFill>
                    <a:srgbClr val="FFFFFF"/>
                  </a:solidFill>
                  <a:latin typeface="Calibri (MS) Bold"/>
                  <a:ea typeface="Calibri (MS) Bold"/>
                  <a:cs typeface="Calibri (MS) Bold"/>
                  <a:sym typeface="Calibri (MS) Bold"/>
                </a:rPr>
                <a:t>Phi-3 QLoRA Direction:</a:t>
              </a:r>
            </a:p>
            <a:p>
              <a:pPr algn="l" marL="0" indent="0" lvl="0">
                <a:lnSpc>
                  <a:spcPts val="2909"/>
                </a:lnSpc>
                <a:spcBef>
                  <a:spcPct val="0"/>
                </a:spcBef>
              </a:pP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Model: Phi-3-mini-4k Instruct</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Parameters: 3.8B</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Method: PEFT / QLoRA</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Quantization: 4-bit NF4</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LoRA: r=16, alpha=32</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Learning rate: 2e-4</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Epochs: 3 per content type</a:t>
              </a:r>
            </a:p>
            <a:p>
              <a:pPr algn="l" marL="0" indent="0" lvl="0">
                <a:lnSpc>
                  <a:spcPts val="2909"/>
                </a:lnSpc>
                <a:spcBef>
                  <a:spcPct val="0"/>
                </a:spcBef>
              </a:pPr>
              <a:r>
                <a:rPr lang="en-US" sz="2424" strike="noStrike" u="none">
                  <a:solidFill>
                    <a:srgbClr val="FFFFFF"/>
                  </a:solidFill>
                  <a:latin typeface="Calibri (MS)"/>
                  <a:ea typeface="Calibri (MS)"/>
                  <a:cs typeface="Calibri (MS)"/>
                  <a:sym typeface="Calibri (MS)"/>
                </a:rPr>
                <a:t>Datasets: Blog Authorship Corpus, SimpleStories, NeuML LinkedIn</a:t>
              </a:r>
            </a:p>
            <a:p>
              <a:pPr algn="l" marL="0" indent="0" lvl="0">
                <a:lnSpc>
                  <a:spcPts val="2909"/>
                </a:lnSpc>
                <a:spcBef>
                  <a:spcPct val="0"/>
                </a:spcBef>
              </a:pPr>
            </a:p>
            <a:p>
              <a:pPr algn="l" marL="0" indent="0" lvl="0">
                <a:lnSpc>
                  <a:spcPts val="2909"/>
                </a:lnSpc>
                <a:spcBef>
                  <a:spcPct val="0"/>
                </a:spcBef>
              </a:pPr>
            </a:p>
          </p:txBody>
        </p:sp>
      </p:grpSp>
      <p:grpSp>
        <p:nvGrpSpPr>
          <p:cNvPr name="Group 14" id="14"/>
          <p:cNvGrpSpPr/>
          <p:nvPr/>
        </p:nvGrpSpPr>
        <p:grpSpPr>
          <a:xfrm rot="0">
            <a:off x="1560854" y="8754904"/>
            <a:ext cx="14753201" cy="778193"/>
            <a:chOff x="0" y="0"/>
            <a:chExt cx="19670934" cy="1037590"/>
          </a:xfrm>
        </p:grpSpPr>
        <p:sp>
          <p:nvSpPr>
            <p:cNvPr name="Freeform 15" id="15"/>
            <p:cNvSpPr/>
            <p:nvPr/>
          </p:nvSpPr>
          <p:spPr>
            <a:xfrm flipH="false" flipV="false" rot="0">
              <a:off x="0" y="0"/>
              <a:ext cx="19670934" cy="1037590"/>
            </a:xfrm>
            <a:custGeom>
              <a:avLst/>
              <a:gdLst/>
              <a:ahLst/>
              <a:cxnLst/>
              <a:rect r="r" b="b" t="t" l="l"/>
              <a:pathLst>
                <a:path h="1037590" w="19670934">
                  <a:moveTo>
                    <a:pt x="0" y="113157"/>
                  </a:moveTo>
                  <a:cubicBezTo>
                    <a:pt x="0" y="50673"/>
                    <a:pt x="54959" y="0"/>
                    <a:pt x="122728" y="0"/>
                  </a:cubicBezTo>
                  <a:lnTo>
                    <a:pt x="19548205" y="0"/>
                  </a:lnTo>
                  <a:cubicBezTo>
                    <a:pt x="19615975" y="0"/>
                    <a:pt x="19670934" y="50673"/>
                    <a:pt x="19670934" y="113157"/>
                  </a:cubicBezTo>
                  <a:lnTo>
                    <a:pt x="19670934" y="924433"/>
                  </a:lnTo>
                  <a:cubicBezTo>
                    <a:pt x="19670934" y="986917"/>
                    <a:pt x="19615975" y="1037590"/>
                    <a:pt x="19548205" y="1037590"/>
                  </a:cubicBezTo>
                  <a:lnTo>
                    <a:pt x="122728" y="1037590"/>
                  </a:lnTo>
                  <a:cubicBezTo>
                    <a:pt x="54959" y="1037590"/>
                    <a:pt x="0" y="986917"/>
                    <a:pt x="0" y="924433"/>
                  </a:cubicBezTo>
                  <a:close/>
                </a:path>
              </a:pathLst>
            </a:custGeom>
            <a:solidFill>
              <a:srgbClr val="1C2A4A"/>
            </a:solidFill>
            <a:ln w="23812" cap="sq">
              <a:solidFill>
                <a:srgbClr val="16213E"/>
              </a:solidFill>
              <a:prstDash val="solid"/>
              <a:miter/>
            </a:ln>
          </p:spPr>
        </p:sp>
      </p:grpSp>
      <p:sp>
        <p:nvSpPr>
          <p:cNvPr name="TextBox 16" id="16"/>
          <p:cNvSpPr txBox="true"/>
          <p:nvPr/>
        </p:nvSpPr>
        <p:spPr>
          <a:xfrm rot="0">
            <a:off x="1874775" y="8991600"/>
            <a:ext cx="14125359" cy="266700"/>
          </a:xfrm>
          <a:prstGeom prst="rect">
            <a:avLst/>
          </a:prstGeom>
        </p:spPr>
        <p:txBody>
          <a:bodyPr anchor="t" rtlCol="false" tIns="0" lIns="0" bIns="0" rIns="0">
            <a:spAutoFit/>
          </a:bodyPr>
          <a:lstStyle/>
          <a:p>
            <a:pPr algn="ctr">
              <a:lnSpc>
                <a:spcPts val="1800"/>
              </a:lnSpc>
              <a:spcBef>
                <a:spcPct val="0"/>
              </a:spcBef>
            </a:pPr>
            <a:r>
              <a:rPr lang="en-US" b="true" sz="1500">
                <a:solidFill>
                  <a:srgbClr val="FFFFFF"/>
                </a:solidFill>
                <a:latin typeface="Calibri (MS) Bold"/>
                <a:ea typeface="Calibri (MS) Bold"/>
                <a:cs typeface="Calibri (MS) Bold"/>
                <a:sym typeface="Calibri (MS) Bold"/>
              </a:rPr>
              <a:t>Fine-tuning was explored as a local model strategy, while the delivered platform mainly uses a multi-agent workflow with OpenRouter by default and optional local Phi-3 adapters.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10206514" y="2264950"/>
            <a:ext cx="2904172" cy="778193"/>
            <a:chOff x="0" y="0"/>
            <a:chExt cx="3872230" cy="1037590"/>
          </a:xfrm>
        </p:grpSpPr>
        <p:sp>
          <p:nvSpPr>
            <p:cNvPr name="Freeform 3" id="3"/>
            <p:cNvSpPr/>
            <p:nvPr/>
          </p:nvSpPr>
          <p:spPr>
            <a:xfrm flipH="false" flipV="false" rot="0">
              <a:off x="0" y="0"/>
              <a:ext cx="3872230" cy="1037590"/>
            </a:xfrm>
            <a:custGeom>
              <a:avLst/>
              <a:gdLst/>
              <a:ahLst/>
              <a:cxnLst/>
              <a:rect r="r" b="b" t="t" l="l"/>
              <a:pathLst>
                <a:path h="1037590" w="3872230">
                  <a:moveTo>
                    <a:pt x="0" y="113157"/>
                  </a:moveTo>
                  <a:cubicBezTo>
                    <a:pt x="0" y="50673"/>
                    <a:pt x="50673" y="0"/>
                    <a:pt x="113157" y="0"/>
                  </a:cubicBezTo>
                  <a:lnTo>
                    <a:pt x="3759073" y="0"/>
                  </a:lnTo>
                  <a:cubicBezTo>
                    <a:pt x="3821557" y="0"/>
                    <a:pt x="3872230" y="50673"/>
                    <a:pt x="3872230" y="113157"/>
                  </a:cubicBezTo>
                  <a:lnTo>
                    <a:pt x="3872230" y="924433"/>
                  </a:lnTo>
                  <a:cubicBezTo>
                    <a:pt x="3872230" y="986917"/>
                    <a:pt x="3821557" y="1037590"/>
                    <a:pt x="3759073" y="1037590"/>
                  </a:cubicBezTo>
                  <a:lnTo>
                    <a:pt x="113157" y="1037590"/>
                  </a:lnTo>
                  <a:cubicBezTo>
                    <a:pt x="50673" y="1037590"/>
                    <a:pt x="0" y="986917"/>
                    <a:pt x="0" y="924433"/>
                  </a:cubicBezTo>
                  <a:close/>
                </a:path>
              </a:pathLst>
            </a:custGeom>
            <a:solidFill>
              <a:srgbClr val="FDF1E1"/>
            </a:solidFill>
            <a:ln w="23812" cap="sq">
              <a:solidFill>
                <a:srgbClr val="D97706"/>
              </a:solidFill>
              <a:prstDash val="solid"/>
              <a:miter/>
            </a:ln>
          </p:spPr>
        </p:sp>
      </p:grpSp>
      <p:grpSp>
        <p:nvGrpSpPr>
          <p:cNvPr name="Group 4" id="4"/>
          <p:cNvGrpSpPr/>
          <p:nvPr/>
        </p:nvGrpSpPr>
        <p:grpSpPr>
          <a:xfrm rot="0">
            <a:off x="822960" y="438912"/>
            <a:ext cx="15773400" cy="438912"/>
            <a:chOff x="0" y="0"/>
            <a:chExt cx="21031200" cy="585216"/>
          </a:xfrm>
        </p:grpSpPr>
        <p:sp>
          <p:nvSpPr>
            <p:cNvPr name="Freeform 5" id="5"/>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6" id="6"/>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4 · ARCHITECTURE</a:t>
              </a:r>
            </a:p>
          </p:txBody>
        </p:sp>
      </p:grpSp>
      <p:grpSp>
        <p:nvGrpSpPr>
          <p:cNvPr name="Group 7" id="7"/>
          <p:cNvGrpSpPr/>
          <p:nvPr/>
        </p:nvGrpSpPr>
        <p:grpSpPr>
          <a:xfrm rot="0">
            <a:off x="822960" y="850392"/>
            <a:ext cx="16596360" cy="1028700"/>
            <a:chOff x="0" y="0"/>
            <a:chExt cx="22128480" cy="1371600"/>
          </a:xfrm>
        </p:grpSpPr>
        <p:sp>
          <p:nvSpPr>
            <p:cNvPr name="Freeform 8" id="8"/>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9" id="9"/>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High-Level System Architecture</a:t>
              </a:r>
            </a:p>
          </p:txBody>
        </p:sp>
      </p:grpSp>
      <p:grpSp>
        <p:nvGrpSpPr>
          <p:cNvPr name="Group 10" id="10"/>
          <p:cNvGrpSpPr/>
          <p:nvPr/>
        </p:nvGrpSpPr>
        <p:grpSpPr>
          <a:xfrm rot="0">
            <a:off x="811054" y="1839754"/>
            <a:ext cx="2904172" cy="778193"/>
            <a:chOff x="0" y="0"/>
            <a:chExt cx="3872230" cy="1037590"/>
          </a:xfrm>
        </p:grpSpPr>
        <p:sp>
          <p:nvSpPr>
            <p:cNvPr name="Freeform 11" id="11"/>
            <p:cNvSpPr/>
            <p:nvPr/>
          </p:nvSpPr>
          <p:spPr>
            <a:xfrm flipH="false" flipV="false" rot="0">
              <a:off x="0" y="0"/>
              <a:ext cx="3872230" cy="1037590"/>
            </a:xfrm>
            <a:custGeom>
              <a:avLst/>
              <a:gdLst/>
              <a:ahLst/>
              <a:cxnLst/>
              <a:rect r="r" b="b" t="t" l="l"/>
              <a:pathLst>
                <a:path h="1037590" w="3872230">
                  <a:moveTo>
                    <a:pt x="0" y="113157"/>
                  </a:moveTo>
                  <a:cubicBezTo>
                    <a:pt x="0" y="50673"/>
                    <a:pt x="50673" y="0"/>
                    <a:pt x="113157" y="0"/>
                  </a:cubicBezTo>
                  <a:lnTo>
                    <a:pt x="3759073" y="0"/>
                  </a:lnTo>
                  <a:cubicBezTo>
                    <a:pt x="3821557" y="0"/>
                    <a:pt x="3872230" y="50673"/>
                    <a:pt x="3872230" y="113157"/>
                  </a:cubicBezTo>
                  <a:lnTo>
                    <a:pt x="3872230" y="924433"/>
                  </a:lnTo>
                  <a:cubicBezTo>
                    <a:pt x="3872230" y="986917"/>
                    <a:pt x="3821557" y="1037590"/>
                    <a:pt x="3759073" y="1037590"/>
                  </a:cubicBezTo>
                  <a:lnTo>
                    <a:pt x="113157" y="1037590"/>
                  </a:lnTo>
                  <a:cubicBezTo>
                    <a:pt x="50673" y="1037590"/>
                    <a:pt x="0" y="986917"/>
                    <a:pt x="0" y="924433"/>
                  </a:cubicBezTo>
                  <a:close/>
                </a:path>
              </a:pathLst>
            </a:custGeom>
            <a:solidFill>
              <a:srgbClr val="16213E"/>
            </a:solidFill>
            <a:ln w="23812" cap="sq">
              <a:solidFill>
                <a:srgbClr val="16213E"/>
              </a:solidFill>
              <a:prstDash val="solid"/>
              <a:miter/>
            </a:ln>
          </p:spPr>
        </p:sp>
      </p:grpSp>
      <p:grpSp>
        <p:nvGrpSpPr>
          <p:cNvPr name="Group 12" id="12"/>
          <p:cNvGrpSpPr/>
          <p:nvPr/>
        </p:nvGrpSpPr>
        <p:grpSpPr>
          <a:xfrm rot="0">
            <a:off x="891540" y="1851660"/>
            <a:ext cx="2743200" cy="754380"/>
            <a:chOff x="0" y="0"/>
            <a:chExt cx="3657600" cy="1005840"/>
          </a:xfrm>
        </p:grpSpPr>
        <p:sp>
          <p:nvSpPr>
            <p:cNvPr name="Freeform 13" id="13"/>
            <p:cNvSpPr/>
            <p:nvPr/>
          </p:nvSpPr>
          <p:spPr>
            <a:xfrm flipH="false" flipV="false" rot="0">
              <a:off x="0" y="0"/>
              <a:ext cx="3657600" cy="1005840"/>
            </a:xfrm>
            <a:custGeom>
              <a:avLst/>
              <a:gdLst/>
              <a:ahLst/>
              <a:cxnLst/>
              <a:rect r="r" b="b" t="t" l="l"/>
              <a:pathLst>
                <a:path h="1005840" w="3657600">
                  <a:moveTo>
                    <a:pt x="0" y="0"/>
                  </a:moveTo>
                  <a:lnTo>
                    <a:pt x="3657600" y="0"/>
                  </a:lnTo>
                  <a:lnTo>
                    <a:pt x="3657600" y="1005840"/>
                  </a:lnTo>
                  <a:lnTo>
                    <a:pt x="0" y="1005840"/>
                  </a:lnTo>
                  <a:close/>
                </a:path>
              </a:pathLst>
            </a:custGeom>
            <a:blipFill>
              <a:blip r:embed="rId3">
                <a:alphaModFix amt="0"/>
              </a:blip>
              <a:stretch>
                <a:fillRect l="0" t="-20854" r="0" b="-20854"/>
              </a:stretch>
            </a:blipFill>
          </p:spPr>
        </p:sp>
        <p:sp>
          <p:nvSpPr>
            <p:cNvPr name="TextBox 14" id="14"/>
            <p:cNvSpPr txBox="true"/>
            <p:nvPr/>
          </p:nvSpPr>
          <p:spPr>
            <a:xfrm>
              <a:off x="0" y="-28575"/>
              <a:ext cx="3657600" cy="10344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User / Client</a:t>
              </a:r>
            </a:p>
          </p:txBody>
        </p:sp>
      </p:grpSp>
      <p:grpSp>
        <p:nvGrpSpPr>
          <p:cNvPr name="Group 15" id="15"/>
          <p:cNvGrpSpPr/>
          <p:nvPr/>
        </p:nvGrpSpPr>
        <p:grpSpPr>
          <a:xfrm rot="0">
            <a:off x="2125980" y="2633472"/>
            <a:ext cx="274320" cy="384048"/>
            <a:chOff x="0" y="0"/>
            <a:chExt cx="365760" cy="512064"/>
          </a:xfrm>
        </p:grpSpPr>
        <p:sp>
          <p:nvSpPr>
            <p:cNvPr name="Freeform 16" id="16"/>
            <p:cNvSpPr/>
            <p:nvPr/>
          </p:nvSpPr>
          <p:spPr>
            <a:xfrm flipH="false" flipV="false" rot="0">
              <a:off x="0" y="0"/>
              <a:ext cx="365760" cy="512064"/>
            </a:xfrm>
            <a:custGeom>
              <a:avLst/>
              <a:gdLst/>
              <a:ahLst/>
              <a:cxnLst/>
              <a:rect r="r" b="b" t="t" l="l"/>
              <a:pathLst>
                <a:path h="512064" w="365760">
                  <a:moveTo>
                    <a:pt x="0" y="329184"/>
                  </a:moveTo>
                  <a:lnTo>
                    <a:pt x="91440" y="329184"/>
                  </a:lnTo>
                  <a:lnTo>
                    <a:pt x="91440" y="0"/>
                  </a:lnTo>
                  <a:lnTo>
                    <a:pt x="274320" y="0"/>
                  </a:lnTo>
                  <a:lnTo>
                    <a:pt x="274320" y="329184"/>
                  </a:lnTo>
                  <a:lnTo>
                    <a:pt x="365760" y="329184"/>
                  </a:lnTo>
                  <a:lnTo>
                    <a:pt x="182880" y="512064"/>
                  </a:lnTo>
                  <a:close/>
                </a:path>
              </a:pathLst>
            </a:custGeom>
            <a:solidFill>
              <a:srgbClr val="2DD4BF"/>
            </a:solidFill>
          </p:spPr>
        </p:sp>
      </p:grpSp>
      <p:grpSp>
        <p:nvGrpSpPr>
          <p:cNvPr name="Group 17" id="17"/>
          <p:cNvGrpSpPr/>
          <p:nvPr/>
        </p:nvGrpSpPr>
        <p:grpSpPr>
          <a:xfrm rot="0">
            <a:off x="610076" y="3078956"/>
            <a:ext cx="3306128" cy="2620328"/>
            <a:chOff x="0" y="0"/>
            <a:chExt cx="4408170" cy="3493770"/>
          </a:xfrm>
        </p:grpSpPr>
        <p:sp>
          <p:nvSpPr>
            <p:cNvPr name="Freeform 18" id="18"/>
            <p:cNvSpPr/>
            <p:nvPr/>
          </p:nvSpPr>
          <p:spPr>
            <a:xfrm flipH="false" flipV="false" rot="0">
              <a:off x="0" y="0"/>
              <a:ext cx="4408170" cy="3493770"/>
            </a:xfrm>
            <a:custGeom>
              <a:avLst/>
              <a:gdLst/>
              <a:ahLst/>
              <a:cxnLst/>
              <a:rect r="r" b="b" t="t" l="l"/>
              <a:pathLst>
                <a:path h="3493770" w="4408170">
                  <a:moveTo>
                    <a:pt x="0" y="147066"/>
                  </a:moveTo>
                  <a:cubicBezTo>
                    <a:pt x="0" y="65913"/>
                    <a:pt x="65913" y="0"/>
                    <a:pt x="147066" y="0"/>
                  </a:cubicBezTo>
                  <a:lnTo>
                    <a:pt x="4261104" y="0"/>
                  </a:lnTo>
                  <a:cubicBezTo>
                    <a:pt x="4342384" y="0"/>
                    <a:pt x="4408170" y="65913"/>
                    <a:pt x="4408170" y="147066"/>
                  </a:cubicBezTo>
                  <a:lnTo>
                    <a:pt x="4408170" y="3346704"/>
                  </a:lnTo>
                  <a:cubicBezTo>
                    <a:pt x="4408170" y="3427984"/>
                    <a:pt x="4342257" y="3493770"/>
                    <a:pt x="4261104" y="3493770"/>
                  </a:cubicBezTo>
                  <a:lnTo>
                    <a:pt x="147066" y="3493770"/>
                  </a:lnTo>
                  <a:cubicBezTo>
                    <a:pt x="65913" y="3493770"/>
                    <a:pt x="0" y="3427857"/>
                    <a:pt x="0" y="3346704"/>
                  </a:cubicBezTo>
                  <a:close/>
                </a:path>
              </a:pathLst>
            </a:custGeom>
            <a:solidFill>
              <a:srgbClr val="EEF2FB"/>
            </a:solidFill>
            <a:ln w="14288" cap="sq">
              <a:solidFill>
                <a:srgbClr val="E2E8F0"/>
              </a:solidFill>
              <a:prstDash val="solid"/>
              <a:miter/>
            </a:ln>
          </p:spPr>
        </p:sp>
      </p:grpSp>
      <p:grpSp>
        <p:nvGrpSpPr>
          <p:cNvPr name="Group 19" id="19"/>
          <p:cNvGrpSpPr/>
          <p:nvPr/>
        </p:nvGrpSpPr>
        <p:grpSpPr>
          <a:xfrm rot="0">
            <a:off x="754380" y="3182112"/>
            <a:ext cx="3017520" cy="384048"/>
            <a:chOff x="0" y="0"/>
            <a:chExt cx="4023360" cy="512064"/>
          </a:xfrm>
        </p:grpSpPr>
        <p:sp>
          <p:nvSpPr>
            <p:cNvPr name="Freeform 20" id="20"/>
            <p:cNvSpPr/>
            <p:nvPr/>
          </p:nvSpPr>
          <p:spPr>
            <a:xfrm flipH="false" flipV="false" rot="0">
              <a:off x="0" y="0"/>
              <a:ext cx="4023360" cy="512064"/>
            </a:xfrm>
            <a:custGeom>
              <a:avLst/>
              <a:gdLst/>
              <a:ahLst/>
              <a:cxnLst/>
              <a:rect r="r" b="b" t="t" l="l"/>
              <a:pathLst>
                <a:path h="512064" w="4023360">
                  <a:moveTo>
                    <a:pt x="0" y="0"/>
                  </a:moveTo>
                  <a:lnTo>
                    <a:pt x="4023360" y="0"/>
                  </a:lnTo>
                  <a:lnTo>
                    <a:pt x="4023360" y="512064"/>
                  </a:lnTo>
                  <a:lnTo>
                    <a:pt x="0" y="512064"/>
                  </a:lnTo>
                  <a:close/>
                </a:path>
              </a:pathLst>
            </a:custGeom>
            <a:blipFill>
              <a:blip r:embed="rId3">
                <a:alphaModFix amt="0"/>
              </a:blip>
              <a:stretch>
                <a:fillRect l="0" t="-103096" r="0" b="-103096"/>
              </a:stretch>
            </a:blipFill>
          </p:spPr>
        </p:sp>
        <p:sp>
          <p:nvSpPr>
            <p:cNvPr name="TextBox 21" id="21"/>
            <p:cNvSpPr txBox="true"/>
            <p:nvPr/>
          </p:nvSpPr>
          <p:spPr>
            <a:xfrm>
              <a:off x="0" y="-19050"/>
              <a:ext cx="4023360" cy="531114"/>
            </a:xfrm>
            <a:prstGeom prst="rect">
              <a:avLst/>
            </a:prstGeom>
          </p:spPr>
          <p:txBody>
            <a:bodyPr anchor="ctr" rtlCol="false" tIns="0" lIns="0" bIns="0" rIns="0"/>
            <a:lstStyle/>
            <a:p>
              <a:pPr algn="l">
                <a:lnSpc>
                  <a:spcPts val="1889"/>
                </a:lnSpc>
              </a:pPr>
              <a:r>
                <a:rPr lang="en-US" sz="1575" b="true">
                  <a:solidFill>
                    <a:srgbClr val="16213E"/>
                  </a:solidFill>
                  <a:latin typeface="Calibri (MS) Bold"/>
                  <a:ea typeface="Calibri (MS) Bold"/>
                  <a:cs typeface="Calibri (MS) Bold"/>
                  <a:sym typeface="Calibri (MS) Bold"/>
                </a:rPr>
                <a:t>FastAPI Backend</a:t>
              </a:r>
            </a:p>
          </p:txBody>
        </p:sp>
      </p:grpSp>
      <p:grpSp>
        <p:nvGrpSpPr>
          <p:cNvPr name="Group 22" id="22"/>
          <p:cNvGrpSpPr/>
          <p:nvPr/>
        </p:nvGrpSpPr>
        <p:grpSpPr>
          <a:xfrm rot="0">
            <a:off x="811054" y="3622834"/>
            <a:ext cx="2904172" cy="709612"/>
            <a:chOff x="0" y="0"/>
            <a:chExt cx="3872230" cy="946150"/>
          </a:xfrm>
        </p:grpSpPr>
        <p:sp>
          <p:nvSpPr>
            <p:cNvPr name="Freeform 23" id="23"/>
            <p:cNvSpPr/>
            <p:nvPr/>
          </p:nvSpPr>
          <p:spPr>
            <a:xfrm flipH="false" flipV="false" rot="0">
              <a:off x="0" y="0"/>
              <a:ext cx="3872230" cy="946150"/>
            </a:xfrm>
            <a:custGeom>
              <a:avLst/>
              <a:gdLst/>
              <a:ahLst/>
              <a:cxnLst/>
              <a:rect r="r" b="b" t="t" l="l"/>
              <a:pathLst>
                <a:path h="946150" w="3872230">
                  <a:moveTo>
                    <a:pt x="0" y="113538"/>
                  </a:moveTo>
                  <a:cubicBezTo>
                    <a:pt x="0" y="50800"/>
                    <a:pt x="50800" y="0"/>
                    <a:pt x="113538" y="0"/>
                  </a:cubicBezTo>
                  <a:lnTo>
                    <a:pt x="3758692" y="0"/>
                  </a:lnTo>
                  <a:cubicBezTo>
                    <a:pt x="3821430" y="0"/>
                    <a:pt x="3872230" y="50800"/>
                    <a:pt x="3872230" y="113538"/>
                  </a:cubicBezTo>
                  <a:lnTo>
                    <a:pt x="3872230" y="832612"/>
                  </a:lnTo>
                  <a:cubicBezTo>
                    <a:pt x="3872230" y="895350"/>
                    <a:pt x="3821430" y="946150"/>
                    <a:pt x="3758692" y="946150"/>
                  </a:cubicBezTo>
                  <a:lnTo>
                    <a:pt x="113538" y="946150"/>
                  </a:lnTo>
                  <a:cubicBezTo>
                    <a:pt x="50800" y="946150"/>
                    <a:pt x="0" y="895350"/>
                    <a:pt x="0" y="832612"/>
                  </a:cubicBezTo>
                  <a:close/>
                </a:path>
              </a:pathLst>
            </a:custGeom>
            <a:solidFill>
              <a:srgbClr val="FFFFFF"/>
            </a:solidFill>
            <a:ln w="23812" cap="sq">
              <a:solidFill>
                <a:srgbClr val="16213E"/>
              </a:solidFill>
              <a:prstDash val="solid"/>
              <a:miter/>
            </a:ln>
          </p:spPr>
        </p:sp>
      </p:grpSp>
      <p:grpSp>
        <p:nvGrpSpPr>
          <p:cNvPr name="Group 24" id="24"/>
          <p:cNvGrpSpPr/>
          <p:nvPr/>
        </p:nvGrpSpPr>
        <p:grpSpPr>
          <a:xfrm rot="0">
            <a:off x="891540" y="3634740"/>
            <a:ext cx="2743200" cy="685800"/>
            <a:chOff x="0" y="0"/>
            <a:chExt cx="3657600" cy="914400"/>
          </a:xfrm>
        </p:grpSpPr>
        <p:sp>
          <p:nvSpPr>
            <p:cNvPr name="Freeform 25" id="25"/>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26" id="26"/>
            <p:cNvSpPr txBox="true"/>
            <p:nvPr/>
          </p:nvSpPr>
          <p:spPr>
            <a:xfrm>
              <a:off x="0" y="-28575"/>
              <a:ext cx="3657600" cy="942975"/>
            </a:xfrm>
            <a:prstGeom prst="rect">
              <a:avLst/>
            </a:prstGeom>
          </p:spPr>
          <p:txBody>
            <a:bodyPr anchor="ctr" rtlCol="false" tIns="0" lIns="0" bIns="0" rIns="0"/>
            <a:lstStyle/>
            <a:p>
              <a:pPr algn="ctr">
                <a:lnSpc>
                  <a:spcPts val="1620"/>
                </a:lnSpc>
              </a:pPr>
              <a:r>
                <a:rPr lang="en-US" sz="1350" b="true">
                  <a:solidFill>
                    <a:srgbClr val="17213B"/>
                  </a:solidFill>
                  <a:latin typeface="Calibri (MS) Bold"/>
                  <a:ea typeface="Calibri (MS) Bold"/>
                  <a:cs typeface="Calibri (MS) Bold"/>
                  <a:sym typeface="Calibri (MS) Bold"/>
                </a:rPr>
                <a:t>API Routers</a:t>
              </a:r>
            </a:p>
            <a:p>
              <a:pPr algn="ctr">
                <a:lnSpc>
                  <a:spcPts val="1620"/>
                </a:lnSpc>
              </a:pPr>
              <a:r>
                <a:rPr lang="en-US" sz="1350" b="true">
                  <a:solidFill>
                    <a:srgbClr val="17213B"/>
                  </a:solidFill>
                  <a:latin typeface="Calibri (MS) Bold"/>
                  <a:ea typeface="Calibri (MS) Bold"/>
                  <a:cs typeface="Calibri (MS) Bold"/>
                  <a:sym typeface="Calibri (MS) Bold"/>
                </a:rPr>
                <a:t>health · generate · jobs</a:t>
              </a:r>
            </a:p>
          </p:txBody>
        </p:sp>
      </p:grpSp>
      <p:grpSp>
        <p:nvGrpSpPr>
          <p:cNvPr name="Group 27" id="27"/>
          <p:cNvGrpSpPr/>
          <p:nvPr/>
        </p:nvGrpSpPr>
        <p:grpSpPr>
          <a:xfrm rot="0">
            <a:off x="811054" y="4445794"/>
            <a:ext cx="2904172" cy="709612"/>
            <a:chOff x="0" y="0"/>
            <a:chExt cx="3872230" cy="946150"/>
          </a:xfrm>
        </p:grpSpPr>
        <p:sp>
          <p:nvSpPr>
            <p:cNvPr name="Freeform 28" id="28"/>
            <p:cNvSpPr/>
            <p:nvPr/>
          </p:nvSpPr>
          <p:spPr>
            <a:xfrm flipH="false" flipV="false" rot="0">
              <a:off x="0" y="0"/>
              <a:ext cx="3872230" cy="946150"/>
            </a:xfrm>
            <a:custGeom>
              <a:avLst/>
              <a:gdLst/>
              <a:ahLst/>
              <a:cxnLst/>
              <a:rect r="r" b="b" t="t" l="l"/>
              <a:pathLst>
                <a:path h="946150" w="3872230">
                  <a:moveTo>
                    <a:pt x="0" y="113538"/>
                  </a:moveTo>
                  <a:cubicBezTo>
                    <a:pt x="0" y="50800"/>
                    <a:pt x="50800" y="0"/>
                    <a:pt x="113538" y="0"/>
                  </a:cubicBezTo>
                  <a:lnTo>
                    <a:pt x="3758692" y="0"/>
                  </a:lnTo>
                  <a:cubicBezTo>
                    <a:pt x="3821430" y="0"/>
                    <a:pt x="3872230" y="50800"/>
                    <a:pt x="3872230" y="113538"/>
                  </a:cubicBezTo>
                  <a:lnTo>
                    <a:pt x="3872230" y="832612"/>
                  </a:lnTo>
                  <a:cubicBezTo>
                    <a:pt x="3872230" y="895350"/>
                    <a:pt x="3821430" y="946150"/>
                    <a:pt x="3758692" y="946150"/>
                  </a:cubicBezTo>
                  <a:lnTo>
                    <a:pt x="113538" y="946150"/>
                  </a:lnTo>
                  <a:cubicBezTo>
                    <a:pt x="50800" y="946150"/>
                    <a:pt x="0" y="895350"/>
                    <a:pt x="0" y="832612"/>
                  </a:cubicBezTo>
                  <a:close/>
                </a:path>
              </a:pathLst>
            </a:custGeom>
            <a:solidFill>
              <a:srgbClr val="FFFFFF"/>
            </a:solidFill>
            <a:ln w="23812" cap="sq">
              <a:solidFill>
                <a:srgbClr val="16213E"/>
              </a:solidFill>
              <a:prstDash val="solid"/>
              <a:miter/>
            </a:ln>
          </p:spPr>
        </p:sp>
      </p:grpSp>
      <p:grpSp>
        <p:nvGrpSpPr>
          <p:cNvPr name="Group 29" id="29"/>
          <p:cNvGrpSpPr/>
          <p:nvPr/>
        </p:nvGrpSpPr>
        <p:grpSpPr>
          <a:xfrm rot="0">
            <a:off x="891540" y="4457700"/>
            <a:ext cx="2743200" cy="685800"/>
            <a:chOff x="0" y="0"/>
            <a:chExt cx="3657600" cy="914400"/>
          </a:xfrm>
        </p:grpSpPr>
        <p:sp>
          <p:nvSpPr>
            <p:cNvPr name="Freeform 30" id="30"/>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31" id="31"/>
            <p:cNvSpPr txBox="true"/>
            <p:nvPr/>
          </p:nvSpPr>
          <p:spPr>
            <a:xfrm>
              <a:off x="0" y="-28575"/>
              <a:ext cx="3657600" cy="942975"/>
            </a:xfrm>
            <a:prstGeom prst="rect">
              <a:avLst/>
            </a:prstGeom>
          </p:spPr>
          <p:txBody>
            <a:bodyPr anchor="ctr" rtlCol="false" tIns="0" lIns="0" bIns="0" rIns="0"/>
            <a:lstStyle/>
            <a:p>
              <a:pPr algn="ctr">
                <a:lnSpc>
                  <a:spcPts val="1620"/>
                </a:lnSpc>
              </a:pPr>
              <a:r>
                <a:rPr lang="en-US" sz="1350" b="true">
                  <a:solidFill>
                    <a:srgbClr val="17213B"/>
                  </a:solidFill>
                  <a:latin typeface="Calibri (MS) Bold"/>
                  <a:ea typeface="Calibri (MS) Bold"/>
                  <a:cs typeface="Calibri (MS) Bold"/>
                  <a:sym typeface="Calibri (MS) Bold"/>
                </a:rPr>
                <a:t>Background Job Service</a:t>
              </a:r>
            </a:p>
          </p:txBody>
        </p:sp>
      </p:grpSp>
      <p:grpSp>
        <p:nvGrpSpPr>
          <p:cNvPr name="Group 32" id="32"/>
          <p:cNvGrpSpPr/>
          <p:nvPr/>
        </p:nvGrpSpPr>
        <p:grpSpPr>
          <a:xfrm rot="0">
            <a:off x="4046220" y="4183380"/>
            <a:ext cx="685800" cy="274320"/>
            <a:chOff x="0" y="0"/>
            <a:chExt cx="914400" cy="365760"/>
          </a:xfrm>
        </p:grpSpPr>
        <p:sp>
          <p:nvSpPr>
            <p:cNvPr name="Freeform 33" id="33"/>
            <p:cNvSpPr/>
            <p:nvPr/>
          </p:nvSpPr>
          <p:spPr>
            <a:xfrm flipH="false" flipV="false" rot="0">
              <a:off x="0" y="0"/>
              <a:ext cx="914400" cy="365760"/>
            </a:xfrm>
            <a:custGeom>
              <a:avLst/>
              <a:gdLst/>
              <a:ahLst/>
              <a:cxnLst/>
              <a:rect r="r" b="b" t="t" l="l"/>
              <a:pathLst>
                <a:path h="365760" w="914400">
                  <a:moveTo>
                    <a:pt x="0" y="91440"/>
                  </a:moveTo>
                  <a:lnTo>
                    <a:pt x="731520" y="91440"/>
                  </a:lnTo>
                  <a:lnTo>
                    <a:pt x="731520" y="0"/>
                  </a:lnTo>
                  <a:lnTo>
                    <a:pt x="914400" y="182880"/>
                  </a:lnTo>
                  <a:lnTo>
                    <a:pt x="731520" y="365760"/>
                  </a:lnTo>
                  <a:lnTo>
                    <a:pt x="731520" y="274320"/>
                  </a:lnTo>
                  <a:lnTo>
                    <a:pt x="0" y="274320"/>
                  </a:lnTo>
                  <a:close/>
                </a:path>
              </a:pathLst>
            </a:custGeom>
            <a:solidFill>
              <a:srgbClr val="2DD4BF"/>
            </a:solidFill>
          </p:spPr>
        </p:sp>
      </p:grpSp>
      <p:grpSp>
        <p:nvGrpSpPr>
          <p:cNvPr name="Group 34" id="34"/>
          <p:cNvGrpSpPr/>
          <p:nvPr/>
        </p:nvGrpSpPr>
        <p:grpSpPr>
          <a:xfrm rot="0">
            <a:off x="4862036" y="1844516"/>
            <a:ext cx="4334828" cy="4129088"/>
            <a:chOff x="0" y="0"/>
            <a:chExt cx="5779770" cy="5505450"/>
          </a:xfrm>
        </p:grpSpPr>
        <p:sp>
          <p:nvSpPr>
            <p:cNvPr name="Freeform 35" id="35"/>
            <p:cNvSpPr/>
            <p:nvPr/>
          </p:nvSpPr>
          <p:spPr>
            <a:xfrm flipH="false" flipV="false" rot="0">
              <a:off x="0" y="0"/>
              <a:ext cx="5779770" cy="5505450"/>
            </a:xfrm>
            <a:custGeom>
              <a:avLst/>
              <a:gdLst/>
              <a:ahLst/>
              <a:cxnLst/>
              <a:rect r="r" b="b" t="t" l="l"/>
              <a:pathLst>
                <a:path h="5505450" w="5779770">
                  <a:moveTo>
                    <a:pt x="0" y="146812"/>
                  </a:moveTo>
                  <a:cubicBezTo>
                    <a:pt x="0" y="65786"/>
                    <a:pt x="65786" y="0"/>
                    <a:pt x="146812" y="0"/>
                  </a:cubicBezTo>
                  <a:lnTo>
                    <a:pt x="5632958" y="0"/>
                  </a:lnTo>
                  <a:cubicBezTo>
                    <a:pt x="5714111" y="0"/>
                    <a:pt x="5779770" y="65786"/>
                    <a:pt x="5779770" y="146812"/>
                  </a:cubicBezTo>
                  <a:lnTo>
                    <a:pt x="5779770" y="5358638"/>
                  </a:lnTo>
                  <a:cubicBezTo>
                    <a:pt x="5779770" y="5439791"/>
                    <a:pt x="5713984" y="5505450"/>
                    <a:pt x="5632958" y="5505450"/>
                  </a:cubicBezTo>
                  <a:lnTo>
                    <a:pt x="146812" y="5505450"/>
                  </a:lnTo>
                  <a:cubicBezTo>
                    <a:pt x="65786" y="5505450"/>
                    <a:pt x="0" y="5439664"/>
                    <a:pt x="0" y="5358638"/>
                  </a:cubicBezTo>
                  <a:close/>
                </a:path>
              </a:pathLst>
            </a:custGeom>
            <a:solidFill>
              <a:srgbClr val="EAF7F4"/>
            </a:solidFill>
            <a:ln w="14288" cap="sq">
              <a:solidFill>
                <a:srgbClr val="E2E8F0"/>
              </a:solidFill>
              <a:prstDash val="solid"/>
              <a:miter/>
            </a:ln>
          </p:spPr>
        </p:sp>
      </p:grpSp>
      <p:grpSp>
        <p:nvGrpSpPr>
          <p:cNvPr name="Group 36" id="36"/>
          <p:cNvGrpSpPr/>
          <p:nvPr/>
        </p:nvGrpSpPr>
        <p:grpSpPr>
          <a:xfrm rot="0">
            <a:off x="5006340" y="1947672"/>
            <a:ext cx="4114800" cy="384048"/>
            <a:chOff x="0" y="0"/>
            <a:chExt cx="5486400" cy="512064"/>
          </a:xfrm>
        </p:grpSpPr>
        <p:sp>
          <p:nvSpPr>
            <p:cNvPr name="Freeform 37" id="37"/>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768" r="0" b="-158768"/>
              </a:stretch>
            </a:blipFill>
          </p:spPr>
        </p:sp>
        <p:sp>
          <p:nvSpPr>
            <p:cNvPr name="TextBox 38" id="38"/>
            <p:cNvSpPr txBox="true"/>
            <p:nvPr/>
          </p:nvSpPr>
          <p:spPr>
            <a:xfrm>
              <a:off x="0" y="-19050"/>
              <a:ext cx="5486400" cy="531114"/>
            </a:xfrm>
            <a:prstGeom prst="rect">
              <a:avLst/>
            </a:prstGeom>
          </p:spPr>
          <p:txBody>
            <a:bodyPr anchor="ctr" rtlCol="false" tIns="0" lIns="0" bIns="0" rIns="0"/>
            <a:lstStyle/>
            <a:p>
              <a:pPr algn="l">
                <a:lnSpc>
                  <a:spcPts val="1889"/>
                </a:lnSpc>
              </a:pPr>
              <a:r>
                <a:rPr lang="en-US" sz="1575" b="true">
                  <a:solidFill>
                    <a:srgbClr val="0F766E"/>
                  </a:solidFill>
                  <a:latin typeface="Calibri (MS) Bold"/>
                  <a:ea typeface="Calibri (MS) Bold"/>
                  <a:cs typeface="Calibri (MS) Bold"/>
                  <a:sym typeface="Calibri (MS) Bold"/>
                </a:rPr>
                <a:t>LangGraph Agent Pipeline</a:t>
              </a:r>
            </a:p>
          </p:txBody>
        </p:sp>
      </p:grpSp>
      <p:grpSp>
        <p:nvGrpSpPr>
          <p:cNvPr name="Group 39" id="39"/>
          <p:cNvGrpSpPr/>
          <p:nvPr/>
        </p:nvGrpSpPr>
        <p:grpSpPr>
          <a:xfrm rot="0">
            <a:off x="5063014" y="2429542"/>
            <a:ext cx="3932872" cy="599884"/>
            <a:chOff x="0" y="0"/>
            <a:chExt cx="5243830" cy="799846"/>
          </a:xfrm>
        </p:grpSpPr>
        <p:sp>
          <p:nvSpPr>
            <p:cNvPr name="Freeform 40" id="40"/>
            <p:cNvSpPr/>
            <p:nvPr/>
          </p:nvSpPr>
          <p:spPr>
            <a:xfrm flipH="false" flipV="false" rot="0">
              <a:off x="0" y="0"/>
              <a:ext cx="5243830" cy="799846"/>
            </a:xfrm>
            <a:custGeom>
              <a:avLst/>
              <a:gdLst/>
              <a:ahLst/>
              <a:cxnLst/>
              <a:rect r="r" b="b" t="t" l="l"/>
              <a:pathLst>
                <a:path h="799846" w="5243830">
                  <a:moveTo>
                    <a:pt x="0" y="114300"/>
                  </a:moveTo>
                  <a:cubicBezTo>
                    <a:pt x="0" y="51181"/>
                    <a:pt x="51181" y="0"/>
                    <a:pt x="114300" y="0"/>
                  </a:cubicBezTo>
                  <a:lnTo>
                    <a:pt x="5129530" y="0"/>
                  </a:lnTo>
                  <a:cubicBezTo>
                    <a:pt x="5192649" y="0"/>
                    <a:pt x="5243830" y="51181"/>
                    <a:pt x="5243830" y="114300"/>
                  </a:cubicBezTo>
                  <a:lnTo>
                    <a:pt x="5243830" y="685546"/>
                  </a:lnTo>
                  <a:cubicBezTo>
                    <a:pt x="5243830" y="748665"/>
                    <a:pt x="5192649" y="799846"/>
                    <a:pt x="5129530" y="799846"/>
                  </a:cubicBezTo>
                  <a:lnTo>
                    <a:pt x="114300" y="799846"/>
                  </a:lnTo>
                  <a:cubicBezTo>
                    <a:pt x="51181" y="799846"/>
                    <a:pt x="0" y="748665"/>
                    <a:pt x="0" y="685546"/>
                  </a:cubicBezTo>
                  <a:close/>
                </a:path>
              </a:pathLst>
            </a:custGeom>
            <a:solidFill>
              <a:srgbClr val="FFFFFF"/>
            </a:solidFill>
            <a:ln w="23812" cap="sq">
              <a:solidFill>
                <a:srgbClr val="16213E"/>
              </a:solidFill>
              <a:prstDash val="solid"/>
              <a:miter/>
            </a:ln>
          </p:spPr>
        </p:sp>
      </p:grpSp>
      <p:grpSp>
        <p:nvGrpSpPr>
          <p:cNvPr name="Group 41" id="41"/>
          <p:cNvGrpSpPr/>
          <p:nvPr/>
        </p:nvGrpSpPr>
        <p:grpSpPr>
          <a:xfrm rot="0">
            <a:off x="5143500" y="2441448"/>
            <a:ext cx="3771900" cy="576072"/>
            <a:chOff x="0" y="0"/>
            <a:chExt cx="5029200" cy="768096"/>
          </a:xfrm>
        </p:grpSpPr>
        <p:sp>
          <p:nvSpPr>
            <p:cNvPr name="Freeform 42" id="42"/>
            <p:cNvSpPr/>
            <p:nvPr/>
          </p:nvSpPr>
          <p:spPr>
            <a:xfrm flipH="false" flipV="false" rot="0">
              <a:off x="0" y="0"/>
              <a:ext cx="5029200" cy="768096"/>
            </a:xfrm>
            <a:custGeom>
              <a:avLst/>
              <a:gdLst/>
              <a:ahLst/>
              <a:cxnLst/>
              <a:rect r="r" b="b" t="t" l="l"/>
              <a:pathLst>
                <a:path h="768096" w="5029200">
                  <a:moveTo>
                    <a:pt x="0" y="0"/>
                  </a:moveTo>
                  <a:lnTo>
                    <a:pt x="5029200" y="0"/>
                  </a:lnTo>
                  <a:lnTo>
                    <a:pt x="5029200" y="768096"/>
                  </a:lnTo>
                  <a:lnTo>
                    <a:pt x="0" y="768096"/>
                  </a:lnTo>
                  <a:close/>
                </a:path>
              </a:pathLst>
            </a:custGeom>
            <a:blipFill>
              <a:blip r:embed="rId3">
                <a:alphaModFix amt="0"/>
              </a:blip>
              <a:stretch>
                <a:fillRect l="0" t="-77580" r="0" b="-77580"/>
              </a:stretch>
            </a:blipFill>
          </p:spPr>
        </p:sp>
        <p:sp>
          <p:nvSpPr>
            <p:cNvPr name="TextBox 43" id="43"/>
            <p:cNvSpPr txBox="true"/>
            <p:nvPr/>
          </p:nvSpPr>
          <p:spPr>
            <a:xfrm>
              <a:off x="0" y="-38100"/>
              <a:ext cx="5029200" cy="806196"/>
            </a:xfrm>
            <a:prstGeom prst="rect">
              <a:avLst/>
            </a:prstGeom>
          </p:spPr>
          <p:txBody>
            <a:bodyPr anchor="ctr" rtlCol="false" tIns="0" lIns="0" bIns="0" rIns="0"/>
            <a:lstStyle/>
            <a:p>
              <a:pPr algn="ctr">
                <a:lnSpc>
                  <a:spcPts val="1800"/>
                </a:lnSpc>
              </a:pPr>
              <a:r>
                <a:rPr lang="en-US" sz="1500" b="true">
                  <a:solidFill>
                    <a:srgbClr val="17213B"/>
                  </a:solidFill>
                  <a:latin typeface="Calibri (MS) Bold"/>
                  <a:ea typeface="Calibri (MS) Bold"/>
                  <a:cs typeface="Calibri (MS) Bold"/>
                  <a:sym typeface="Calibri (MS) Bold"/>
                </a:rPr>
                <a:t>Outline Agent</a:t>
              </a:r>
            </a:p>
          </p:txBody>
        </p:sp>
      </p:grpSp>
      <p:grpSp>
        <p:nvGrpSpPr>
          <p:cNvPr name="Group 44" id="44"/>
          <p:cNvGrpSpPr/>
          <p:nvPr/>
        </p:nvGrpSpPr>
        <p:grpSpPr>
          <a:xfrm rot="0">
            <a:off x="6885432" y="3017520"/>
            <a:ext cx="274320" cy="164592"/>
            <a:chOff x="0" y="0"/>
            <a:chExt cx="365760" cy="219456"/>
          </a:xfrm>
        </p:grpSpPr>
        <p:sp>
          <p:nvSpPr>
            <p:cNvPr name="Freeform 45" id="45"/>
            <p:cNvSpPr/>
            <p:nvPr/>
          </p:nvSpPr>
          <p:spPr>
            <a:xfrm flipH="false" flipV="false" rot="0">
              <a:off x="0" y="0"/>
              <a:ext cx="365760" cy="219456"/>
            </a:xfrm>
            <a:custGeom>
              <a:avLst/>
              <a:gdLst/>
              <a:ahLst/>
              <a:cxnLst/>
              <a:rect r="r" b="b" t="t" l="l"/>
              <a:pathLst>
                <a:path h="219456" w="365760">
                  <a:moveTo>
                    <a:pt x="0" y="109728"/>
                  </a:moveTo>
                  <a:lnTo>
                    <a:pt x="91440" y="109728"/>
                  </a:lnTo>
                  <a:lnTo>
                    <a:pt x="91440" y="0"/>
                  </a:lnTo>
                  <a:lnTo>
                    <a:pt x="274320" y="0"/>
                  </a:lnTo>
                  <a:lnTo>
                    <a:pt x="274320" y="109728"/>
                  </a:lnTo>
                  <a:lnTo>
                    <a:pt x="365760" y="109728"/>
                  </a:lnTo>
                  <a:lnTo>
                    <a:pt x="182880" y="219456"/>
                  </a:lnTo>
                  <a:close/>
                </a:path>
              </a:pathLst>
            </a:custGeom>
            <a:solidFill>
              <a:srgbClr val="2DD4BF"/>
            </a:solidFill>
          </p:spPr>
        </p:sp>
      </p:grpSp>
      <p:grpSp>
        <p:nvGrpSpPr>
          <p:cNvPr name="Group 46" id="46"/>
          <p:cNvGrpSpPr/>
          <p:nvPr/>
        </p:nvGrpSpPr>
        <p:grpSpPr>
          <a:xfrm rot="0">
            <a:off x="5063014" y="3170206"/>
            <a:ext cx="3932872" cy="599884"/>
            <a:chOff x="0" y="0"/>
            <a:chExt cx="5243830" cy="799846"/>
          </a:xfrm>
        </p:grpSpPr>
        <p:sp>
          <p:nvSpPr>
            <p:cNvPr name="Freeform 47" id="47"/>
            <p:cNvSpPr/>
            <p:nvPr/>
          </p:nvSpPr>
          <p:spPr>
            <a:xfrm flipH="false" flipV="false" rot="0">
              <a:off x="0" y="0"/>
              <a:ext cx="5243830" cy="799846"/>
            </a:xfrm>
            <a:custGeom>
              <a:avLst/>
              <a:gdLst/>
              <a:ahLst/>
              <a:cxnLst/>
              <a:rect r="r" b="b" t="t" l="l"/>
              <a:pathLst>
                <a:path h="799846" w="5243830">
                  <a:moveTo>
                    <a:pt x="0" y="114300"/>
                  </a:moveTo>
                  <a:cubicBezTo>
                    <a:pt x="0" y="51181"/>
                    <a:pt x="51181" y="0"/>
                    <a:pt x="114300" y="0"/>
                  </a:cubicBezTo>
                  <a:lnTo>
                    <a:pt x="5129530" y="0"/>
                  </a:lnTo>
                  <a:cubicBezTo>
                    <a:pt x="5192649" y="0"/>
                    <a:pt x="5243830" y="51181"/>
                    <a:pt x="5243830" y="114300"/>
                  </a:cubicBezTo>
                  <a:lnTo>
                    <a:pt x="5243830" y="685546"/>
                  </a:lnTo>
                  <a:cubicBezTo>
                    <a:pt x="5243830" y="748665"/>
                    <a:pt x="5192649" y="799846"/>
                    <a:pt x="5129530" y="799846"/>
                  </a:cubicBezTo>
                  <a:lnTo>
                    <a:pt x="114300" y="799846"/>
                  </a:lnTo>
                  <a:cubicBezTo>
                    <a:pt x="51181" y="799846"/>
                    <a:pt x="0" y="748665"/>
                    <a:pt x="0" y="685546"/>
                  </a:cubicBezTo>
                  <a:close/>
                </a:path>
              </a:pathLst>
            </a:custGeom>
            <a:solidFill>
              <a:srgbClr val="FFFFFF"/>
            </a:solidFill>
            <a:ln w="23812" cap="sq">
              <a:solidFill>
                <a:srgbClr val="16213E"/>
              </a:solidFill>
              <a:prstDash val="solid"/>
              <a:miter/>
            </a:ln>
          </p:spPr>
        </p:sp>
      </p:grpSp>
      <p:grpSp>
        <p:nvGrpSpPr>
          <p:cNvPr name="Group 48" id="48"/>
          <p:cNvGrpSpPr/>
          <p:nvPr/>
        </p:nvGrpSpPr>
        <p:grpSpPr>
          <a:xfrm rot="0">
            <a:off x="5143500" y="3182112"/>
            <a:ext cx="3771900" cy="576072"/>
            <a:chOff x="0" y="0"/>
            <a:chExt cx="5029200" cy="768096"/>
          </a:xfrm>
        </p:grpSpPr>
        <p:sp>
          <p:nvSpPr>
            <p:cNvPr name="Freeform 49" id="49"/>
            <p:cNvSpPr/>
            <p:nvPr/>
          </p:nvSpPr>
          <p:spPr>
            <a:xfrm flipH="false" flipV="false" rot="0">
              <a:off x="0" y="0"/>
              <a:ext cx="5029200" cy="768096"/>
            </a:xfrm>
            <a:custGeom>
              <a:avLst/>
              <a:gdLst/>
              <a:ahLst/>
              <a:cxnLst/>
              <a:rect r="r" b="b" t="t" l="l"/>
              <a:pathLst>
                <a:path h="768096" w="5029200">
                  <a:moveTo>
                    <a:pt x="0" y="0"/>
                  </a:moveTo>
                  <a:lnTo>
                    <a:pt x="5029200" y="0"/>
                  </a:lnTo>
                  <a:lnTo>
                    <a:pt x="5029200" y="768096"/>
                  </a:lnTo>
                  <a:lnTo>
                    <a:pt x="0" y="768096"/>
                  </a:lnTo>
                  <a:close/>
                </a:path>
              </a:pathLst>
            </a:custGeom>
            <a:blipFill>
              <a:blip r:embed="rId3">
                <a:alphaModFix amt="0"/>
              </a:blip>
              <a:stretch>
                <a:fillRect l="0" t="-77580" r="0" b="-77580"/>
              </a:stretch>
            </a:blipFill>
          </p:spPr>
        </p:sp>
        <p:sp>
          <p:nvSpPr>
            <p:cNvPr name="TextBox 50" id="50"/>
            <p:cNvSpPr txBox="true"/>
            <p:nvPr/>
          </p:nvSpPr>
          <p:spPr>
            <a:xfrm>
              <a:off x="0" y="-38100"/>
              <a:ext cx="5029200" cy="806196"/>
            </a:xfrm>
            <a:prstGeom prst="rect">
              <a:avLst/>
            </a:prstGeom>
          </p:spPr>
          <p:txBody>
            <a:bodyPr anchor="ctr" rtlCol="false" tIns="0" lIns="0" bIns="0" rIns="0"/>
            <a:lstStyle/>
            <a:p>
              <a:pPr algn="ctr">
                <a:lnSpc>
                  <a:spcPts val="1800"/>
                </a:lnSpc>
              </a:pPr>
              <a:r>
                <a:rPr lang="en-US" sz="1500" b="true">
                  <a:solidFill>
                    <a:srgbClr val="17213B"/>
                  </a:solidFill>
                  <a:latin typeface="Calibri (MS) Bold"/>
                  <a:ea typeface="Calibri (MS) Bold"/>
                  <a:cs typeface="Calibri (MS) Bold"/>
                  <a:sym typeface="Calibri (MS) Bold"/>
                </a:rPr>
                <a:t>Search Agent</a:t>
              </a:r>
            </a:p>
          </p:txBody>
        </p:sp>
      </p:grpSp>
      <p:grpSp>
        <p:nvGrpSpPr>
          <p:cNvPr name="Group 51" id="51"/>
          <p:cNvGrpSpPr/>
          <p:nvPr/>
        </p:nvGrpSpPr>
        <p:grpSpPr>
          <a:xfrm rot="0">
            <a:off x="6885432" y="3758184"/>
            <a:ext cx="274320" cy="164592"/>
            <a:chOff x="0" y="0"/>
            <a:chExt cx="365760" cy="219456"/>
          </a:xfrm>
        </p:grpSpPr>
        <p:sp>
          <p:nvSpPr>
            <p:cNvPr name="Freeform 52" id="52"/>
            <p:cNvSpPr/>
            <p:nvPr/>
          </p:nvSpPr>
          <p:spPr>
            <a:xfrm flipH="false" flipV="false" rot="0">
              <a:off x="0" y="0"/>
              <a:ext cx="365760" cy="219456"/>
            </a:xfrm>
            <a:custGeom>
              <a:avLst/>
              <a:gdLst/>
              <a:ahLst/>
              <a:cxnLst/>
              <a:rect r="r" b="b" t="t" l="l"/>
              <a:pathLst>
                <a:path h="219456" w="365760">
                  <a:moveTo>
                    <a:pt x="0" y="109728"/>
                  </a:moveTo>
                  <a:lnTo>
                    <a:pt x="91440" y="109728"/>
                  </a:lnTo>
                  <a:lnTo>
                    <a:pt x="91440" y="0"/>
                  </a:lnTo>
                  <a:lnTo>
                    <a:pt x="274320" y="0"/>
                  </a:lnTo>
                  <a:lnTo>
                    <a:pt x="274320" y="109728"/>
                  </a:lnTo>
                  <a:lnTo>
                    <a:pt x="365760" y="109728"/>
                  </a:lnTo>
                  <a:lnTo>
                    <a:pt x="182880" y="219456"/>
                  </a:lnTo>
                  <a:close/>
                </a:path>
              </a:pathLst>
            </a:custGeom>
            <a:solidFill>
              <a:srgbClr val="2DD4BF"/>
            </a:solidFill>
          </p:spPr>
        </p:sp>
      </p:grpSp>
      <p:grpSp>
        <p:nvGrpSpPr>
          <p:cNvPr name="Group 53" id="53"/>
          <p:cNvGrpSpPr/>
          <p:nvPr/>
        </p:nvGrpSpPr>
        <p:grpSpPr>
          <a:xfrm rot="0">
            <a:off x="5063014" y="3910870"/>
            <a:ext cx="3932872" cy="599884"/>
            <a:chOff x="0" y="0"/>
            <a:chExt cx="5243830" cy="799846"/>
          </a:xfrm>
        </p:grpSpPr>
        <p:sp>
          <p:nvSpPr>
            <p:cNvPr name="Freeform 54" id="54"/>
            <p:cNvSpPr/>
            <p:nvPr/>
          </p:nvSpPr>
          <p:spPr>
            <a:xfrm flipH="false" flipV="false" rot="0">
              <a:off x="0" y="0"/>
              <a:ext cx="5243830" cy="799846"/>
            </a:xfrm>
            <a:custGeom>
              <a:avLst/>
              <a:gdLst/>
              <a:ahLst/>
              <a:cxnLst/>
              <a:rect r="r" b="b" t="t" l="l"/>
              <a:pathLst>
                <a:path h="799846" w="5243830">
                  <a:moveTo>
                    <a:pt x="0" y="114300"/>
                  </a:moveTo>
                  <a:cubicBezTo>
                    <a:pt x="0" y="51181"/>
                    <a:pt x="51181" y="0"/>
                    <a:pt x="114300" y="0"/>
                  </a:cubicBezTo>
                  <a:lnTo>
                    <a:pt x="5129530" y="0"/>
                  </a:lnTo>
                  <a:cubicBezTo>
                    <a:pt x="5192649" y="0"/>
                    <a:pt x="5243830" y="51181"/>
                    <a:pt x="5243830" y="114300"/>
                  </a:cubicBezTo>
                  <a:lnTo>
                    <a:pt x="5243830" y="685546"/>
                  </a:lnTo>
                  <a:cubicBezTo>
                    <a:pt x="5243830" y="748665"/>
                    <a:pt x="5192649" y="799846"/>
                    <a:pt x="5129530" y="799846"/>
                  </a:cubicBezTo>
                  <a:lnTo>
                    <a:pt x="114300" y="799846"/>
                  </a:lnTo>
                  <a:cubicBezTo>
                    <a:pt x="51181" y="799846"/>
                    <a:pt x="0" y="748665"/>
                    <a:pt x="0" y="685546"/>
                  </a:cubicBezTo>
                  <a:close/>
                </a:path>
              </a:pathLst>
            </a:custGeom>
            <a:solidFill>
              <a:srgbClr val="FFFFFF"/>
            </a:solidFill>
            <a:ln w="23812" cap="sq">
              <a:solidFill>
                <a:srgbClr val="16213E"/>
              </a:solidFill>
              <a:prstDash val="solid"/>
              <a:miter/>
            </a:ln>
          </p:spPr>
        </p:sp>
      </p:grpSp>
      <p:grpSp>
        <p:nvGrpSpPr>
          <p:cNvPr name="Group 55" id="55"/>
          <p:cNvGrpSpPr/>
          <p:nvPr/>
        </p:nvGrpSpPr>
        <p:grpSpPr>
          <a:xfrm rot="0">
            <a:off x="5143500" y="3922776"/>
            <a:ext cx="3771900" cy="576072"/>
            <a:chOff x="0" y="0"/>
            <a:chExt cx="5029200" cy="768096"/>
          </a:xfrm>
        </p:grpSpPr>
        <p:sp>
          <p:nvSpPr>
            <p:cNvPr name="Freeform 56" id="56"/>
            <p:cNvSpPr/>
            <p:nvPr/>
          </p:nvSpPr>
          <p:spPr>
            <a:xfrm flipH="false" flipV="false" rot="0">
              <a:off x="0" y="0"/>
              <a:ext cx="5029200" cy="768096"/>
            </a:xfrm>
            <a:custGeom>
              <a:avLst/>
              <a:gdLst/>
              <a:ahLst/>
              <a:cxnLst/>
              <a:rect r="r" b="b" t="t" l="l"/>
              <a:pathLst>
                <a:path h="768096" w="5029200">
                  <a:moveTo>
                    <a:pt x="0" y="0"/>
                  </a:moveTo>
                  <a:lnTo>
                    <a:pt x="5029200" y="0"/>
                  </a:lnTo>
                  <a:lnTo>
                    <a:pt x="5029200" y="768096"/>
                  </a:lnTo>
                  <a:lnTo>
                    <a:pt x="0" y="768096"/>
                  </a:lnTo>
                  <a:close/>
                </a:path>
              </a:pathLst>
            </a:custGeom>
            <a:blipFill>
              <a:blip r:embed="rId3">
                <a:alphaModFix amt="0"/>
              </a:blip>
              <a:stretch>
                <a:fillRect l="0" t="-77580" r="0" b="-77580"/>
              </a:stretch>
            </a:blipFill>
          </p:spPr>
        </p:sp>
        <p:sp>
          <p:nvSpPr>
            <p:cNvPr name="TextBox 57" id="57"/>
            <p:cNvSpPr txBox="true"/>
            <p:nvPr/>
          </p:nvSpPr>
          <p:spPr>
            <a:xfrm>
              <a:off x="0" y="-38100"/>
              <a:ext cx="5029200" cy="806196"/>
            </a:xfrm>
            <a:prstGeom prst="rect">
              <a:avLst/>
            </a:prstGeom>
          </p:spPr>
          <p:txBody>
            <a:bodyPr anchor="ctr" rtlCol="false" tIns="0" lIns="0" bIns="0" rIns="0"/>
            <a:lstStyle/>
            <a:p>
              <a:pPr algn="ctr">
                <a:lnSpc>
                  <a:spcPts val="1800"/>
                </a:lnSpc>
              </a:pPr>
              <a:r>
                <a:rPr lang="en-US" sz="1500" b="true">
                  <a:solidFill>
                    <a:srgbClr val="17213B"/>
                  </a:solidFill>
                  <a:latin typeface="Calibri (MS) Bold"/>
                  <a:ea typeface="Calibri (MS) Bold"/>
                  <a:cs typeface="Calibri (MS) Bold"/>
                  <a:sym typeface="Calibri (MS) Bold"/>
                </a:rPr>
                <a:t>Router Agent</a:t>
              </a:r>
            </a:p>
          </p:txBody>
        </p:sp>
      </p:grpSp>
      <p:grpSp>
        <p:nvGrpSpPr>
          <p:cNvPr name="Group 58" id="58"/>
          <p:cNvGrpSpPr/>
          <p:nvPr/>
        </p:nvGrpSpPr>
        <p:grpSpPr>
          <a:xfrm rot="0">
            <a:off x="6885432" y="4498848"/>
            <a:ext cx="274320" cy="164592"/>
            <a:chOff x="0" y="0"/>
            <a:chExt cx="365760" cy="219456"/>
          </a:xfrm>
        </p:grpSpPr>
        <p:sp>
          <p:nvSpPr>
            <p:cNvPr name="Freeform 59" id="59"/>
            <p:cNvSpPr/>
            <p:nvPr/>
          </p:nvSpPr>
          <p:spPr>
            <a:xfrm flipH="false" flipV="false" rot="0">
              <a:off x="0" y="0"/>
              <a:ext cx="365760" cy="219456"/>
            </a:xfrm>
            <a:custGeom>
              <a:avLst/>
              <a:gdLst/>
              <a:ahLst/>
              <a:cxnLst/>
              <a:rect r="r" b="b" t="t" l="l"/>
              <a:pathLst>
                <a:path h="219456" w="365760">
                  <a:moveTo>
                    <a:pt x="0" y="109728"/>
                  </a:moveTo>
                  <a:lnTo>
                    <a:pt x="91440" y="109728"/>
                  </a:lnTo>
                  <a:lnTo>
                    <a:pt x="91440" y="0"/>
                  </a:lnTo>
                  <a:lnTo>
                    <a:pt x="274320" y="0"/>
                  </a:lnTo>
                  <a:lnTo>
                    <a:pt x="274320" y="109728"/>
                  </a:lnTo>
                  <a:lnTo>
                    <a:pt x="365760" y="109728"/>
                  </a:lnTo>
                  <a:lnTo>
                    <a:pt x="182880" y="219456"/>
                  </a:lnTo>
                  <a:close/>
                </a:path>
              </a:pathLst>
            </a:custGeom>
            <a:solidFill>
              <a:srgbClr val="2DD4BF"/>
            </a:solidFill>
          </p:spPr>
        </p:sp>
      </p:grpSp>
      <p:grpSp>
        <p:nvGrpSpPr>
          <p:cNvPr name="Group 60" id="60"/>
          <p:cNvGrpSpPr/>
          <p:nvPr/>
        </p:nvGrpSpPr>
        <p:grpSpPr>
          <a:xfrm rot="0">
            <a:off x="5063014" y="4651534"/>
            <a:ext cx="3932872" cy="599884"/>
            <a:chOff x="0" y="0"/>
            <a:chExt cx="5243830" cy="799846"/>
          </a:xfrm>
        </p:grpSpPr>
        <p:sp>
          <p:nvSpPr>
            <p:cNvPr name="Freeform 61" id="61"/>
            <p:cNvSpPr/>
            <p:nvPr/>
          </p:nvSpPr>
          <p:spPr>
            <a:xfrm flipH="false" flipV="false" rot="0">
              <a:off x="0" y="0"/>
              <a:ext cx="5243830" cy="799846"/>
            </a:xfrm>
            <a:custGeom>
              <a:avLst/>
              <a:gdLst/>
              <a:ahLst/>
              <a:cxnLst/>
              <a:rect r="r" b="b" t="t" l="l"/>
              <a:pathLst>
                <a:path h="799846" w="5243830">
                  <a:moveTo>
                    <a:pt x="0" y="114300"/>
                  </a:moveTo>
                  <a:cubicBezTo>
                    <a:pt x="0" y="51181"/>
                    <a:pt x="51181" y="0"/>
                    <a:pt x="114300" y="0"/>
                  </a:cubicBezTo>
                  <a:lnTo>
                    <a:pt x="5129530" y="0"/>
                  </a:lnTo>
                  <a:cubicBezTo>
                    <a:pt x="5192649" y="0"/>
                    <a:pt x="5243830" y="51181"/>
                    <a:pt x="5243830" y="114300"/>
                  </a:cubicBezTo>
                  <a:lnTo>
                    <a:pt x="5243830" y="685546"/>
                  </a:lnTo>
                  <a:cubicBezTo>
                    <a:pt x="5243830" y="748665"/>
                    <a:pt x="5192649" y="799846"/>
                    <a:pt x="5129530" y="799846"/>
                  </a:cubicBezTo>
                  <a:lnTo>
                    <a:pt x="114300" y="799846"/>
                  </a:lnTo>
                  <a:cubicBezTo>
                    <a:pt x="51181" y="799846"/>
                    <a:pt x="0" y="748665"/>
                    <a:pt x="0" y="685546"/>
                  </a:cubicBezTo>
                  <a:close/>
                </a:path>
              </a:pathLst>
            </a:custGeom>
            <a:solidFill>
              <a:srgbClr val="FFFFFF"/>
            </a:solidFill>
            <a:ln w="23812" cap="sq">
              <a:solidFill>
                <a:srgbClr val="16213E"/>
              </a:solidFill>
              <a:prstDash val="solid"/>
              <a:miter/>
            </a:ln>
          </p:spPr>
        </p:sp>
      </p:grpSp>
      <p:grpSp>
        <p:nvGrpSpPr>
          <p:cNvPr name="Group 62" id="62"/>
          <p:cNvGrpSpPr/>
          <p:nvPr/>
        </p:nvGrpSpPr>
        <p:grpSpPr>
          <a:xfrm rot="0">
            <a:off x="5143500" y="4663440"/>
            <a:ext cx="3771900" cy="576072"/>
            <a:chOff x="0" y="0"/>
            <a:chExt cx="5029200" cy="768096"/>
          </a:xfrm>
        </p:grpSpPr>
        <p:sp>
          <p:nvSpPr>
            <p:cNvPr name="Freeform 63" id="63"/>
            <p:cNvSpPr/>
            <p:nvPr/>
          </p:nvSpPr>
          <p:spPr>
            <a:xfrm flipH="false" flipV="false" rot="0">
              <a:off x="0" y="0"/>
              <a:ext cx="5029200" cy="768096"/>
            </a:xfrm>
            <a:custGeom>
              <a:avLst/>
              <a:gdLst/>
              <a:ahLst/>
              <a:cxnLst/>
              <a:rect r="r" b="b" t="t" l="l"/>
              <a:pathLst>
                <a:path h="768096" w="5029200">
                  <a:moveTo>
                    <a:pt x="0" y="0"/>
                  </a:moveTo>
                  <a:lnTo>
                    <a:pt x="5029200" y="0"/>
                  </a:lnTo>
                  <a:lnTo>
                    <a:pt x="5029200" y="768096"/>
                  </a:lnTo>
                  <a:lnTo>
                    <a:pt x="0" y="768096"/>
                  </a:lnTo>
                  <a:close/>
                </a:path>
              </a:pathLst>
            </a:custGeom>
            <a:blipFill>
              <a:blip r:embed="rId3">
                <a:alphaModFix amt="0"/>
              </a:blip>
              <a:stretch>
                <a:fillRect l="0" t="-77580" r="0" b="-77580"/>
              </a:stretch>
            </a:blipFill>
          </p:spPr>
        </p:sp>
        <p:sp>
          <p:nvSpPr>
            <p:cNvPr name="TextBox 64" id="64"/>
            <p:cNvSpPr txBox="true"/>
            <p:nvPr/>
          </p:nvSpPr>
          <p:spPr>
            <a:xfrm>
              <a:off x="0" y="-38100"/>
              <a:ext cx="5029200" cy="806196"/>
            </a:xfrm>
            <a:prstGeom prst="rect">
              <a:avLst/>
            </a:prstGeom>
          </p:spPr>
          <p:txBody>
            <a:bodyPr anchor="ctr" rtlCol="false" tIns="0" lIns="0" bIns="0" rIns="0"/>
            <a:lstStyle/>
            <a:p>
              <a:pPr algn="ctr">
                <a:lnSpc>
                  <a:spcPts val="1800"/>
                </a:lnSpc>
              </a:pPr>
              <a:r>
                <a:rPr lang="en-US" sz="1500" b="true">
                  <a:solidFill>
                    <a:srgbClr val="17213B"/>
                  </a:solidFill>
                  <a:latin typeface="Calibri (MS) Bold"/>
                  <a:ea typeface="Calibri (MS) Bold"/>
                  <a:cs typeface="Calibri (MS) Bold"/>
                  <a:sym typeface="Calibri (MS) Bold"/>
                </a:rPr>
                <a:t>Writer Agent</a:t>
              </a:r>
            </a:p>
          </p:txBody>
        </p:sp>
      </p:grpSp>
      <p:grpSp>
        <p:nvGrpSpPr>
          <p:cNvPr name="Group 65" id="65"/>
          <p:cNvGrpSpPr/>
          <p:nvPr/>
        </p:nvGrpSpPr>
        <p:grpSpPr>
          <a:xfrm rot="0">
            <a:off x="6885432" y="5239512"/>
            <a:ext cx="274320" cy="164592"/>
            <a:chOff x="0" y="0"/>
            <a:chExt cx="365760" cy="219456"/>
          </a:xfrm>
        </p:grpSpPr>
        <p:sp>
          <p:nvSpPr>
            <p:cNvPr name="Freeform 66" id="66"/>
            <p:cNvSpPr/>
            <p:nvPr/>
          </p:nvSpPr>
          <p:spPr>
            <a:xfrm flipH="false" flipV="false" rot="0">
              <a:off x="0" y="0"/>
              <a:ext cx="365760" cy="219456"/>
            </a:xfrm>
            <a:custGeom>
              <a:avLst/>
              <a:gdLst/>
              <a:ahLst/>
              <a:cxnLst/>
              <a:rect r="r" b="b" t="t" l="l"/>
              <a:pathLst>
                <a:path h="219456" w="365760">
                  <a:moveTo>
                    <a:pt x="0" y="109728"/>
                  </a:moveTo>
                  <a:lnTo>
                    <a:pt x="91440" y="109728"/>
                  </a:lnTo>
                  <a:lnTo>
                    <a:pt x="91440" y="0"/>
                  </a:lnTo>
                  <a:lnTo>
                    <a:pt x="274320" y="0"/>
                  </a:lnTo>
                  <a:lnTo>
                    <a:pt x="274320" y="109728"/>
                  </a:lnTo>
                  <a:lnTo>
                    <a:pt x="365760" y="109728"/>
                  </a:lnTo>
                  <a:lnTo>
                    <a:pt x="182880" y="219456"/>
                  </a:lnTo>
                  <a:close/>
                </a:path>
              </a:pathLst>
            </a:custGeom>
            <a:solidFill>
              <a:srgbClr val="2DD4BF"/>
            </a:solidFill>
          </p:spPr>
        </p:sp>
      </p:grpSp>
      <p:grpSp>
        <p:nvGrpSpPr>
          <p:cNvPr name="Group 67" id="67"/>
          <p:cNvGrpSpPr/>
          <p:nvPr/>
        </p:nvGrpSpPr>
        <p:grpSpPr>
          <a:xfrm rot="0">
            <a:off x="5063014" y="5392198"/>
            <a:ext cx="3932872" cy="599884"/>
            <a:chOff x="0" y="0"/>
            <a:chExt cx="5243830" cy="799846"/>
          </a:xfrm>
        </p:grpSpPr>
        <p:sp>
          <p:nvSpPr>
            <p:cNvPr name="Freeform 68" id="68"/>
            <p:cNvSpPr/>
            <p:nvPr/>
          </p:nvSpPr>
          <p:spPr>
            <a:xfrm flipH="false" flipV="false" rot="0">
              <a:off x="0" y="0"/>
              <a:ext cx="5243830" cy="799846"/>
            </a:xfrm>
            <a:custGeom>
              <a:avLst/>
              <a:gdLst/>
              <a:ahLst/>
              <a:cxnLst/>
              <a:rect r="r" b="b" t="t" l="l"/>
              <a:pathLst>
                <a:path h="799846" w="5243830">
                  <a:moveTo>
                    <a:pt x="0" y="114300"/>
                  </a:moveTo>
                  <a:cubicBezTo>
                    <a:pt x="0" y="51181"/>
                    <a:pt x="51181" y="0"/>
                    <a:pt x="114300" y="0"/>
                  </a:cubicBezTo>
                  <a:lnTo>
                    <a:pt x="5129530" y="0"/>
                  </a:lnTo>
                  <a:cubicBezTo>
                    <a:pt x="5192649" y="0"/>
                    <a:pt x="5243830" y="51181"/>
                    <a:pt x="5243830" y="114300"/>
                  </a:cubicBezTo>
                  <a:lnTo>
                    <a:pt x="5243830" y="685546"/>
                  </a:lnTo>
                  <a:cubicBezTo>
                    <a:pt x="5243830" y="748665"/>
                    <a:pt x="5192649" y="799846"/>
                    <a:pt x="5129530" y="799846"/>
                  </a:cubicBezTo>
                  <a:lnTo>
                    <a:pt x="114300" y="799846"/>
                  </a:lnTo>
                  <a:cubicBezTo>
                    <a:pt x="51181" y="799846"/>
                    <a:pt x="0" y="748665"/>
                    <a:pt x="0" y="685546"/>
                  </a:cubicBezTo>
                  <a:close/>
                </a:path>
              </a:pathLst>
            </a:custGeom>
            <a:solidFill>
              <a:srgbClr val="FFFFFF"/>
            </a:solidFill>
            <a:ln w="23812" cap="sq">
              <a:solidFill>
                <a:srgbClr val="16213E"/>
              </a:solidFill>
              <a:prstDash val="solid"/>
              <a:miter/>
            </a:ln>
          </p:spPr>
        </p:sp>
      </p:grpSp>
      <p:grpSp>
        <p:nvGrpSpPr>
          <p:cNvPr name="Group 69" id="69"/>
          <p:cNvGrpSpPr/>
          <p:nvPr/>
        </p:nvGrpSpPr>
        <p:grpSpPr>
          <a:xfrm rot="0">
            <a:off x="5143500" y="5404104"/>
            <a:ext cx="3771900" cy="576072"/>
            <a:chOff x="0" y="0"/>
            <a:chExt cx="5029200" cy="768096"/>
          </a:xfrm>
        </p:grpSpPr>
        <p:sp>
          <p:nvSpPr>
            <p:cNvPr name="Freeform 70" id="70"/>
            <p:cNvSpPr/>
            <p:nvPr/>
          </p:nvSpPr>
          <p:spPr>
            <a:xfrm flipH="false" flipV="false" rot="0">
              <a:off x="0" y="0"/>
              <a:ext cx="5029200" cy="768096"/>
            </a:xfrm>
            <a:custGeom>
              <a:avLst/>
              <a:gdLst/>
              <a:ahLst/>
              <a:cxnLst/>
              <a:rect r="r" b="b" t="t" l="l"/>
              <a:pathLst>
                <a:path h="768096" w="5029200">
                  <a:moveTo>
                    <a:pt x="0" y="0"/>
                  </a:moveTo>
                  <a:lnTo>
                    <a:pt x="5029200" y="0"/>
                  </a:lnTo>
                  <a:lnTo>
                    <a:pt x="5029200" y="768096"/>
                  </a:lnTo>
                  <a:lnTo>
                    <a:pt x="0" y="768096"/>
                  </a:lnTo>
                  <a:close/>
                </a:path>
              </a:pathLst>
            </a:custGeom>
            <a:blipFill>
              <a:blip r:embed="rId3">
                <a:alphaModFix amt="0"/>
              </a:blip>
              <a:stretch>
                <a:fillRect l="0" t="-77580" r="0" b="-77580"/>
              </a:stretch>
            </a:blipFill>
          </p:spPr>
        </p:sp>
        <p:sp>
          <p:nvSpPr>
            <p:cNvPr name="TextBox 71" id="71"/>
            <p:cNvSpPr txBox="true"/>
            <p:nvPr/>
          </p:nvSpPr>
          <p:spPr>
            <a:xfrm>
              <a:off x="0" y="-38100"/>
              <a:ext cx="5029200" cy="806196"/>
            </a:xfrm>
            <a:prstGeom prst="rect">
              <a:avLst/>
            </a:prstGeom>
          </p:spPr>
          <p:txBody>
            <a:bodyPr anchor="ctr" rtlCol="false" tIns="0" lIns="0" bIns="0" rIns="0"/>
            <a:lstStyle/>
            <a:p>
              <a:pPr algn="ctr">
                <a:lnSpc>
                  <a:spcPts val="1800"/>
                </a:lnSpc>
              </a:pPr>
              <a:r>
                <a:rPr lang="en-US" sz="1500" b="true">
                  <a:solidFill>
                    <a:srgbClr val="17213B"/>
                  </a:solidFill>
                  <a:latin typeface="Calibri (MS) Bold"/>
                  <a:ea typeface="Calibri (MS) Bold"/>
                  <a:cs typeface="Calibri (MS) Bold"/>
                  <a:sym typeface="Calibri (MS) Bold"/>
                </a:rPr>
                <a:t>Critique Agent</a:t>
              </a:r>
            </a:p>
          </p:txBody>
        </p:sp>
      </p:grpSp>
      <p:grpSp>
        <p:nvGrpSpPr>
          <p:cNvPr name="Group 72" id="72"/>
          <p:cNvGrpSpPr/>
          <p:nvPr/>
        </p:nvGrpSpPr>
        <p:grpSpPr>
          <a:xfrm rot="0">
            <a:off x="9395460" y="2606040"/>
            <a:ext cx="617220" cy="274320"/>
            <a:chOff x="0" y="0"/>
            <a:chExt cx="822960" cy="365760"/>
          </a:xfrm>
        </p:grpSpPr>
        <p:sp>
          <p:nvSpPr>
            <p:cNvPr name="Freeform 73" id="73"/>
            <p:cNvSpPr/>
            <p:nvPr/>
          </p:nvSpPr>
          <p:spPr>
            <a:xfrm flipH="false" flipV="false" rot="0">
              <a:off x="0" y="0"/>
              <a:ext cx="822960" cy="365760"/>
            </a:xfrm>
            <a:custGeom>
              <a:avLst/>
              <a:gdLst/>
              <a:ahLst/>
              <a:cxnLst/>
              <a:rect r="r" b="b" t="t" l="l"/>
              <a:pathLst>
                <a:path h="365760" w="822960">
                  <a:moveTo>
                    <a:pt x="0" y="91440"/>
                  </a:moveTo>
                  <a:lnTo>
                    <a:pt x="640080" y="91440"/>
                  </a:lnTo>
                  <a:lnTo>
                    <a:pt x="640080" y="0"/>
                  </a:lnTo>
                  <a:lnTo>
                    <a:pt x="822960" y="182880"/>
                  </a:lnTo>
                  <a:lnTo>
                    <a:pt x="640080" y="365760"/>
                  </a:lnTo>
                  <a:lnTo>
                    <a:pt x="640080" y="274320"/>
                  </a:lnTo>
                  <a:lnTo>
                    <a:pt x="0" y="274320"/>
                  </a:lnTo>
                  <a:close/>
                </a:path>
              </a:pathLst>
            </a:custGeom>
            <a:solidFill>
              <a:srgbClr val="2DD4BF"/>
            </a:solidFill>
          </p:spPr>
        </p:sp>
      </p:grpSp>
      <p:grpSp>
        <p:nvGrpSpPr>
          <p:cNvPr name="Group 74" id="74"/>
          <p:cNvGrpSpPr/>
          <p:nvPr/>
        </p:nvGrpSpPr>
        <p:grpSpPr>
          <a:xfrm rot="0">
            <a:off x="10287000" y="2263140"/>
            <a:ext cx="2743200" cy="754380"/>
            <a:chOff x="0" y="0"/>
            <a:chExt cx="3657600" cy="1005840"/>
          </a:xfrm>
        </p:grpSpPr>
        <p:sp>
          <p:nvSpPr>
            <p:cNvPr name="Freeform 75" id="75"/>
            <p:cNvSpPr/>
            <p:nvPr/>
          </p:nvSpPr>
          <p:spPr>
            <a:xfrm flipH="false" flipV="false" rot="0">
              <a:off x="0" y="0"/>
              <a:ext cx="3657600" cy="1005840"/>
            </a:xfrm>
            <a:custGeom>
              <a:avLst/>
              <a:gdLst/>
              <a:ahLst/>
              <a:cxnLst/>
              <a:rect r="r" b="b" t="t" l="l"/>
              <a:pathLst>
                <a:path h="1005840" w="3657600">
                  <a:moveTo>
                    <a:pt x="0" y="0"/>
                  </a:moveTo>
                  <a:lnTo>
                    <a:pt x="3657600" y="0"/>
                  </a:lnTo>
                  <a:lnTo>
                    <a:pt x="3657600" y="1005840"/>
                  </a:lnTo>
                  <a:lnTo>
                    <a:pt x="0" y="1005840"/>
                  </a:lnTo>
                  <a:close/>
                </a:path>
              </a:pathLst>
            </a:custGeom>
            <a:blipFill>
              <a:blip r:embed="rId3">
                <a:alphaModFix amt="0"/>
              </a:blip>
              <a:stretch>
                <a:fillRect l="0" t="-20854" r="0" b="-20854"/>
              </a:stretch>
            </a:blipFill>
          </p:spPr>
        </p:sp>
        <p:sp>
          <p:nvSpPr>
            <p:cNvPr name="TextBox 76" id="76"/>
            <p:cNvSpPr txBox="true"/>
            <p:nvPr/>
          </p:nvSpPr>
          <p:spPr>
            <a:xfrm>
              <a:off x="0" y="-28575"/>
              <a:ext cx="3657600" cy="1034415"/>
            </a:xfrm>
            <a:prstGeom prst="rect">
              <a:avLst/>
            </a:prstGeom>
          </p:spPr>
          <p:txBody>
            <a:bodyPr anchor="ctr" rtlCol="false" tIns="0" lIns="0" bIns="0" rIns="0"/>
            <a:lstStyle/>
            <a:p>
              <a:pPr algn="ctr">
                <a:lnSpc>
                  <a:spcPts val="1980"/>
                </a:lnSpc>
              </a:pPr>
              <a:r>
                <a:rPr lang="en-US" sz="1650" b="true">
                  <a:solidFill>
                    <a:srgbClr val="92400E"/>
                  </a:solidFill>
                  <a:latin typeface="Calibri (MS) Bold"/>
                  <a:ea typeface="Calibri (MS) Bold"/>
                  <a:cs typeface="Calibri (MS) Bold"/>
                  <a:sym typeface="Calibri (MS) Bold"/>
                </a:rPr>
                <a:t>Fine tune LLM</a:t>
              </a:r>
            </a:p>
          </p:txBody>
        </p:sp>
      </p:grpSp>
      <p:grpSp>
        <p:nvGrpSpPr>
          <p:cNvPr name="Group 77" id="77"/>
          <p:cNvGrpSpPr/>
          <p:nvPr/>
        </p:nvGrpSpPr>
        <p:grpSpPr>
          <a:xfrm rot="0">
            <a:off x="9395460" y="3840480"/>
            <a:ext cx="617220" cy="274320"/>
            <a:chOff x="0" y="0"/>
            <a:chExt cx="822960" cy="365760"/>
          </a:xfrm>
        </p:grpSpPr>
        <p:sp>
          <p:nvSpPr>
            <p:cNvPr name="Freeform 78" id="78"/>
            <p:cNvSpPr/>
            <p:nvPr/>
          </p:nvSpPr>
          <p:spPr>
            <a:xfrm flipH="false" flipV="false" rot="0">
              <a:off x="0" y="0"/>
              <a:ext cx="822960" cy="365760"/>
            </a:xfrm>
            <a:custGeom>
              <a:avLst/>
              <a:gdLst/>
              <a:ahLst/>
              <a:cxnLst/>
              <a:rect r="r" b="b" t="t" l="l"/>
              <a:pathLst>
                <a:path h="365760" w="822960">
                  <a:moveTo>
                    <a:pt x="0" y="91440"/>
                  </a:moveTo>
                  <a:lnTo>
                    <a:pt x="640080" y="91440"/>
                  </a:lnTo>
                  <a:lnTo>
                    <a:pt x="640080" y="0"/>
                  </a:lnTo>
                  <a:lnTo>
                    <a:pt x="822960" y="182880"/>
                  </a:lnTo>
                  <a:lnTo>
                    <a:pt x="640080" y="365760"/>
                  </a:lnTo>
                  <a:lnTo>
                    <a:pt x="640080" y="274320"/>
                  </a:lnTo>
                  <a:lnTo>
                    <a:pt x="0" y="274320"/>
                  </a:lnTo>
                  <a:close/>
                </a:path>
              </a:pathLst>
            </a:custGeom>
            <a:solidFill>
              <a:srgbClr val="2DD4BF"/>
            </a:solidFill>
          </p:spPr>
        </p:sp>
      </p:grpSp>
      <p:grpSp>
        <p:nvGrpSpPr>
          <p:cNvPr name="Group 79" id="79"/>
          <p:cNvGrpSpPr/>
          <p:nvPr/>
        </p:nvGrpSpPr>
        <p:grpSpPr>
          <a:xfrm rot="0">
            <a:off x="10206514" y="3554254"/>
            <a:ext cx="2904172" cy="778193"/>
            <a:chOff x="0" y="0"/>
            <a:chExt cx="3872230" cy="1037590"/>
          </a:xfrm>
        </p:grpSpPr>
        <p:sp>
          <p:nvSpPr>
            <p:cNvPr name="Freeform 80" id="80"/>
            <p:cNvSpPr/>
            <p:nvPr/>
          </p:nvSpPr>
          <p:spPr>
            <a:xfrm flipH="false" flipV="false" rot="0">
              <a:off x="0" y="0"/>
              <a:ext cx="3872230" cy="1037590"/>
            </a:xfrm>
            <a:custGeom>
              <a:avLst/>
              <a:gdLst/>
              <a:ahLst/>
              <a:cxnLst/>
              <a:rect r="r" b="b" t="t" l="l"/>
              <a:pathLst>
                <a:path h="1037590" w="3872230">
                  <a:moveTo>
                    <a:pt x="0" y="113157"/>
                  </a:moveTo>
                  <a:cubicBezTo>
                    <a:pt x="0" y="50673"/>
                    <a:pt x="50673" y="0"/>
                    <a:pt x="113157" y="0"/>
                  </a:cubicBezTo>
                  <a:lnTo>
                    <a:pt x="3759073" y="0"/>
                  </a:lnTo>
                  <a:cubicBezTo>
                    <a:pt x="3821557" y="0"/>
                    <a:pt x="3872230" y="50673"/>
                    <a:pt x="3872230" y="113157"/>
                  </a:cubicBezTo>
                  <a:lnTo>
                    <a:pt x="3872230" y="924433"/>
                  </a:lnTo>
                  <a:cubicBezTo>
                    <a:pt x="3872230" y="986917"/>
                    <a:pt x="3821557" y="1037590"/>
                    <a:pt x="3759073" y="1037590"/>
                  </a:cubicBezTo>
                  <a:lnTo>
                    <a:pt x="113157" y="1037590"/>
                  </a:lnTo>
                  <a:cubicBezTo>
                    <a:pt x="50673" y="1037590"/>
                    <a:pt x="0" y="986917"/>
                    <a:pt x="0" y="924433"/>
                  </a:cubicBezTo>
                  <a:close/>
                </a:path>
              </a:pathLst>
            </a:custGeom>
            <a:solidFill>
              <a:srgbClr val="FDF1E1"/>
            </a:solidFill>
            <a:ln w="23812" cap="sq">
              <a:solidFill>
                <a:srgbClr val="D97706"/>
              </a:solidFill>
              <a:prstDash val="solid"/>
              <a:miter/>
            </a:ln>
          </p:spPr>
        </p:sp>
      </p:grpSp>
      <p:grpSp>
        <p:nvGrpSpPr>
          <p:cNvPr name="Group 81" id="81"/>
          <p:cNvGrpSpPr/>
          <p:nvPr/>
        </p:nvGrpSpPr>
        <p:grpSpPr>
          <a:xfrm rot="0">
            <a:off x="10287000" y="3566160"/>
            <a:ext cx="2743200" cy="754380"/>
            <a:chOff x="0" y="0"/>
            <a:chExt cx="3657600" cy="1005840"/>
          </a:xfrm>
        </p:grpSpPr>
        <p:sp>
          <p:nvSpPr>
            <p:cNvPr name="Freeform 82" id="82"/>
            <p:cNvSpPr/>
            <p:nvPr/>
          </p:nvSpPr>
          <p:spPr>
            <a:xfrm flipH="false" flipV="false" rot="0">
              <a:off x="0" y="0"/>
              <a:ext cx="3657600" cy="1005840"/>
            </a:xfrm>
            <a:custGeom>
              <a:avLst/>
              <a:gdLst/>
              <a:ahLst/>
              <a:cxnLst/>
              <a:rect r="r" b="b" t="t" l="l"/>
              <a:pathLst>
                <a:path h="1005840" w="3657600">
                  <a:moveTo>
                    <a:pt x="0" y="0"/>
                  </a:moveTo>
                  <a:lnTo>
                    <a:pt x="3657600" y="0"/>
                  </a:lnTo>
                  <a:lnTo>
                    <a:pt x="3657600" y="1005840"/>
                  </a:lnTo>
                  <a:lnTo>
                    <a:pt x="0" y="1005840"/>
                  </a:lnTo>
                  <a:close/>
                </a:path>
              </a:pathLst>
            </a:custGeom>
            <a:blipFill>
              <a:blip r:embed="rId3">
                <a:alphaModFix amt="0"/>
              </a:blip>
              <a:stretch>
                <a:fillRect l="0" t="-20854" r="0" b="-20854"/>
              </a:stretch>
            </a:blipFill>
          </p:spPr>
        </p:sp>
        <p:sp>
          <p:nvSpPr>
            <p:cNvPr name="TextBox 83" id="83"/>
            <p:cNvSpPr txBox="true"/>
            <p:nvPr/>
          </p:nvSpPr>
          <p:spPr>
            <a:xfrm>
              <a:off x="0" y="-28575"/>
              <a:ext cx="3657600" cy="1034415"/>
            </a:xfrm>
            <a:prstGeom prst="rect">
              <a:avLst/>
            </a:prstGeom>
          </p:spPr>
          <p:txBody>
            <a:bodyPr anchor="ctr" rtlCol="false" tIns="0" lIns="0" bIns="0" rIns="0"/>
            <a:lstStyle/>
            <a:p>
              <a:pPr algn="ctr">
                <a:lnSpc>
                  <a:spcPts val="1980"/>
                </a:lnSpc>
              </a:pPr>
              <a:r>
                <a:rPr lang="en-US" sz="1650" b="true">
                  <a:solidFill>
                    <a:srgbClr val="92400E"/>
                  </a:solidFill>
                  <a:latin typeface="Calibri (MS) Bold"/>
                  <a:ea typeface="Calibri (MS) Bold"/>
                  <a:cs typeface="Calibri (MS) Bold"/>
                  <a:sym typeface="Calibri (MS) Bold"/>
                </a:rPr>
                <a:t>Tavily Search API</a:t>
              </a:r>
            </a:p>
          </p:txBody>
        </p:sp>
      </p:grpSp>
      <p:grpSp>
        <p:nvGrpSpPr>
          <p:cNvPr name="Group 84" id="84"/>
          <p:cNvGrpSpPr/>
          <p:nvPr/>
        </p:nvGrpSpPr>
        <p:grpSpPr>
          <a:xfrm rot="0">
            <a:off x="5760720" y="6062472"/>
            <a:ext cx="274320" cy="301752"/>
            <a:chOff x="0" y="0"/>
            <a:chExt cx="365760" cy="402336"/>
          </a:xfrm>
        </p:grpSpPr>
        <p:sp>
          <p:nvSpPr>
            <p:cNvPr name="Freeform 85" id="85"/>
            <p:cNvSpPr/>
            <p:nvPr/>
          </p:nvSpPr>
          <p:spPr>
            <a:xfrm flipH="false" flipV="false" rot="0">
              <a:off x="0" y="0"/>
              <a:ext cx="365760" cy="402336"/>
            </a:xfrm>
            <a:custGeom>
              <a:avLst/>
              <a:gdLst/>
              <a:ahLst/>
              <a:cxnLst/>
              <a:rect r="r" b="b" t="t" l="l"/>
              <a:pathLst>
                <a:path h="402336" w="365760">
                  <a:moveTo>
                    <a:pt x="0" y="219456"/>
                  </a:moveTo>
                  <a:lnTo>
                    <a:pt x="91440" y="219456"/>
                  </a:lnTo>
                  <a:lnTo>
                    <a:pt x="91440" y="0"/>
                  </a:lnTo>
                  <a:lnTo>
                    <a:pt x="274320" y="0"/>
                  </a:lnTo>
                  <a:lnTo>
                    <a:pt x="274320" y="219456"/>
                  </a:lnTo>
                  <a:lnTo>
                    <a:pt x="365760" y="219456"/>
                  </a:lnTo>
                  <a:lnTo>
                    <a:pt x="182880" y="402336"/>
                  </a:lnTo>
                  <a:close/>
                </a:path>
              </a:pathLst>
            </a:custGeom>
            <a:solidFill>
              <a:srgbClr val="2DD4BF"/>
            </a:solidFill>
          </p:spPr>
        </p:sp>
      </p:grpSp>
      <p:grpSp>
        <p:nvGrpSpPr>
          <p:cNvPr name="Group 86" id="86"/>
          <p:cNvGrpSpPr/>
          <p:nvPr/>
        </p:nvGrpSpPr>
        <p:grpSpPr>
          <a:xfrm rot="0">
            <a:off x="4857274" y="6434614"/>
            <a:ext cx="4344353" cy="778193"/>
            <a:chOff x="0" y="0"/>
            <a:chExt cx="5792470" cy="1037590"/>
          </a:xfrm>
        </p:grpSpPr>
        <p:sp>
          <p:nvSpPr>
            <p:cNvPr name="Freeform 87" id="87"/>
            <p:cNvSpPr/>
            <p:nvPr/>
          </p:nvSpPr>
          <p:spPr>
            <a:xfrm flipH="false" flipV="false" rot="0">
              <a:off x="0" y="0"/>
              <a:ext cx="5792470" cy="1037590"/>
            </a:xfrm>
            <a:custGeom>
              <a:avLst/>
              <a:gdLst/>
              <a:ahLst/>
              <a:cxnLst/>
              <a:rect r="r" b="b" t="t" l="l"/>
              <a:pathLst>
                <a:path h="1037590" w="5792470">
                  <a:moveTo>
                    <a:pt x="0" y="113157"/>
                  </a:moveTo>
                  <a:cubicBezTo>
                    <a:pt x="0" y="50673"/>
                    <a:pt x="50673" y="0"/>
                    <a:pt x="113157" y="0"/>
                  </a:cubicBezTo>
                  <a:lnTo>
                    <a:pt x="5679313" y="0"/>
                  </a:lnTo>
                  <a:cubicBezTo>
                    <a:pt x="5741797" y="0"/>
                    <a:pt x="5792470" y="50673"/>
                    <a:pt x="5792470" y="113157"/>
                  </a:cubicBezTo>
                  <a:lnTo>
                    <a:pt x="5792470" y="924433"/>
                  </a:lnTo>
                  <a:cubicBezTo>
                    <a:pt x="5792470" y="986917"/>
                    <a:pt x="5741797" y="1037590"/>
                    <a:pt x="5679313" y="1037590"/>
                  </a:cubicBezTo>
                  <a:lnTo>
                    <a:pt x="113157" y="1037590"/>
                  </a:lnTo>
                  <a:cubicBezTo>
                    <a:pt x="50673" y="1037590"/>
                    <a:pt x="0" y="986917"/>
                    <a:pt x="0" y="924433"/>
                  </a:cubicBezTo>
                  <a:close/>
                </a:path>
              </a:pathLst>
            </a:custGeom>
            <a:solidFill>
              <a:srgbClr val="F3EAFB"/>
            </a:solidFill>
            <a:ln w="23812" cap="sq">
              <a:solidFill>
                <a:srgbClr val="7C3AED"/>
              </a:solidFill>
              <a:prstDash val="solid"/>
              <a:miter/>
            </a:ln>
          </p:spPr>
        </p:sp>
      </p:grpSp>
      <p:grpSp>
        <p:nvGrpSpPr>
          <p:cNvPr name="Group 88" id="88"/>
          <p:cNvGrpSpPr/>
          <p:nvPr/>
        </p:nvGrpSpPr>
        <p:grpSpPr>
          <a:xfrm rot="0">
            <a:off x="4937760" y="6446520"/>
            <a:ext cx="4183380" cy="754380"/>
            <a:chOff x="0" y="0"/>
            <a:chExt cx="5577840" cy="1005840"/>
          </a:xfrm>
        </p:grpSpPr>
        <p:sp>
          <p:nvSpPr>
            <p:cNvPr name="Freeform 89" id="89"/>
            <p:cNvSpPr/>
            <p:nvPr/>
          </p:nvSpPr>
          <p:spPr>
            <a:xfrm flipH="false" flipV="false" rot="0">
              <a:off x="0" y="0"/>
              <a:ext cx="5577840" cy="1005840"/>
            </a:xfrm>
            <a:custGeom>
              <a:avLst/>
              <a:gdLst/>
              <a:ahLst/>
              <a:cxnLst/>
              <a:rect r="r" b="b" t="t" l="l"/>
              <a:pathLst>
                <a:path h="1005840" w="5577840">
                  <a:moveTo>
                    <a:pt x="0" y="0"/>
                  </a:moveTo>
                  <a:lnTo>
                    <a:pt x="5577840" y="0"/>
                  </a:lnTo>
                  <a:lnTo>
                    <a:pt x="5577840" y="1005840"/>
                  </a:lnTo>
                  <a:lnTo>
                    <a:pt x="0" y="1005840"/>
                  </a:lnTo>
                  <a:close/>
                </a:path>
              </a:pathLst>
            </a:custGeom>
            <a:blipFill>
              <a:blip r:embed="rId3">
                <a:alphaModFix amt="0"/>
              </a:blip>
              <a:stretch>
                <a:fillRect l="0" t="-58053" r="0" b="-58053"/>
              </a:stretch>
            </a:blipFill>
          </p:spPr>
        </p:sp>
        <p:sp>
          <p:nvSpPr>
            <p:cNvPr name="TextBox 90" id="90"/>
            <p:cNvSpPr txBox="true"/>
            <p:nvPr/>
          </p:nvSpPr>
          <p:spPr>
            <a:xfrm>
              <a:off x="0" y="-38100"/>
              <a:ext cx="5577840" cy="1043940"/>
            </a:xfrm>
            <a:prstGeom prst="rect">
              <a:avLst/>
            </a:prstGeom>
          </p:spPr>
          <p:txBody>
            <a:bodyPr anchor="ctr" rtlCol="false" tIns="0" lIns="0" bIns="0" rIns="0"/>
            <a:lstStyle/>
            <a:p>
              <a:pPr algn="ctr">
                <a:lnSpc>
                  <a:spcPts val="1709"/>
                </a:lnSpc>
              </a:pPr>
              <a:r>
                <a:rPr lang="en-US" sz="1425" b="true">
                  <a:solidFill>
                    <a:srgbClr val="5B21B6"/>
                  </a:solidFill>
                  <a:latin typeface="Calibri (MS) Bold"/>
                  <a:ea typeface="Calibri (MS) Bold"/>
                  <a:cs typeface="Calibri (MS) Bold"/>
                  <a:sym typeface="Calibri (MS) Bold"/>
                </a:rPr>
                <a:t>Job Store / Database</a:t>
              </a:r>
            </a:p>
            <a:p>
              <a:pPr algn="ctr">
                <a:lnSpc>
                  <a:spcPts val="1709"/>
                </a:lnSpc>
              </a:pPr>
              <a:r>
                <a:rPr lang="en-US" sz="1425" b="true">
                  <a:solidFill>
                    <a:srgbClr val="5B21B6"/>
                  </a:solidFill>
                  <a:latin typeface="Calibri (MS) Bold"/>
                  <a:ea typeface="Calibri (MS) Bold"/>
                  <a:cs typeface="Calibri (MS) Bold"/>
                  <a:sym typeface="Calibri (MS) Bold"/>
                </a:rPr>
                <a:t>(PostgreSQL + memory fallback)</a:t>
              </a:r>
            </a:p>
          </p:txBody>
        </p:sp>
      </p:grpSp>
      <p:grpSp>
        <p:nvGrpSpPr>
          <p:cNvPr name="Group 91" id="91"/>
          <p:cNvGrpSpPr/>
          <p:nvPr/>
        </p:nvGrpSpPr>
        <p:grpSpPr>
          <a:xfrm rot="0">
            <a:off x="605314" y="7600474"/>
            <a:ext cx="13602652" cy="778193"/>
            <a:chOff x="0" y="0"/>
            <a:chExt cx="18136870" cy="1037590"/>
          </a:xfrm>
        </p:grpSpPr>
        <p:sp>
          <p:nvSpPr>
            <p:cNvPr name="Freeform 92" id="92"/>
            <p:cNvSpPr/>
            <p:nvPr/>
          </p:nvSpPr>
          <p:spPr>
            <a:xfrm flipH="false" flipV="false" rot="0">
              <a:off x="0" y="0"/>
              <a:ext cx="18136870" cy="1037590"/>
            </a:xfrm>
            <a:custGeom>
              <a:avLst/>
              <a:gdLst/>
              <a:ahLst/>
              <a:cxnLst/>
              <a:rect r="r" b="b" t="t" l="l"/>
              <a:pathLst>
                <a:path h="1037590" w="18136870">
                  <a:moveTo>
                    <a:pt x="0" y="113157"/>
                  </a:moveTo>
                  <a:cubicBezTo>
                    <a:pt x="0" y="50673"/>
                    <a:pt x="50673" y="0"/>
                    <a:pt x="113157" y="0"/>
                  </a:cubicBezTo>
                  <a:lnTo>
                    <a:pt x="18023712" y="0"/>
                  </a:lnTo>
                  <a:cubicBezTo>
                    <a:pt x="18086197" y="0"/>
                    <a:pt x="18136870" y="50673"/>
                    <a:pt x="18136870" y="113157"/>
                  </a:cubicBezTo>
                  <a:lnTo>
                    <a:pt x="18136870" y="924433"/>
                  </a:lnTo>
                  <a:cubicBezTo>
                    <a:pt x="18136870" y="986917"/>
                    <a:pt x="18086197" y="1037590"/>
                    <a:pt x="18023712" y="1037590"/>
                  </a:cubicBezTo>
                  <a:lnTo>
                    <a:pt x="113157" y="1037590"/>
                  </a:lnTo>
                  <a:cubicBezTo>
                    <a:pt x="50673" y="1037590"/>
                    <a:pt x="0" y="986917"/>
                    <a:pt x="0" y="924433"/>
                  </a:cubicBezTo>
                  <a:close/>
                </a:path>
              </a:pathLst>
            </a:custGeom>
            <a:solidFill>
              <a:srgbClr val="1C2A4A"/>
            </a:solidFill>
            <a:ln w="23812" cap="sq">
              <a:solidFill>
                <a:srgbClr val="16213E"/>
              </a:solidFill>
              <a:prstDash val="solid"/>
              <a:miter/>
            </a:ln>
          </p:spPr>
        </p:sp>
      </p:grpSp>
      <p:grpSp>
        <p:nvGrpSpPr>
          <p:cNvPr name="Group 93" id="93"/>
          <p:cNvGrpSpPr/>
          <p:nvPr/>
        </p:nvGrpSpPr>
        <p:grpSpPr>
          <a:xfrm rot="0">
            <a:off x="685800" y="7612380"/>
            <a:ext cx="13441680" cy="754380"/>
            <a:chOff x="0" y="0"/>
            <a:chExt cx="17922240" cy="1005840"/>
          </a:xfrm>
        </p:grpSpPr>
        <p:sp>
          <p:nvSpPr>
            <p:cNvPr name="Freeform 94" id="94"/>
            <p:cNvSpPr/>
            <p:nvPr/>
          </p:nvSpPr>
          <p:spPr>
            <a:xfrm flipH="false" flipV="false" rot="0">
              <a:off x="0" y="0"/>
              <a:ext cx="17922239" cy="1005840"/>
            </a:xfrm>
            <a:custGeom>
              <a:avLst/>
              <a:gdLst/>
              <a:ahLst/>
              <a:cxnLst/>
              <a:rect r="r" b="b" t="t" l="l"/>
              <a:pathLst>
                <a:path h="1005840" w="17922239">
                  <a:moveTo>
                    <a:pt x="0" y="0"/>
                  </a:moveTo>
                  <a:lnTo>
                    <a:pt x="17922239" y="0"/>
                  </a:lnTo>
                  <a:lnTo>
                    <a:pt x="17922239" y="1005840"/>
                  </a:lnTo>
                  <a:lnTo>
                    <a:pt x="0" y="1005840"/>
                  </a:lnTo>
                  <a:close/>
                </a:path>
              </a:pathLst>
            </a:custGeom>
            <a:solidFill>
              <a:srgbClr val="1C2A4A">
                <a:alpha val="0"/>
              </a:srgbClr>
            </a:solidFill>
            <a:ln w="23812" cap="sq">
              <a:solidFill>
                <a:srgbClr val="16213E"/>
              </a:solidFill>
              <a:prstDash val="solid"/>
              <a:miter/>
            </a:ln>
          </p:spPr>
        </p:sp>
        <p:sp>
          <p:nvSpPr>
            <p:cNvPr name="TextBox 95" id="95"/>
            <p:cNvSpPr txBox="true"/>
            <p:nvPr/>
          </p:nvSpPr>
          <p:spPr>
            <a:xfrm>
              <a:off x="0" y="-28575"/>
              <a:ext cx="17922240" cy="10344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Docker Deployment Layer  (Dockerfile + docker-compose)</a:t>
              </a:r>
            </a:p>
          </p:txBody>
        </p:sp>
      </p:grpSp>
      <p:grpSp>
        <p:nvGrpSpPr>
          <p:cNvPr name="Group 96" id="96"/>
          <p:cNvGrpSpPr/>
          <p:nvPr/>
        </p:nvGrpSpPr>
        <p:grpSpPr>
          <a:xfrm rot="0">
            <a:off x="14600396" y="1844516"/>
            <a:ext cx="2826067" cy="6529388"/>
            <a:chOff x="0" y="0"/>
            <a:chExt cx="3768090" cy="8705850"/>
          </a:xfrm>
        </p:grpSpPr>
        <p:sp>
          <p:nvSpPr>
            <p:cNvPr name="Freeform 97" id="97"/>
            <p:cNvSpPr/>
            <p:nvPr/>
          </p:nvSpPr>
          <p:spPr>
            <a:xfrm flipH="false" flipV="false" rot="0">
              <a:off x="0" y="0"/>
              <a:ext cx="3768090" cy="8705850"/>
            </a:xfrm>
            <a:custGeom>
              <a:avLst/>
              <a:gdLst/>
              <a:ahLst/>
              <a:cxnLst/>
              <a:rect r="r" b="b" t="t" l="l"/>
              <a:pathLst>
                <a:path h="8705850" w="3768090">
                  <a:moveTo>
                    <a:pt x="0" y="147066"/>
                  </a:moveTo>
                  <a:cubicBezTo>
                    <a:pt x="0" y="65786"/>
                    <a:pt x="65786" y="0"/>
                    <a:pt x="147066" y="0"/>
                  </a:cubicBezTo>
                  <a:lnTo>
                    <a:pt x="3621024" y="0"/>
                  </a:lnTo>
                  <a:cubicBezTo>
                    <a:pt x="3702177" y="0"/>
                    <a:pt x="3768090" y="65786"/>
                    <a:pt x="3768090" y="147066"/>
                  </a:cubicBezTo>
                  <a:lnTo>
                    <a:pt x="3768090" y="8558784"/>
                  </a:lnTo>
                  <a:cubicBezTo>
                    <a:pt x="3768090" y="8639937"/>
                    <a:pt x="3702304" y="8705850"/>
                    <a:pt x="3621024" y="8705850"/>
                  </a:cubicBezTo>
                  <a:lnTo>
                    <a:pt x="147066" y="8705850"/>
                  </a:lnTo>
                  <a:cubicBezTo>
                    <a:pt x="65786" y="8705850"/>
                    <a:pt x="0" y="8640064"/>
                    <a:pt x="0" y="8558784"/>
                  </a:cubicBezTo>
                  <a:close/>
                </a:path>
              </a:pathLst>
            </a:custGeom>
            <a:solidFill>
              <a:srgbClr val="FFFFFF"/>
            </a:solidFill>
            <a:ln w="14288" cap="sq">
              <a:solidFill>
                <a:srgbClr val="E2E8F0"/>
              </a:solidFill>
              <a:prstDash val="solid"/>
              <a:miter/>
            </a:ln>
          </p:spPr>
        </p:sp>
      </p:grpSp>
      <p:grpSp>
        <p:nvGrpSpPr>
          <p:cNvPr name="Group 98" id="98"/>
          <p:cNvGrpSpPr/>
          <p:nvPr/>
        </p:nvGrpSpPr>
        <p:grpSpPr>
          <a:xfrm rot="0">
            <a:off x="14881860" y="2057400"/>
            <a:ext cx="2331720" cy="411480"/>
            <a:chOff x="0" y="0"/>
            <a:chExt cx="3108960" cy="548640"/>
          </a:xfrm>
        </p:grpSpPr>
        <p:sp>
          <p:nvSpPr>
            <p:cNvPr name="Freeform 99" id="99"/>
            <p:cNvSpPr/>
            <p:nvPr/>
          </p:nvSpPr>
          <p:spPr>
            <a:xfrm flipH="false" flipV="false" rot="0">
              <a:off x="0" y="0"/>
              <a:ext cx="3108960" cy="548640"/>
            </a:xfrm>
            <a:custGeom>
              <a:avLst/>
              <a:gdLst/>
              <a:ahLst/>
              <a:cxnLst/>
              <a:rect r="r" b="b" t="t" l="l"/>
              <a:pathLst>
                <a:path h="548640" w="3108960">
                  <a:moveTo>
                    <a:pt x="0" y="0"/>
                  </a:moveTo>
                  <a:lnTo>
                    <a:pt x="3108960" y="0"/>
                  </a:lnTo>
                  <a:lnTo>
                    <a:pt x="3108960" y="548640"/>
                  </a:lnTo>
                  <a:lnTo>
                    <a:pt x="0" y="548640"/>
                  </a:lnTo>
                  <a:close/>
                </a:path>
              </a:pathLst>
            </a:custGeom>
            <a:blipFill>
              <a:blip r:embed="rId3">
                <a:alphaModFix amt="0"/>
              </a:blip>
              <a:stretch>
                <a:fillRect l="0" t="-60415" r="0" b="-60415"/>
              </a:stretch>
            </a:blipFill>
          </p:spPr>
        </p:sp>
        <p:sp>
          <p:nvSpPr>
            <p:cNvPr name="TextBox 100" id="100"/>
            <p:cNvSpPr txBox="true"/>
            <p:nvPr/>
          </p:nvSpPr>
          <p:spPr>
            <a:xfrm>
              <a:off x="0" y="-38100"/>
              <a:ext cx="3108960" cy="586740"/>
            </a:xfrm>
            <a:prstGeom prst="rect">
              <a:avLst/>
            </a:prstGeom>
          </p:spPr>
          <p:txBody>
            <a:bodyPr anchor="ctr" rtlCol="false" tIns="0" lIns="0" bIns="0" rIns="0"/>
            <a:lstStyle/>
            <a:p>
              <a:pPr algn="l">
                <a:lnSpc>
                  <a:spcPts val="2070"/>
                </a:lnSpc>
              </a:pPr>
              <a:r>
                <a:rPr lang="en-US" sz="1725" b="true">
                  <a:solidFill>
                    <a:srgbClr val="16213E"/>
                  </a:solidFill>
                  <a:latin typeface="Calibri (MS) Bold"/>
                  <a:ea typeface="Calibri (MS) Bold"/>
                  <a:cs typeface="Calibri (MS) Bold"/>
                  <a:sym typeface="Calibri (MS) Bold"/>
                </a:rPr>
                <a:t>Key Idea</a:t>
              </a:r>
            </a:p>
          </p:txBody>
        </p:sp>
      </p:grpSp>
      <p:grpSp>
        <p:nvGrpSpPr>
          <p:cNvPr name="Group 101" id="101"/>
          <p:cNvGrpSpPr/>
          <p:nvPr/>
        </p:nvGrpSpPr>
        <p:grpSpPr>
          <a:xfrm rot="0">
            <a:off x="14881860" y="2537460"/>
            <a:ext cx="2331720" cy="5623560"/>
            <a:chOff x="0" y="0"/>
            <a:chExt cx="3108960" cy="7498080"/>
          </a:xfrm>
        </p:grpSpPr>
        <p:sp>
          <p:nvSpPr>
            <p:cNvPr name="Freeform 102" id="102"/>
            <p:cNvSpPr/>
            <p:nvPr/>
          </p:nvSpPr>
          <p:spPr>
            <a:xfrm flipH="false" flipV="false" rot="0">
              <a:off x="0" y="0"/>
              <a:ext cx="3108960" cy="7498080"/>
            </a:xfrm>
            <a:custGeom>
              <a:avLst/>
              <a:gdLst/>
              <a:ahLst/>
              <a:cxnLst/>
              <a:rect r="r" b="b" t="t" l="l"/>
              <a:pathLst>
                <a:path h="7498080" w="3108960">
                  <a:moveTo>
                    <a:pt x="0" y="0"/>
                  </a:moveTo>
                  <a:lnTo>
                    <a:pt x="3108960" y="0"/>
                  </a:lnTo>
                  <a:lnTo>
                    <a:pt x="3108960" y="7498080"/>
                  </a:lnTo>
                  <a:lnTo>
                    <a:pt x="0" y="7498080"/>
                  </a:lnTo>
                  <a:close/>
                </a:path>
              </a:pathLst>
            </a:custGeom>
            <a:blipFill>
              <a:blip r:embed="rId3">
                <a:alphaModFix amt="0"/>
              </a:blip>
              <a:stretch>
                <a:fillRect l="-259438" t="0" r="-259438" b="0"/>
              </a:stretch>
            </a:blipFill>
          </p:spPr>
        </p:sp>
        <p:sp>
          <p:nvSpPr>
            <p:cNvPr name="TextBox 103" id="103"/>
            <p:cNvSpPr txBox="true"/>
            <p:nvPr/>
          </p:nvSpPr>
          <p:spPr>
            <a:xfrm>
              <a:off x="0" y="-19050"/>
              <a:ext cx="3108960" cy="7517130"/>
            </a:xfrm>
            <a:prstGeom prst="rect">
              <a:avLst/>
            </a:prstGeom>
          </p:spPr>
          <p:txBody>
            <a:bodyPr anchor="ctr" rtlCol="false" tIns="0" lIns="0" bIns="0" rIns="0"/>
            <a:lstStyle/>
            <a:p>
              <a:pPr algn="l">
                <a:lnSpc>
                  <a:spcPts val="1889"/>
                </a:lnSpc>
              </a:pPr>
              <a:r>
                <a:rPr lang="en-US" sz="1575">
                  <a:solidFill>
                    <a:srgbClr val="64748B"/>
                  </a:solidFill>
                  <a:latin typeface="Calibri (MS)"/>
                  <a:ea typeface="Calibri (MS)"/>
                  <a:cs typeface="Calibri (MS)"/>
                  <a:sym typeface="Calibri (MS)"/>
                </a:rPr>
                <a:t>The client never waits on generation — FastAPI returns a job ID immediately while the LangGraph pipeline runs in the background.</a:t>
              </a:r>
            </a:p>
          </p:txBody>
        </p:sp>
      </p:grpSp>
      <p:grpSp>
        <p:nvGrpSpPr>
          <p:cNvPr name="Group 104" id="104"/>
          <p:cNvGrpSpPr/>
          <p:nvPr/>
        </p:nvGrpSpPr>
        <p:grpSpPr>
          <a:xfrm rot="0">
            <a:off x="685800" y="9793224"/>
            <a:ext cx="10972800" cy="411480"/>
            <a:chOff x="0" y="0"/>
            <a:chExt cx="14630400" cy="548640"/>
          </a:xfrm>
        </p:grpSpPr>
        <p:sp>
          <p:nvSpPr>
            <p:cNvPr name="Freeform 105" id="10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06" id="10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107" id="107"/>
          <p:cNvGrpSpPr/>
          <p:nvPr/>
        </p:nvGrpSpPr>
        <p:grpSpPr>
          <a:xfrm rot="0">
            <a:off x="17282160" y="9793224"/>
            <a:ext cx="548640" cy="411480"/>
            <a:chOff x="0" y="0"/>
            <a:chExt cx="731520" cy="548640"/>
          </a:xfrm>
        </p:grpSpPr>
        <p:sp>
          <p:nvSpPr>
            <p:cNvPr name="Freeform 108" id="108"/>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09" id="109"/>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6</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5 · AGENTIC WORKFLOW</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How a Request Becomes Content</a:t>
              </a:r>
            </a:p>
          </p:txBody>
        </p:sp>
      </p:grpSp>
      <p:grpSp>
        <p:nvGrpSpPr>
          <p:cNvPr name="Group 8" id="8"/>
          <p:cNvGrpSpPr/>
          <p:nvPr/>
        </p:nvGrpSpPr>
        <p:grpSpPr>
          <a:xfrm rot="0">
            <a:off x="960120" y="1755648"/>
            <a:ext cx="15773400" cy="480060"/>
            <a:chOff x="0" y="0"/>
            <a:chExt cx="21031200" cy="640080"/>
          </a:xfrm>
        </p:grpSpPr>
        <p:sp>
          <p:nvSpPr>
            <p:cNvPr name="Freeform 9" id="9"/>
            <p:cNvSpPr/>
            <p:nvPr/>
          </p:nvSpPr>
          <p:spPr>
            <a:xfrm flipH="false" flipV="false" rot="0">
              <a:off x="0" y="0"/>
              <a:ext cx="21031200" cy="640080"/>
            </a:xfrm>
            <a:custGeom>
              <a:avLst/>
              <a:gdLst/>
              <a:ahLst/>
              <a:cxnLst/>
              <a:rect r="r" b="b" t="t" l="l"/>
              <a:pathLst>
                <a:path h="640080" w="21031200">
                  <a:moveTo>
                    <a:pt x="0" y="0"/>
                  </a:moveTo>
                  <a:lnTo>
                    <a:pt x="21031200" y="0"/>
                  </a:lnTo>
                  <a:lnTo>
                    <a:pt x="21031200" y="640080"/>
                  </a:lnTo>
                  <a:lnTo>
                    <a:pt x="0" y="640080"/>
                  </a:lnTo>
                  <a:close/>
                </a:path>
              </a:pathLst>
            </a:custGeom>
            <a:blipFill>
              <a:blip r:embed="rId3">
                <a:alphaModFix amt="0"/>
              </a:blip>
              <a:stretch>
                <a:fillRect l="0" t="-590222" r="0" b="-590222"/>
              </a:stretch>
            </a:blipFill>
          </p:spPr>
        </p:sp>
        <p:sp>
          <p:nvSpPr>
            <p:cNvPr name="TextBox 10" id="10"/>
            <p:cNvSpPr txBox="true"/>
            <p:nvPr/>
          </p:nvSpPr>
          <p:spPr>
            <a:xfrm>
              <a:off x="0" y="-47625"/>
              <a:ext cx="21031200" cy="687705"/>
            </a:xfrm>
            <a:prstGeom prst="rect">
              <a:avLst/>
            </a:prstGeom>
          </p:spPr>
          <p:txBody>
            <a:bodyPr anchor="ctr" rtlCol="false" tIns="0" lIns="0" bIns="0" rIns="0"/>
            <a:lstStyle/>
            <a:p>
              <a:pPr algn="l">
                <a:lnSpc>
                  <a:spcPts val="2340"/>
                </a:lnSpc>
              </a:pPr>
              <a:r>
                <a:rPr lang="en-US" sz="1950" i="true">
                  <a:solidFill>
                    <a:srgbClr val="64748B"/>
                  </a:solidFill>
                  <a:latin typeface="Calibri (MS) Italics"/>
                  <a:ea typeface="Calibri (MS) Italics"/>
                  <a:cs typeface="Calibri (MS) Italics"/>
                  <a:sym typeface="Calibri (MS) Italics"/>
                </a:rPr>
                <a:t>The pipeline is sequential end-to-end — each agent's output feeds the next.</a:t>
              </a:r>
            </a:p>
          </p:txBody>
        </p:sp>
      </p:grpSp>
      <p:grpSp>
        <p:nvGrpSpPr>
          <p:cNvPr name="Group 11" id="11"/>
          <p:cNvGrpSpPr/>
          <p:nvPr/>
        </p:nvGrpSpPr>
        <p:grpSpPr>
          <a:xfrm rot="0">
            <a:off x="3329997" y="2594134"/>
            <a:ext cx="2698433" cy="1121092"/>
            <a:chOff x="0" y="0"/>
            <a:chExt cx="3597910" cy="1494790"/>
          </a:xfrm>
        </p:grpSpPr>
        <p:sp>
          <p:nvSpPr>
            <p:cNvPr name="Freeform 12" id="12"/>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FFFFFF"/>
            </a:solidFill>
            <a:ln w="23812" cap="sq">
              <a:solidFill>
                <a:srgbClr val="16213E"/>
              </a:solidFill>
              <a:prstDash val="solid"/>
              <a:miter/>
            </a:ln>
          </p:spPr>
        </p:sp>
      </p:grpSp>
      <p:grpSp>
        <p:nvGrpSpPr>
          <p:cNvPr name="Group 13" id="13"/>
          <p:cNvGrpSpPr/>
          <p:nvPr/>
        </p:nvGrpSpPr>
        <p:grpSpPr>
          <a:xfrm rot="0">
            <a:off x="3410483" y="2606040"/>
            <a:ext cx="2537460" cy="1097280"/>
            <a:chOff x="0" y="0"/>
            <a:chExt cx="3383280" cy="1463040"/>
          </a:xfrm>
        </p:grpSpPr>
        <p:sp>
          <p:nvSpPr>
            <p:cNvPr name="Freeform 14" id="14"/>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15" id="15"/>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User Request</a:t>
              </a:r>
            </a:p>
          </p:txBody>
        </p:sp>
      </p:grpSp>
      <p:grpSp>
        <p:nvGrpSpPr>
          <p:cNvPr name="Group 16" id="16"/>
          <p:cNvGrpSpPr/>
          <p:nvPr/>
        </p:nvGrpSpPr>
        <p:grpSpPr>
          <a:xfrm rot="0">
            <a:off x="6016523" y="3017520"/>
            <a:ext cx="301752" cy="274320"/>
            <a:chOff x="0" y="0"/>
            <a:chExt cx="402336" cy="365760"/>
          </a:xfrm>
        </p:grpSpPr>
        <p:sp>
          <p:nvSpPr>
            <p:cNvPr name="Freeform 17" id="17"/>
            <p:cNvSpPr/>
            <p:nvPr/>
          </p:nvSpPr>
          <p:spPr>
            <a:xfrm flipH="false" flipV="false" rot="0">
              <a:off x="0" y="0"/>
              <a:ext cx="402336" cy="365760"/>
            </a:xfrm>
            <a:custGeom>
              <a:avLst/>
              <a:gdLst/>
              <a:ahLst/>
              <a:cxnLst/>
              <a:rect r="r" b="b" t="t" l="l"/>
              <a:pathLst>
                <a:path h="365760" w="402336">
                  <a:moveTo>
                    <a:pt x="0" y="91440"/>
                  </a:moveTo>
                  <a:lnTo>
                    <a:pt x="219456" y="91440"/>
                  </a:lnTo>
                  <a:lnTo>
                    <a:pt x="219456" y="0"/>
                  </a:lnTo>
                  <a:lnTo>
                    <a:pt x="402336" y="182880"/>
                  </a:lnTo>
                  <a:lnTo>
                    <a:pt x="219456" y="365760"/>
                  </a:lnTo>
                  <a:lnTo>
                    <a:pt x="219456" y="274320"/>
                  </a:lnTo>
                  <a:lnTo>
                    <a:pt x="0" y="274320"/>
                  </a:lnTo>
                  <a:close/>
                </a:path>
              </a:pathLst>
            </a:custGeom>
            <a:solidFill>
              <a:srgbClr val="2DD4BF"/>
            </a:solidFill>
          </p:spPr>
        </p:sp>
      </p:grpSp>
      <p:grpSp>
        <p:nvGrpSpPr>
          <p:cNvPr name="Group 18" id="18"/>
          <p:cNvGrpSpPr/>
          <p:nvPr/>
        </p:nvGrpSpPr>
        <p:grpSpPr>
          <a:xfrm rot="0">
            <a:off x="6306369" y="2594134"/>
            <a:ext cx="2698433" cy="1121092"/>
            <a:chOff x="0" y="0"/>
            <a:chExt cx="3597910" cy="1494790"/>
          </a:xfrm>
        </p:grpSpPr>
        <p:sp>
          <p:nvSpPr>
            <p:cNvPr name="Freeform 19" id="19"/>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FFFFFF"/>
            </a:solidFill>
            <a:ln w="23812" cap="sq">
              <a:solidFill>
                <a:srgbClr val="16213E"/>
              </a:solidFill>
              <a:prstDash val="solid"/>
              <a:miter/>
            </a:ln>
          </p:spPr>
        </p:sp>
      </p:grpSp>
      <p:grpSp>
        <p:nvGrpSpPr>
          <p:cNvPr name="Group 20" id="20"/>
          <p:cNvGrpSpPr/>
          <p:nvPr/>
        </p:nvGrpSpPr>
        <p:grpSpPr>
          <a:xfrm rot="0">
            <a:off x="6386855" y="2606040"/>
            <a:ext cx="2537460" cy="1097280"/>
            <a:chOff x="0" y="0"/>
            <a:chExt cx="3383280" cy="1463040"/>
          </a:xfrm>
        </p:grpSpPr>
        <p:sp>
          <p:nvSpPr>
            <p:cNvPr name="Freeform 21" id="21"/>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22" id="22"/>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FastAPI</a:t>
              </a:r>
            </a:p>
            <a:p>
              <a:pPr algn="ctr">
                <a:lnSpc>
                  <a:spcPts val="1889"/>
                </a:lnSpc>
              </a:pPr>
              <a:r>
                <a:rPr lang="en-US" sz="1575" b="true">
                  <a:solidFill>
                    <a:srgbClr val="17213B"/>
                  </a:solidFill>
                  <a:latin typeface="Calibri (MS) Bold"/>
                  <a:ea typeface="Calibri (MS) Bold"/>
                  <a:cs typeface="Calibri (MS) Bold"/>
                  <a:sym typeface="Calibri (MS) Bold"/>
                </a:rPr>
                <a:t>POST /generate</a:t>
              </a:r>
            </a:p>
          </p:txBody>
        </p:sp>
      </p:grpSp>
      <p:grpSp>
        <p:nvGrpSpPr>
          <p:cNvPr name="Group 23" id="23"/>
          <p:cNvGrpSpPr/>
          <p:nvPr/>
        </p:nvGrpSpPr>
        <p:grpSpPr>
          <a:xfrm rot="0">
            <a:off x="8992895" y="3017520"/>
            <a:ext cx="301752" cy="274320"/>
            <a:chOff x="0" y="0"/>
            <a:chExt cx="402336" cy="365760"/>
          </a:xfrm>
        </p:grpSpPr>
        <p:sp>
          <p:nvSpPr>
            <p:cNvPr name="Freeform 24" id="24"/>
            <p:cNvSpPr/>
            <p:nvPr/>
          </p:nvSpPr>
          <p:spPr>
            <a:xfrm flipH="false" flipV="false" rot="0">
              <a:off x="0" y="0"/>
              <a:ext cx="402336" cy="365760"/>
            </a:xfrm>
            <a:custGeom>
              <a:avLst/>
              <a:gdLst/>
              <a:ahLst/>
              <a:cxnLst/>
              <a:rect r="r" b="b" t="t" l="l"/>
              <a:pathLst>
                <a:path h="365760" w="402336">
                  <a:moveTo>
                    <a:pt x="0" y="91440"/>
                  </a:moveTo>
                  <a:lnTo>
                    <a:pt x="219456" y="91440"/>
                  </a:lnTo>
                  <a:lnTo>
                    <a:pt x="219456" y="0"/>
                  </a:lnTo>
                  <a:lnTo>
                    <a:pt x="402336" y="182880"/>
                  </a:lnTo>
                  <a:lnTo>
                    <a:pt x="219456" y="365760"/>
                  </a:lnTo>
                  <a:lnTo>
                    <a:pt x="219456" y="274320"/>
                  </a:lnTo>
                  <a:lnTo>
                    <a:pt x="0" y="274320"/>
                  </a:lnTo>
                  <a:close/>
                </a:path>
              </a:pathLst>
            </a:custGeom>
            <a:solidFill>
              <a:srgbClr val="2DD4BF"/>
            </a:solidFill>
          </p:spPr>
        </p:sp>
      </p:grpSp>
      <p:grpSp>
        <p:nvGrpSpPr>
          <p:cNvPr name="Group 25" id="25"/>
          <p:cNvGrpSpPr/>
          <p:nvPr/>
        </p:nvGrpSpPr>
        <p:grpSpPr>
          <a:xfrm rot="0">
            <a:off x="9282741" y="2594134"/>
            <a:ext cx="2698433" cy="1121092"/>
            <a:chOff x="0" y="0"/>
            <a:chExt cx="3597910" cy="1494790"/>
          </a:xfrm>
        </p:grpSpPr>
        <p:sp>
          <p:nvSpPr>
            <p:cNvPr name="Freeform 26" id="26"/>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FFFFFF"/>
            </a:solidFill>
            <a:ln w="23812" cap="sq">
              <a:solidFill>
                <a:srgbClr val="16213E"/>
              </a:solidFill>
              <a:prstDash val="solid"/>
              <a:miter/>
            </a:ln>
          </p:spPr>
        </p:sp>
      </p:grpSp>
      <p:grpSp>
        <p:nvGrpSpPr>
          <p:cNvPr name="Group 27" id="27"/>
          <p:cNvGrpSpPr/>
          <p:nvPr/>
        </p:nvGrpSpPr>
        <p:grpSpPr>
          <a:xfrm rot="0">
            <a:off x="9363227" y="2606040"/>
            <a:ext cx="2537460" cy="1097280"/>
            <a:chOff x="0" y="0"/>
            <a:chExt cx="3383280" cy="1463040"/>
          </a:xfrm>
        </p:grpSpPr>
        <p:sp>
          <p:nvSpPr>
            <p:cNvPr name="Freeform 28" id="28"/>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29" id="29"/>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Create Job</a:t>
              </a:r>
            </a:p>
          </p:txBody>
        </p:sp>
      </p:grpSp>
      <p:grpSp>
        <p:nvGrpSpPr>
          <p:cNvPr name="Group 30" id="30"/>
          <p:cNvGrpSpPr/>
          <p:nvPr/>
        </p:nvGrpSpPr>
        <p:grpSpPr>
          <a:xfrm rot="0">
            <a:off x="11969267" y="3017520"/>
            <a:ext cx="301752" cy="274320"/>
            <a:chOff x="0" y="0"/>
            <a:chExt cx="402336" cy="365760"/>
          </a:xfrm>
        </p:grpSpPr>
        <p:sp>
          <p:nvSpPr>
            <p:cNvPr name="Freeform 31" id="31"/>
            <p:cNvSpPr/>
            <p:nvPr/>
          </p:nvSpPr>
          <p:spPr>
            <a:xfrm flipH="false" flipV="false" rot="0">
              <a:off x="0" y="0"/>
              <a:ext cx="402336" cy="365760"/>
            </a:xfrm>
            <a:custGeom>
              <a:avLst/>
              <a:gdLst/>
              <a:ahLst/>
              <a:cxnLst/>
              <a:rect r="r" b="b" t="t" l="l"/>
              <a:pathLst>
                <a:path h="365760" w="402336">
                  <a:moveTo>
                    <a:pt x="0" y="91440"/>
                  </a:moveTo>
                  <a:lnTo>
                    <a:pt x="219456" y="91440"/>
                  </a:lnTo>
                  <a:lnTo>
                    <a:pt x="219456" y="0"/>
                  </a:lnTo>
                  <a:lnTo>
                    <a:pt x="402336" y="182880"/>
                  </a:lnTo>
                  <a:lnTo>
                    <a:pt x="219456" y="365760"/>
                  </a:lnTo>
                  <a:lnTo>
                    <a:pt x="219456" y="274320"/>
                  </a:lnTo>
                  <a:lnTo>
                    <a:pt x="0" y="274320"/>
                  </a:lnTo>
                  <a:close/>
                </a:path>
              </a:pathLst>
            </a:custGeom>
            <a:solidFill>
              <a:srgbClr val="2DD4BF"/>
            </a:solidFill>
          </p:spPr>
        </p:sp>
      </p:grpSp>
      <p:grpSp>
        <p:nvGrpSpPr>
          <p:cNvPr name="Group 32" id="32"/>
          <p:cNvGrpSpPr/>
          <p:nvPr/>
        </p:nvGrpSpPr>
        <p:grpSpPr>
          <a:xfrm rot="0">
            <a:off x="12259113" y="2594134"/>
            <a:ext cx="2698433" cy="1121092"/>
            <a:chOff x="0" y="0"/>
            <a:chExt cx="3597910" cy="1494790"/>
          </a:xfrm>
        </p:grpSpPr>
        <p:sp>
          <p:nvSpPr>
            <p:cNvPr name="Freeform 33" id="33"/>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FFFFFF"/>
            </a:solidFill>
            <a:ln w="23812" cap="sq">
              <a:solidFill>
                <a:srgbClr val="16213E"/>
              </a:solidFill>
              <a:prstDash val="solid"/>
              <a:miter/>
            </a:ln>
          </p:spPr>
        </p:sp>
      </p:grpSp>
      <p:grpSp>
        <p:nvGrpSpPr>
          <p:cNvPr name="Group 34" id="34"/>
          <p:cNvGrpSpPr/>
          <p:nvPr/>
        </p:nvGrpSpPr>
        <p:grpSpPr>
          <a:xfrm rot="0">
            <a:off x="12339599" y="2606040"/>
            <a:ext cx="2537460" cy="1097280"/>
            <a:chOff x="0" y="0"/>
            <a:chExt cx="3383280" cy="1463040"/>
          </a:xfrm>
        </p:grpSpPr>
        <p:sp>
          <p:nvSpPr>
            <p:cNvPr name="Freeform 35" id="35"/>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36" id="36"/>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Background</a:t>
              </a:r>
            </a:p>
            <a:p>
              <a:pPr algn="ctr">
                <a:lnSpc>
                  <a:spcPts val="1889"/>
                </a:lnSpc>
              </a:pPr>
              <a:r>
                <a:rPr lang="en-US" sz="1575" b="true">
                  <a:solidFill>
                    <a:srgbClr val="17213B"/>
                  </a:solidFill>
                  <a:latin typeface="Calibri (MS) Bold"/>
                  <a:ea typeface="Calibri (MS) Bold"/>
                  <a:cs typeface="Calibri (MS) Bold"/>
                  <a:sym typeface="Calibri (MS) Bold"/>
                </a:rPr>
                <a:t>Task</a:t>
              </a:r>
            </a:p>
          </p:txBody>
        </p:sp>
      </p:grpSp>
      <p:grpSp>
        <p:nvGrpSpPr>
          <p:cNvPr name="Group 37" id="37"/>
          <p:cNvGrpSpPr/>
          <p:nvPr/>
        </p:nvGrpSpPr>
        <p:grpSpPr>
          <a:xfrm rot="0">
            <a:off x="9074658" y="3684270"/>
            <a:ext cx="65532" cy="655320"/>
            <a:chOff x="0" y="0"/>
            <a:chExt cx="87376" cy="873760"/>
          </a:xfrm>
        </p:grpSpPr>
        <p:sp>
          <p:nvSpPr>
            <p:cNvPr name="Freeform 38" id="38"/>
            <p:cNvSpPr/>
            <p:nvPr/>
          </p:nvSpPr>
          <p:spPr>
            <a:xfrm flipH="false" flipV="false" rot="0">
              <a:off x="0" y="0"/>
              <a:ext cx="87376" cy="873760"/>
            </a:xfrm>
            <a:custGeom>
              <a:avLst/>
              <a:gdLst/>
              <a:ahLst/>
              <a:cxnLst/>
              <a:rect r="r" b="b" t="t" l="l"/>
              <a:pathLst>
                <a:path h="873760" w="87376">
                  <a:moveTo>
                    <a:pt x="0" y="0"/>
                  </a:moveTo>
                  <a:lnTo>
                    <a:pt x="43688" y="0"/>
                  </a:lnTo>
                  <a:lnTo>
                    <a:pt x="43688" y="873760"/>
                  </a:lnTo>
                  <a:lnTo>
                    <a:pt x="87376" y="873760"/>
                  </a:lnTo>
                </a:path>
              </a:pathLst>
            </a:custGeom>
            <a:blipFill>
              <a:blip r:embed="rId3">
                <a:alphaModFix amt="0"/>
              </a:blip>
              <a:stretch>
                <a:fillRect l="-1233035" t="0" r="-1233035" b="0"/>
              </a:stretch>
            </a:blipFill>
            <a:ln w="38100" cap="sq">
              <a:solidFill>
                <a:srgbClr val="2DD4BF"/>
              </a:solidFill>
              <a:prstDash val="solid"/>
              <a:miter/>
            </a:ln>
          </p:spPr>
        </p:sp>
      </p:grpSp>
      <p:grpSp>
        <p:nvGrpSpPr>
          <p:cNvPr name="Group 39" id="39"/>
          <p:cNvGrpSpPr/>
          <p:nvPr/>
        </p:nvGrpSpPr>
        <p:grpSpPr>
          <a:xfrm rot="0">
            <a:off x="1841811" y="4582954"/>
            <a:ext cx="2698433" cy="1121092"/>
            <a:chOff x="0" y="0"/>
            <a:chExt cx="3597910" cy="1494790"/>
          </a:xfrm>
        </p:grpSpPr>
        <p:sp>
          <p:nvSpPr>
            <p:cNvPr name="Freeform 40" id="40"/>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EAF7F4"/>
            </a:solidFill>
            <a:ln w="23812" cap="sq">
              <a:solidFill>
                <a:srgbClr val="0F766E"/>
              </a:solidFill>
              <a:prstDash val="solid"/>
              <a:miter/>
            </a:ln>
          </p:spPr>
        </p:sp>
      </p:grpSp>
      <p:grpSp>
        <p:nvGrpSpPr>
          <p:cNvPr name="Group 41" id="41"/>
          <p:cNvGrpSpPr/>
          <p:nvPr/>
        </p:nvGrpSpPr>
        <p:grpSpPr>
          <a:xfrm rot="0">
            <a:off x="1922297" y="4594860"/>
            <a:ext cx="2537460" cy="1097280"/>
            <a:chOff x="0" y="0"/>
            <a:chExt cx="3383280" cy="1463040"/>
          </a:xfrm>
        </p:grpSpPr>
        <p:sp>
          <p:nvSpPr>
            <p:cNvPr name="Freeform 42" id="42"/>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43" id="43"/>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Outline</a:t>
              </a:r>
            </a:p>
            <a:p>
              <a:pPr algn="ctr">
                <a:lnSpc>
                  <a:spcPts val="1889"/>
                </a:lnSpc>
              </a:pPr>
              <a:r>
                <a:rPr lang="en-US" sz="1575" b="true">
                  <a:solidFill>
                    <a:srgbClr val="17213B"/>
                  </a:solidFill>
                  <a:latin typeface="Calibri (MS) Bold"/>
                  <a:ea typeface="Calibri (MS) Bold"/>
                  <a:cs typeface="Calibri (MS) Bold"/>
                  <a:sym typeface="Calibri (MS) Bold"/>
                </a:rPr>
                <a:t>Agent</a:t>
              </a:r>
            </a:p>
          </p:txBody>
        </p:sp>
      </p:grpSp>
      <p:grpSp>
        <p:nvGrpSpPr>
          <p:cNvPr name="Group 44" id="44"/>
          <p:cNvGrpSpPr/>
          <p:nvPr/>
        </p:nvGrpSpPr>
        <p:grpSpPr>
          <a:xfrm rot="0">
            <a:off x="4528337" y="5006340"/>
            <a:ext cx="301752" cy="274320"/>
            <a:chOff x="0" y="0"/>
            <a:chExt cx="402336" cy="365760"/>
          </a:xfrm>
        </p:grpSpPr>
        <p:sp>
          <p:nvSpPr>
            <p:cNvPr name="Freeform 45" id="45"/>
            <p:cNvSpPr/>
            <p:nvPr/>
          </p:nvSpPr>
          <p:spPr>
            <a:xfrm flipH="false" flipV="false" rot="0">
              <a:off x="0" y="0"/>
              <a:ext cx="402336" cy="365760"/>
            </a:xfrm>
            <a:custGeom>
              <a:avLst/>
              <a:gdLst/>
              <a:ahLst/>
              <a:cxnLst/>
              <a:rect r="r" b="b" t="t" l="l"/>
              <a:pathLst>
                <a:path h="365760" w="402336">
                  <a:moveTo>
                    <a:pt x="0" y="91440"/>
                  </a:moveTo>
                  <a:lnTo>
                    <a:pt x="219456" y="91440"/>
                  </a:lnTo>
                  <a:lnTo>
                    <a:pt x="219456" y="0"/>
                  </a:lnTo>
                  <a:lnTo>
                    <a:pt x="402336" y="182880"/>
                  </a:lnTo>
                  <a:lnTo>
                    <a:pt x="219456" y="365760"/>
                  </a:lnTo>
                  <a:lnTo>
                    <a:pt x="219456" y="274320"/>
                  </a:lnTo>
                  <a:lnTo>
                    <a:pt x="0" y="274320"/>
                  </a:lnTo>
                  <a:close/>
                </a:path>
              </a:pathLst>
            </a:custGeom>
            <a:solidFill>
              <a:srgbClr val="2DD4BF"/>
            </a:solidFill>
          </p:spPr>
        </p:sp>
      </p:grpSp>
      <p:grpSp>
        <p:nvGrpSpPr>
          <p:cNvPr name="Group 46" id="46"/>
          <p:cNvGrpSpPr/>
          <p:nvPr/>
        </p:nvGrpSpPr>
        <p:grpSpPr>
          <a:xfrm rot="0">
            <a:off x="4818183" y="4582954"/>
            <a:ext cx="2698433" cy="1121092"/>
            <a:chOff x="0" y="0"/>
            <a:chExt cx="3597910" cy="1494790"/>
          </a:xfrm>
        </p:grpSpPr>
        <p:sp>
          <p:nvSpPr>
            <p:cNvPr name="Freeform 47" id="47"/>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EAF7F4"/>
            </a:solidFill>
            <a:ln w="23812" cap="sq">
              <a:solidFill>
                <a:srgbClr val="0F766E"/>
              </a:solidFill>
              <a:prstDash val="solid"/>
              <a:miter/>
            </a:ln>
          </p:spPr>
        </p:sp>
      </p:grpSp>
      <p:grpSp>
        <p:nvGrpSpPr>
          <p:cNvPr name="Group 48" id="48"/>
          <p:cNvGrpSpPr/>
          <p:nvPr/>
        </p:nvGrpSpPr>
        <p:grpSpPr>
          <a:xfrm rot="0">
            <a:off x="4898669" y="4594860"/>
            <a:ext cx="2537460" cy="1097280"/>
            <a:chOff x="0" y="0"/>
            <a:chExt cx="3383280" cy="1463040"/>
          </a:xfrm>
        </p:grpSpPr>
        <p:sp>
          <p:nvSpPr>
            <p:cNvPr name="Freeform 49" id="49"/>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50" id="50"/>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Search Agent</a:t>
              </a:r>
            </a:p>
            <a:p>
              <a:pPr algn="ctr">
                <a:lnSpc>
                  <a:spcPts val="1889"/>
                </a:lnSpc>
              </a:pPr>
              <a:r>
                <a:rPr lang="en-US" sz="1575" b="true">
                  <a:solidFill>
                    <a:srgbClr val="17213B"/>
                  </a:solidFill>
                  <a:latin typeface="Calibri (MS) Bold"/>
                  <a:ea typeface="Calibri (MS) Bold"/>
                  <a:cs typeface="Calibri (MS) Bold"/>
                  <a:sym typeface="Calibri (MS) Bold"/>
                </a:rPr>
                <a:t>+ Tavily</a:t>
              </a:r>
            </a:p>
          </p:txBody>
        </p:sp>
      </p:grpSp>
      <p:grpSp>
        <p:nvGrpSpPr>
          <p:cNvPr name="Group 51" id="51"/>
          <p:cNvGrpSpPr/>
          <p:nvPr/>
        </p:nvGrpSpPr>
        <p:grpSpPr>
          <a:xfrm rot="0">
            <a:off x="7504709" y="5006340"/>
            <a:ext cx="301752" cy="274320"/>
            <a:chOff x="0" y="0"/>
            <a:chExt cx="402336" cy="365760"/>
          </a:xfrm>
        </p:grpSpPr>
        <p:sp>
          <p:nvSpPr>
            <p:cNvPr name="Freeform 52" id="52"/>
            <p:cNvSpPr/>
            <p:nvPr/>
          </p:nvSpPr>
          <p:spPr>
            <a:xfrm flipH="false" flipV="false" rot="0">
              <a:off x="0" y="0"/>
              <a:ext cx="402336" cy="365760"/>
            </a:xfrm>
            <a:custGeom>
              <a:avLst/>
              <a:gdLst/>
              <a:ahLst/>
              <a:cxnLst/>
              <a:rect r="r" b="b" t="t" l="l"/>
              <a:pathLst>
                <a:path h="365760" w="402336">
                  <a:moveTo>
                    <a:pt x="0" y="91440"/>
                  </a:moveTo>
                  <a:lnTo>
                    <a:pt x="219456" y="91440"/>
                  </a:lnTo>
                  <a:lnTo>
                    <a:pt x="219456" y="0"/>
                  </a:lnTo>
                  <a:lnTo>
                    <a:pt x="402336" y="182880"/>
                  </a:lnTo>
                  <a:lnTo>
                    <a:pt x="219456" y="365760"/>
                  </a:lnTo>
                  <a:lnTo>
                    <a:pt x="219456" y="274320"/>
                  </a:lnTo>
                  <a:lnTo>
                    <a:pt x="0" y="274320"/>
                  </a:lnTo>
                  <a:close/>
                </a:path>
              </a:pathLst>
            </a:custGeom>
            <a:solidFill>
              <a:srgbClr val="2DD4BF"/>
            </a:solidFill>
          </p:spPr>
        </p:sp>
      </p:grpSp>
      <p:grpSp>
        <p:nvGrpSpPr>
          <p:cNvPr name="Group 53" id="53"/>
          <p:cNvGrpSpPr/>
          <p:nvPr/>
        </p:nvGrpSpPr>
        <p:grpSpPr>
          <a:xfrm rot="0">
            <a:off x="7794555" y="4582954"/>
            <a:ext cx="2698433" cy="1121092"/>
            <a:chOff x="0" y="0"/>
            <a:chExt cx="3597910" cy="1494790"/>
          </a:xfrm>
        </p:grpSpPr>
        <p:sp>
          <p:nvSpPr>
            <p:cNvPr name="Freeform 54" id="54"/>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EAF7F4"/>
            </a:solidFill>
            <a:ln w="23812" cap="sq">
              <a:solidFill>
                <a:srgbClr val="0F766E"/>
              </a:solidFill>
              <a:prstDash val="solid"/>
              <a:miter/>
            </a:ln>
          </p:spPr>
        </p:sp>
      </p:grpSp>
      <p:grpSp>
        <p:nvGrpSpPr>
          <p:cNvPr name="Group 55" id="55"/>
          <p:cNvGrpSpPr/>
          <p:nvPr/>
        </p:nvGrpSpPr>
        <p:grpSpPr>
          <a:xfrm rot="0">
            <a:off x="7875041" y="4594860"/>
            <a:ext cx="2537460" cy="1097280"/>
            <a:chOff x="0" y="0"/>
            <a:chExt cx="3383280" cy="1463040"/>
          </a:xfrm>
        </p:grpSpPr>
        <p:sp>
          <p:nvSpPr>
            <p:cNvPr name="Freeform 56" id="56"/>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57" id="57"/>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Router</a:t>
              </a:r>
            </a:p>
            <a:p>
              <a:pPr algn="ctr">
                <a:lnSpc>
                  <a:spcPts val="1889"/>
                </a:lnSpc>
              </a:pPr>
              <a:r>
                <a:rPr lang="en-US" sz="1575" b="true">
                  <a:solidFill>
                    <a:srgbClr val="17213B"/>
                  </a:solidFill>
                  <a:latin typeface="Calibri (MS) Bold"/>
                  <a:ea typeface="Calibri (MS) Bold"/>
                  <a:cs typeface="Calibri (MS) Bold"/>
                  <a:sym typeface="Calibri (MS) Bold"/>
                </a:rPr>
                <a:t>Agent</a:t>
              </a:r>
            </a:p>
          </p:txBody>
        </p:sp>
      </p:grpSp>
      <p:grpSp>
        <p:nvGrpSpPr>
          <p:cNvPr name="Group 58" id="58"/>
          <p:cNvGrpSpPr/>
          <p:nvPr/>
        </p:nvGrpSpPr>
        <p:grpSpPr>
          <a:xfrm rot="0">
            <a:off x="10481081" y="5006340"/>
            <a:ext cx="301752" cy="274320"/>
            <a:chOff x="0" y="0"/>
            <a:chExt cx="402336" cy="365760"/>
          </a:xfrm>
        </p:grpSpPr>
        <p:sp>
          <p:nvSpPr>
            <p:cNvPr name="Freeform 59" id="59"/>
            <p:cNvSpPr/>
            <p:nvPr/>
          </p:nvSpPr>
          <p:spPr>
            <a:xfrm flipH="false" flipV="false" rot="0">
              <a:off x="0" y="0"/>
              <a:ext cx="402336" cy="365760"/>
            </a:xfrm>
            <a:custGeom>
              <a:avLst/>
              <a:gdLst/>
              <a:ahLst/>
              <a:cxnLst/>
              <a:rect r="r" b="b" t="t" l="l"/>
              <a:pathLst>
                <a:path h="365760" w="402336">
                  <a:moveTo>
                    <a:pt x="0" y="91440"/>
                  </a:moveTo>
                  <a:lnTo>
                    <a:pt x="219456" y="91440"/>
                  </a:lnTo>
                  <a:lnTo>
                    <a:pt x="219456" y="0"/>
                  </a:lnTo>
                  <a:lnTo>
                    <a:pt x="402336" y="182880"/>
                  </a:lnTo>
                  <a:lnTo>
                    <a:pt x="219456" y="365760"/>
                  </a:lnTo>
                  <a:lnTo>
                    <a:pt x="219456" y="274320"/>
                  </a:lnTo>
                  <a:lnTo>
                    <a:pt x="0" y="274320"/>
                  </a:lnTo>
                  <a:close/>
                </a:path>
              </a:pathLst>
            </a:custGeom>
            <a:solidFill>
              <a:srgbClr val="2DD4BF"/>
            </a:solidFill>
          </p:spPr>
        </p:sp>
      </p:grpSp>
      <p:grpSp>
        <p:nvGrpSpPr>
          <p:cNvPr name="Group 60" id="60"/>
          <p:cNvGrpSpPr/>
          <p:nvPr/>
        </p:nvGrpSpPr>
        <p:grpSpPr>
          <a:xfrm rot="0">
            <a:off x="10770927" y="4582954"/>
            <a:ext cx="2698433" cy="1121092"/>
            <a:chOff x="0" y="0"/>
            <a:chExt cx="3597910" cy="1494790"/>
          </a:xfrm>
        </p:grpSpPr>
        <p:sp>
          <p:nvSpPr>
            <p:cNvPr name="Freeform 61" id="61"/>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EAF7F4"/>
            </a:solidFill>
            <a:ln w="23812" cap="sq">
              <a:solidFill>
                <a:srgbClr val="0F766E"/>
              </a:solidFill>
              <a:prstDash val="solid"/>
              <a:miter/>
            </a:ln>
          </p:spPr>
        </p:sp>
      </p:grpSp>
      <p:grpSp>
        <p:nvGrpSpPr>
          <p:cNvPr name="Group 62" id="62"/>
          <p:cNvGrpSpPr/>
          <p:nvPr/>
        </p:nvGrpSpPr>
        <p:grpSpPr>
          <a:xfrm rot="0">
            <a:off x="10851413" y="4594860"/>
            <a:ext cx="2537460" cy="1097280"/>
            <a:chOff x="0" y="0"/>
            <a:chExt cx="3383280" cy="1463040"/>
          </a:xfrm>
        </p:grpSpPr>
        <p:sp>
          <p:nvSpPr>
            <p:cNvPr name="Freeform 63" id="63"/>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64" id="64"/>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Writer</a:t>
              </a:r>
            </a:p>
            <a:p>
              <a:pPr algn="ctr">
                <a:lnSpc>
                  <a:spcPts val="1889"/>
                </a:lnSpc>
              </a:pPr>
              <a:r>
                <a:rPr lang="en-US" sz="1575" b="true">
                  <a:solidFill>
                    <a:srgbClr val="17213B"/>
                  </a:solidFill>
                  <a:latin typeface="Calibri (MS) Bold"/>
                  <a:ea typeface="Calibri (MS) Bold"/>
                  <a:cs typeface="Calibri (MS) Bold"/>
                  <a:sym typeface="Calibri (MS) Bold"/>
                </a:rPr>
                <a:t>Agent</a:t>
              </a:r>
            </a:p>
          </p:txBody>
        </p:sp>
      </p:grpSp>
      <p:grpSp>
        <p:nvGrpSpPr>
          <p:cNvPr name="Group 65" id="65"/>
          <p:cNvGrpSpPr/>
          <p:nvPr/>
        </p:nvGrpSpPr>
        <p:grpSpPr>
          <a:xfrm rot="0">
            <a:off x="13457453" y="5006340"/>
            <a:ext cx="301752" cy="274320"/>
            <a:chOff x="0" y="0"/>
            <a:chExt cx="402336" cy="365760"/>
          </a:xfrm>
        </p:grpSpPr>
        <p:sp>
          <p:nvSpPr>
            <p:cNvPr name="Freeform 66" id="66"/>
            <p:cNvSpPr/>
            <p:nvPr/>
          </p:nvSpPr>
          <p:spPr>
            <a:xfrm flipH="false" flipV="false" rot="0">
              <a:off x="0" y="0"/>
              <a:ext cx="402336" cy="365760"/>
            </a:xfrm>
            <a:custGeom>
              <a:avLst/>
              <a:gdLst/>
              <a:ahLst/>
              <a:cxnLst/>
              <a:rect r="r" b="b" t="t" l="l"/>
              <a:pathLst>
                <a:path h="365760" w="402336">
                  <a:moveTo>
                    <a:pt x="0" y="91440"/>
                  </a:moveTo>
                  <a:lnTo>
                    <a:pt x="219456" y="91440"/>
                  </a:lnTo>
                  <a:lnTo>
                    <a:pt x="219456" y="0"/>
                  </a:lnTo>
                  <a:lnTo>
                    <a:pt x="402336" y="182880"/>
                  </a:lnTo>
                  <a:lnTo>
                    <a:pt x="219456" y="365760"/>
                  </a:lnTo>
                  <a:lnTo>
                    <a:pt x="219456" y="274320"/>
                  </a:lnTo>
                  <a:lnTo>
                    <a:pt x="0" y="274320"/>
                  </a:lnTo>
                  <a:close/>
                </a:path>
              </a:pathLst>
            </a:custGeom>
            <a:solidFill>
              <a:srgbClr val="2DD4BF"/>
            </a:solidFill>
          </p:spPr>
        </p:sp>
      </p:grpSp>
      <p:grpSp>
        <p:nvGrpSpPr>
          <p:cNvPr name="Group 67" id="67"/>
          <p:cNvGrpSpPr/>
          <p:nvPr/>
        </p:nvGrpSpPr>
        <p:grpSpPr>
          <a:xfrm rot="0">
            <a:off x="13747299" y="4582954"/>
            <a:ext cx="2698433" cy="1121092"/>
            <a:chOff x="0" y="0"/>
            <a:chExt cx="3597910" cy="1494790"/>
          </a:xfrm>
        </p:grpSpPr>
        <p:sp>
          <p:nvSpPr>
            <p:cNvPr name="Freeform 68" id="68"/>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EAF7F4"/>
            </a:solidFill>
            <a:ln w="23812" cap="sq">
              <a:solidFill>
                <a:srgbClr val="0F766E"/>
              </a:solidFill>
              <a:prstDash val="solid"/>
              <a:miter/>
            </a:ln>
          </p:spPr>
        </p:sp>
      </p:grpSp>
      <p:grpSp>
        <p:nvGrpSpPr>
          <p:cNvPr name="Group 69" id="69"/>
          <p:cNvGrpSpPr/>
          <p:nvPr/>
        </p:nvGrpSpPr>
        <p:grpSpPr>
          <a:xfrm rot="0">
            <a:off x="13827785" y="4594860"/>
            <a:ext cx="2537460" cy="1097280"/>
            <a:chOff x="0" y="0"/>
            <a:chExt cx="3383280" cy="1463040"/>
          </a:xfrm>
        </p:grpSpPr>
        <p:sp>
          <p:nvSpPr>
            <p:cNvPr name="Freeform 70" id="70"/>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71" id="71"/>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Critique</a:t>
              </a:r>
            </a:p>
            <a:p>
              <a:pPr algn="ctr">
                <a:lnSpc>
                  <a:spcPts val="1889"/>
                </a:lnSpc>
              </a:pPr>
              <a:r>
                <a:rPr lang="en-US" sz="1575" b="true">
                  <a:solidFill>
                    <a:srgbClr val="17213B"/>
                  </a:solidFill>
                  <a:latin typeface="Calibri (MS) Bold"/>
                  <a:ea typeface="Calibri (MS) Bold"/>
                  <a:cs typeface="Calibri (MS) Bold"/>
                  <a:sym typeface="Calibri (MS) Bold"/>
                </a:rPr>
                <a:t>Agent</a:t>
              </a:r>
            </a:p>
          </p:txBody>
        </p:sp>
      </p:grpSp>
      <p:grpSp>
        <p:nvGrpSpPr>
          <p:cNvPr name="Group 72" id="72"/>
          <p:cNvGrpSpPr/>
          <p:nvPr/>
        </p:nvGrpSpPr>
        <p:grpSpPr>
          <a:xfrm rot="0">
            <a:off x="9074658" y="5673090"/>
            <a:ext cx="65532" cy="655320"/>
            <a:chOff x="0" y="0"/>
            <a:chExt cx="87376" cy="873760"/>
          </a:xfrm>
        </p:grpSpPr>
        <p:sp>
          <p:nvSpPr>
            <p:cNvPr name="Freeform 73" id="73"/>
            <p:cNvSpPr/>
            <p:nvPr/>
          </p:nvSpPr>
          <p:spPr>
            <a:xfrm flipH="false" flipV="false" rot="0">
              <a:off x="0" y="0"/>
              <a:ext cx="87376" cy="873760"/>
            </a:xfrm>
            <a:custGeom>
              <a:avLst/>
              <a:gdLst/>
              <a:ahLst/>
              <a:cxnLst/>
              <a:rect r="r" b="b" t="t" l="l"/>
              <a:pathLst>
                <a:path h="873760" w="87376">
                  <a:moveTo>
                    <a:pt x="0" y="0"/>
                  </a:moveTo>
                  <a:lnTo>
                    <a:pt x="43688" y="0"/>
                  </a:lnTo>
                  <a:lnTo>
                    <a:pt x="43688" y="873760"/>
                  </a:lnTo>
                  <a:lnTo>
                    <a:pt x="87376" y="873760"/>
                  </a:lnTo>
                </a:path>
              </a:pathLst>
            </a:custGeom>
            <a:blipFill>
              <a:blip r:embed="rId3">
                <a:alphaModFix amt="0"/>
              </a:blip>
              <a:stretch>
                <a:fillRect l="-1233035" t="0" r="-1233035" b="0"/>
              </a:stretch>
            </a:blipFill>
            <a:ln w="38100" cap="sq">
              <a:solidFill>
                <a:srgbClr val="2DD4BF"/>
              </a:solidFill>
              <a:prstDash val="solid"/>
              <a:miter/>
            </a:ln>
          </p:spPr>
        </p:sp>
      </p:grpSp>
      <p:grpSp>
        <p:nvGrpSpPr>
          <p:cNvPr name="Group 74" id="74"/>
          <p:cNvGrpSpPr/>
          <p:nvPr/>
        </p:nvGrpSpPr>
        <p:grpSpPr>
          <a:xfrm rot="0">
            <a:off x="4818183" y="6571774"/>
            <a:ext cx="2698433" cy="1121092"/>
            <a:chOff x="0" y="0"/>
            <a:chExt cx="3597910" cy="1494790"/>
          </a:xfrm>
        </p:grpSpPr>
        <p:sp>
          <p:nvSpPr>
            <p:cNvPr name="Freeform 75" id="75"/>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FDF1E1"/>
            </a:solidFill>
            <a:ln w="23812" cap="sq">
              <a:solidFill>
                <a:srgbClr val="D97706"/>
              </a:solidFill>
              <a:prstDash val="solid"/>
              <a:miter/>
            </a:ln>
          </p:spPr>
        </p:sp>
      </p:grpSp>
      <p:grpSp>
        <p:nvGrpSpPr>
          <p:cNvPr name="Group 76" id="76"/>
          <p:cNvGrpSpPr/>
          <p:nvPr/>
        </p:nvGrpSpPr>
        <p:grpSpPr>
          <a:xfrm rot="0">
            <a:off x="4898669" y="6583680"/>
            <a:ext cx="2537460" cy="1097280"/>
            <a:chOff x="0" y="0"/>
            <a:chExt cx="3383280" cy="1463040"/>
          </a:xfrm>
        </p:grpSpPr>
        <p:sp>
          <p:nvSpPr>
            <p:cNvPr name="Freeform 77" id="77"/>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78" id="78"/>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Revision Loop</a:t>
              </a:r>
            </a:p>
            <a:p>
              <a:pPr algn="ctr">
                <a:lnSpc>
                  <a:spcPts val="1889"/>
                </a:lnSpc>
              </a:pPr>
              <a:r>
                <a:rPr lang="en-US" sz="1575" b="true">
                  <a:solidFill>
                    <a:srgbClr val="17213B"/>
                  </a:solidFill>
                  <a:latin typeface="Calibri (MS) Bold"/>
                  <a:ea typeface="Calibri (MS) Bold"/>
                  <a:cs typeface="Calibri (MS) Bold"/>
                  <a:sym typeface="Calibri (MS) Bold"/>
                </a:rPr>
                <a:t>(if needed)</a:t>
              </a:r>
            </a:p>
          </p:txBody>
        </p:sp>
      </p:grpSp>
      <p:grpSp>
        <p:nvGrpSpPr>
          <p:cNvPr name="Group 79" id="79"/>
          <p:cNvGrpSpPr/>
          <p:nvPr/>
        </p:nvGrpSpPr>
        <p:grpSpPr>
          <a:xfrm rot="0">
            <a:off x="7504709" y="6995160"/>
            <a:ext cx="301752" cy="274320"/>
            <a:chOff x="0" y="0"/>
            <a:chExt cx="402336" cy="365760"/>
          </a:xfrm>
        </p:grpSpPr>
        <p:sp>
          <p:nvSpPr>
            <p:cNvPr name="Freeform 80" id="80"/>
            <p:cNvSpPr/>
            <p:nvPr/>
          </p:nvSpPr>
          <p:spPr>
            <a:xfrm flipH="false" flipV="false" rot="0">
              <a:off x="0" y="0"/>
              <a:ext cx="402336" cy="365760"/>
            </a:xfrm>
            <a:custGeom>
              <a:avLst/>
              <a:gdLst/>
              <a:ahLst/>
              <a:cxnLst/>
              <a:rect r="r" b="b" t="t" l="l"/>
              <a:pathLst>
                <a:path h="365760" w="402336">
                  <a:moveTo>
                    <a:pt x="0" y="91440"/>
                  </a:moveTo>
                  <a:lnTo>
                    <a:pt x="219456" y="91440"/>
                  </a:lnTo>
                  <a:lnTo>
                    <a:pt x="219456" y="0"/>
                  </a:lnTo>
                  <a:lnTo>
                    <a:pt x="402336" y="182880"/>
                  </a:lnTo>
                  <a:lnTo>
                    <a:pt x="219456" y="365760"/>
                  </a:lnTo>
                  <a:lnTo>
                    <a:pt x="219456" y="274320"/>
                  </a:lnTo>
                  <a:lnTo>
                    <a:pt x="0" y="274320"/>
                  </a:lnTo>
                  <a:close/>
                </a:path>
              </a:pathLst>
            </a:custGeom>
            <a:solidFill>
              <a:srgbClr val="2DD4BF"/>
            </a:solidFill>
          </p:spPr>
        </p:sp>
      </p:grpSp>
      <p:grpSp>
        <p:nvGrpSpPr>
          <p:cNvPr name="Group 81" id="81"/>
          <p:cNvGrpSpPr/>
          <p:nvPr/>
        </p:nvGrpSpPr>
        <p:grpSpPr>
          <a:xfrm rot="0">
            <a:off x="7794555" y="6571774"/>
            <a:ext cx="2698433" cy="1121092"/>
            <a:chOff x="0" y="0"/>
            <a:chExt cx="3597910" cy="1494790"/>
          </a:xfrm>
        </p:grpSpPr>
        <p:sp>
          <p:nvSpPr>
            <p:cNvPr name="Freeform 82" id="82"/>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FDF1E1"/>
            </a:solidFill>
            <a:ln w="23812" cap="sq">
              <a:solidFill>
                <a:srgbClr val="D97706"/>
              </a:solidFill>
              <a:prstDash val="solid"/>
              <a:miter/>
            </a:ln>
          </p:spPr>
        </p:sp>
      </p:grpSp>
      <p:grpSp>
        <p:nvGrpSpPr>
          <p:cNvPr name="Group 83" id="83"/>
          <p:cNvGrpSpPr/>
          <p:nvPr/>
        </p:nvGrpSpPr>
        <p:grpSpPr>
          <a:xfrm rot="0">
            <a:off x="7875041" y="6583680"/>
            <a:ext cx="2537460" cy="1097280"/>
            <a:chOff x="0" y="0"/>
            <a:chExt cx="3383280" cy="1463040"/>
          </a:xfrm>
        </p:grpSpPr>
        <p:sp>
          <p:nvSpPr>
            <p:cNvPr name="Freeform 84" id="84"/>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85" id="85"/>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Store Result</a:t>
              </a:r>
            </a:p>
          </p:txBody>
        </p:sp>
      </p:grpSp>
      <p:grpSp>
        <p:nvGrpSpPr>
          <p:cNvPr name="Group 86" id="86"/>
          <p:cNvGrpSpPr/>
          <p:nvPr/>
        </p:nvGrpSpPr>
        <p:grpSpPr>
          <a:xfrm rot="0">
            <a:off x="10481081" y="6995160"/>
            <a:ext cx="301752" cy="274320"/>
            <a:chOff x="0" y="0"/>
            <a:chExt cx="402336" cy="365760"/>
          </a:xfrm>
        </p:grpSpPr>
        <p:sp>
          <p:nvSpPr>
            <p:cNvPr name="Freeform 87" id="87"/>
            <p:cNvSpPr/>
            <p:nvPr/>
          </p:nvSpPr>
          <p:spPr>
            <a:xfrm flipH="false" flipV="false" rot="0">
              <a:off x="0" y="0"/>
              <a:ext cx="402336" cy="365760"/>
            </a:xfrm>
            <a:custGeom>
              <a:avLst/>
              <a:gdLst/>
              <a:ahLst/>
              <a:cxnLst/>
              <a:rect r="r" b="b" t="t" l="l"/>
              <a:pathLst>
                <a:path h="365760" w="402336">
                  <a:moveTo>
                    <a:pt x="0" y="91440"/>
                  </a:moveTo>
                  <a:lnTo>
                    <a:pt x="219456" y="91440"/>
                  </a:lnTo>
                  <a:lnTo>
                    <a:pt x="219456" y="0"/>
                  </a:lnTo>
                  <a:lnTo>
                    <a:pt x="402336" y="182880"/>
                  </a:lnTo>
                  <a:lnTo>
                    <a:pt x="219456" y="365760"/>
                  </a:lnTo>
                  <a:lnTo>
                    <a:pt x="219456" y="274320"/>
                  </a:lnTo>
                  <a:lnTo>
                    <a:pt x="0" y="274320"/>
                  </a:lnTo>
                  <a:close/>
                </a:path>
              </a:pathLst>
            </a:custGeom>
            <a:solidFill>
              <a:srgbClr val="2DD4BF"/>
            </a:solidFill>
          </p:spPr>
        </p:sp>
      </p:grpSp>
      <p:grpSp>
        <p:nvGrpSpPr>
          <p:cNvPr name="Group 88" id="88"/>
          <p:cNvGrpSpPr/>
          <p:nvPr/>
        </p:nvGrpSpPr>
        <p:grpSpPr>
          <a:xfrm rot="0">
            <a:off x="10770927" y="6571774"/>
            <a:ext cx="2698433" cy="1121092"/>
            <a:chOff x="0" y="0"/>
            <a:chExt cx="3597910" cy="1494790"/>
          </a:xfrm>
        </p:grpSpPr>
        <p:sp>
          <p:nvSpPr>
            <p:cNvPr name="Freeform 89" id="89"/>
            <p:cNvSpPr/>
            <p:nvPr/>
          </p:nvSpPr>
          <p:spPr>
            <a:xfrm flipH="false" flipV="false" rot="0">
              <a:off x="0" y="0"/>
              <a:ext cx="3597910" cy="1494790"/>
            </a:xfrm>
            <a:custGeom>
              <a:avLst/>
              <a:gdLst/>
              <a:ahLst/>
              <a:cxnLst/>
              <a:rect r="r" b="b" t="t" l="l"/>
              <a:pathLst>
                <a:path h="1494790" w="3597910">
                  <a:moveTo>
                    <a:pt x="0" y="112141"/>
                  </a:moveTo>
                  <a:cubicBezTo>
                    <a:pt x="0" y="50165"/>
                    <a:pt x="50165" y="0"/>
                    <a:pt x="112141" y="0"/>
                  </a:cubicBezTo>
                  <a:lnTo>
                    <a:pt x="3485769" y="0"/>
                  </a:lnTo>
                  <a:cubicBezTo>
                    <a:pt x="3547745" y="0"/>
                    <a:pt x="3597910" y="50165"/>
                    <a:pt x="3597910" y="112141"/>
                  </a:cubicBezTo>
                  <a:lnTo>
                    <a:pt x="3597910" y="1382649"/>
                  </a:lnTo>
                  <a:cubicBezTo>
                    <a:pt x="3597910" y="1444625"/>
                    <a:pt x="3547745" y="1494790"/>
                    <a:pt x="3485769" y="1494790"/>
                  </a:cubicBezTo>
                  <a:lnTo>
                    <a:pt x="112141" y="1494790"/>
                  </a:lnTo>
                  <a:cubicBezTo>
                    <a:pt x="50165" y="1494790"/>
                    <a:pt x="0" y="1444625"/>
                    <a:pt x="0" y="1382649"/>
                  </a:cubicBezTo>
                  <a:close/>
                </a:path>
              </a:pathLst>
            </a:custGeom>
            <a:solidFill>
              <a:srgbClr val="FDF1E1"/>
            </a:solidFill>
            <a:ln w="23812" cap="sq">
              <a:solidFill>
                <a:srgbClr val="D97706"/>
              </a:solidFill>
              <a:prstDash val="solid"/>
              <a:miter/>
            </a:ln>
          </p:spPr>
        </p:sp>
      </p:grpSp>
      <p:grpSp>
        <p:nvGrpSpPr>
          <p:cNvPr name="Group 90" id="90"/>
          <p:cNvGrpSpPr/>
          <p:nvPr/>
        </p:nvGrpSpPr>
        <p:grpSpPr>
          <a:xfrm rot="0">
            <a:off x="10851413" y="6583680"/>
            <a:ext cx="2537460" cy="1097280"/>
            <a:chOff x="0" y="0"/>
            <a:chExt cx="3383280" cy="1463040"/>
          </a:xfrm>
        </p:grpSpPr>
        <p:sp>
          <p:nvSpPr>
            <p:cNvPr name="Freeform 91" id="91"/>
            <p:cNvSpPr/>
            <p:nvPr/>
          </p:nvSpPr>
          <p:spPr>
            <a:xfrm flipH="false" flipV="false" rot="0">
              <a:off x="0" y="0"/>
              <a:ext cx="3383280" cy="1463040"/>
            </a:xfrm>
            <a:custGeom>
              <a:avLst/>
              <a:gdLst/>
              <a:ahLst/>
              <a:cxnLst/>
              <a:rect r="r" b="b" t="t" l="l"/>
              <a:pathLst>
                <a:path h="1463040" w="3383280">
                  <a:moveTo>
                    <a:pt x="0" y="0"/>
                  </a:moveTo>
                  <a:lnTo>
                    <a:pt x="3383280" y="0"/>
                  </a:lnTo>
                  <a:lnTo>
                    <a:pt x="3383280" y="1463040"/>
                  </a:lnTo>
                  <a:lnTo>
                    <a:pt x="0" y="1463040"/>
                  </a:lnTo>
                  <a:close/>
                </a:path>
              </a:pathLst>
            </a:custGeom>
            <a:blipFill>
              <a:blip r:embed="rId3">
                <a:alphaModFix amt="0"/>
              </a:blip>
              <a:stretch>
                <a:fillRect l="-5482" t="0" r="-5482" b="0"/>
              </a:stretch>
            </a:blipFill>
          </p:spPr>
        </p:sp>
        <p:sp>
          <p:nvSpPr>
            <p:cNvPr name="TextBox 92" id="92"/>
            <p:cNvSpPr txBox="true"/>
            <p:nvPr/>
          </p:nvSpPr>
          <p:spPr>
            <a:xfrm>
              <a:off x="0" y="-19050"/>
              <a:ext cx="3383280" cy="1482090"/>
            </a:xfrm>
            <a:prstGeom prst="rect">
              <a:avLst/>
            </a:prstGeom>
          </p:spPr>
          <p:txBody>
            <a:bodyPr anchor="ctr" rtlCol="false" tIns="0" lIns="0" bIns="0" rIns="0"/>
            <a:lstStyle/>
            <a:p>
              <a:pPr algn="ctr">
                <a:lnSpc>
                  <a:spcPts val="1889"/>
                </a:lnSpc>
              </a:pPr>
              <a:r>
                <a:rPr lang="en-US" sz="1575" b="true">
                  <a:solidFill>
                    <a:srgbClr val="17213B"/>
                  </a:solidFill>
                  <a:latin typeface="Calibri (MS) Bold"/>
                  <a:ea typeface="Calibri (MS) Bold"/>
                  <a:cs typeface="Calibri (MS) Bold"/>
                  <a:sym typeface="Calibri (MS) Bold"/>
                </a:rPr>
                <a:t>User Retrieves</a:t>
              </a:r>
            </a:p>
            <a:p>
              <a:pPr algn="ctr">
                <a:lnSpc>
                  <a:spcPts val="1889"/>
                </a:lnSpc>
              </a:pPr>
              <a:r>
                <a:rPr lang="en-US" sz="1575" b="true">
                  <a:solidFill>
                    <a:srgbClr val="17213B"/>
                  </a:solidFill>
                  <a:latin typeface="Calibri (MS) Bold"/>
                  <a:ea typeface="Calibri (MS) Bold"/>
                  <a:cs typeface="Calibri (MS) Bold"/>
                  <a:sym typeface="Calibri (MS) Bold"/>
                </a:rPr>
                <a:t>Result</a:t>
              </a:r>
            </a:p>
          </p:txBody>
        </p:sp>
      </p:grpSp>
      <p:grpSp>
        <p:nvGrpSpPr>
          <p:cNvPr name="Group 93" id="93"/>
          <p:cNvGrpSpPr/>
          <p:nvPr/>
        </p:nvGrpSpPr>
        <p:grpSpPr>
          <a:xfrm rot="0">
            <a:off x="960120" y="7886700"/>
            <a:ext cx="15773400" cy="480060"/>
            <a:chOff x="0" y="0"/>
            <a:chExt cx="21031200" cy="640080"/>
          </a:xfrm>
        </p:grpSpPr>
        <p:sp>
          <p:nvSpPr>
            <p:cNvPr name="Freeform 94" id="94"/>
            <p:cNvSpPr/>
            <p:nvPr/>
          </p:nvSpPr>
          <p:spPr>
            <a:xfrm flipH="false" flipV="false" rot="0">
              <a:off x="0" y="0"/>
              <a:ext cx="21031200" cy="640080"/>
            </a:xfrm>
            <a:custGeom>
              <a:avLst/>
              <a:gdLst/>
              <a:ahLst/>
              <a:cxnLst/>
              <a:rect r="r" b="b" t="t" l="l"/>
              <a:pathLst>
                <a:path h="640080" w="21031200">
                  <a:moveTo>
                    <a:pt x="0" y="0"/>
                  </a:moveTo>
                  <a:lnTo>
                    <a:pt x="21031200" y="0"/>
                  </a:lnTo>
                  <a:lnTo>
                    <a:pt x="21031200" y="640080"/>
                  </a:lnTo>
                  <a:lnTo>
                    <a:pt x="0" y="640080"/>
                  </a:lnTo>
                  <a:close/>
                </a:path>
              </a:pathLst>
            </a:custGeom>
            <a:blipFill>
              <a:blip r:embed="rId3">
                <a:alphaModFix amt="0"/>
              </a:blip>
              <a:stretch>
                <a:fillRect l="0" t="-590222" r="0" b="-590222"/>
              </a:stretch>
            </a:blipFill>
          </p:spPr>
        </p:sp>
        <p:sp>
          <p:nvSpPr>
            <p:cNvPr name="TextBox 95" id="95"/>
            <p:cNvSpPr txBox="true"/>
            <p:nvPr/>
          </p:nvSpPr>
          <p:spPr>
            <a:xfrm>
              <a:off x="0" y="-38100"/>
              <a:ext cx="21031200" cy="678180"/>
            </a:xfrm>
            <a:prstGeom prst="rect">
              <a:avLst/>
            </a:prstGeom>
          </p:spPr>
          <p:txBody>
            <a:bodyPr anchor="ctr" rtlCol="false" tIns="0" lIns="0" bIns="0" rIns="0"/>
            <a:lstStyle/>
            <a:p>
              <a:pPr algn="ctr">
                <a:lnSpc>
                  <a:spcPts val="2070"/>
                </a:lnSpc>
              </a:pPr>
              <a:r>
                <a:rPr lang="en-US" sz="1725" i="true">
                  <a:solidFill>
                    <a:srgbClr val="64748B"/>
                  </a:solidFill>
                  <a:latin typeface="Calibri (MS) Italics"/>
                  <a:ea typeface="Calibri (MS) Italics"/>
                  <a:cs typeface="Calibri (MS) Italics"/>
                  <a:sym typeface="Calibri (MS) Italics"/>
                </a:rPr>
                <a:t>Max 3 revision cycles before the pipeline terminates and the result is stored.</a:t>
              </a:r>
            </a:p>
          </p:txBody>
        </p:sp>
      </p:grpSp>
      <p:grpSp>
        <p:nvGrpSpPr>
          <p:cNvPr name="Group 96" id="96"/>
          <p:cNvGrpSpPr/>
          <p:nvPr/>
        </p:nvGrpSpPr>
        <p:grpSpPr>
          <a:xfrm rot="0">
            <a:off x="960120" y="8435340"/>
            <a:ext cx="15773400" cy="548640"/>
            <a:chOff x="0" y="0"/>
            <a:chExt cx="21031200" cy="731520"/>
          </a:xfrm>
        </p:grpSpPr>
        <p:sp>
          <p:nvSpPr>
            <p:cNvPr name="Freeform 97" id="97"/>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3">
                <a:alphaModFix amt="0"/>
              </a:blip>
              <a:stretch>
                <a:fillRect l="0" t="-510194" r="0" b="-510194"/>
              </a:stretch>
            </a:blipFill>
          </p:spPr>
        </p:sp>
        <p:sp>
          <p:nvSpPr>
            <p:cNvPr name="TextBox 98" id="98"/>
            <p:cNvSpPr txBox="true"/>
            <p:nvPr/>
          </p:nvSpPr>
          <p:spPr>
            <a:xfrm>
              <a:off x="0" y="-28575"/>
              <a:ext cx="21031200" cy="760095"/>
            </a:xfrm>
            <a:prstGeom prst="rect">
              <a:avLst/>
            </a:prstGeom>
          </p:spPr>
          <p:txBody>
            <a:bodyPr anchor="ctr" rtlCol="false" tIns="0" lIns="0" bIns="0" rIns="0"/>
            <a:lstStyle/>
            <a:p>
              <a:pPr algn="ctr">
                <a:lnSpc>
                  <a:spcPts val="1980"/>
                </a:lnSpc>
              </a:pPr>
              <a:r>
                <a:rPr lang="en-US" sz="1650" b="true">
                  <a:solidFill>
                    <a:srgbClr val="DC2626"/>
                  </a:solidFill>
                  <a:latin typeface="Calibri (MS) Bold"/>
                  <a:ea typeface="Calibri (MS) Bold"/>
                  <a:cs typeface="Calibri (MS) Bold"/>
                  <a:sym typeface="Calibri (MS) Bold"/>
                </a:rPr>
                <a:t>Note: The Outline and Search agents run sequentially, not in parallel — Outline completes first, then Search runs using its output.</a:t>
              </a:r>
            </a:p>
          </p:txBody>
        </p:sp>
      </p:grpSp>
      <p:grpSp>
        <p:nvGrpSpPr>
          <p:cNvPr name="Group 99" id="99"/>
          <p:cNvGrpSpPr/>
          <p:nvPr/>
        </p:nvGrpSpPr>
        <p:grpSpPr>
          <a:xfrm rot="0">
            <a:off x="685800" y="9793224"/>
            <a:ext cx="10972800" cy="411480"/>
            <a:chOff x="0" y="0"/>
            <a:chExt cx="14630400" cy="548640"/>
          </a:xfrm>
        </p:grpSpPr>
        <p:sp>
          <p:nvSpPr>
            <p:cNvPr name="Freeform 100" id="10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01" id="101"/>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102" id="102"/>
          <p:cNvGrpSpPr/>
          <p:nvPr/>
        </p:nvGrpSpPr>
        <p:grpSpPr>
          <a:xfrm rot="0">
            <a:off x="17282160" y="9793224"/>
            <a:ext cx="548640" cy="411480"/>
            <a:chOff x="0" y="0"/>
            <a:chExt cx="731520" cy="548640"/>
          </a:xfrm>
        </p:grpSpPr>
        <p:sp>
          <p:nvSpPr>
            <p:cNvPr name="Freeform 103" id="103"/>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04" id="104"/>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7</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5 · AGENTIC WORKFLOW</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Agents and Responsibilities</a:t>
              </a:r>
            </a:p>
          </p:txBody>
        </p:sp>
      </p:grpSp>
      <p:grpSp>
        <p:nvGrpSpPr>
          <p:cNvPr name="Group 8" id="8"/>
          <p:cNvGrpSpPr/>
          <p:nvPr/>
        </p:nvGrpSpPr>
        <p:grpSpPr>
          <a:xfrm rot="0">
            <a:off x="769868" y="2324576"/>
            <a:ext cx="3141536" cy="6049328"/>
            <a:chOff x="0" y="0"/>
            <a:chExt cx="4188714" cy="8065770"/>
          </a:xfrm>
        </p:grpSpPr>
        <p:sp>
          <p:nvSpPr>
            <p:cNvPr name="Freeform 9" id="9"/>
            <p:cNvSpPr/>
            <p:nvPr/>
          </p:nvSpPr>
          <p:spPr>
            <a:xfrm flipH="false" flipV="false" rot="0">
              <a:off x="0" y="0"/>
              <a:ext cx="4188714" cy="8065770"/>
            </a:xfrm>
            <a:custGeom>
              <a:avLst/>
              <a:gdLst/>
              <a:ahLst/>
              <a:cxnLst/>
              <a:rect r="r" b="b" t="t" l="l"/>
              <a:pathLst>
                <a:path h="8065770" w="4188714">
                  <a:moveTo>
                    <a:pt x="0" y="146939"/>
                  </a:moveTo>
                  <a:cubicBezTo>
                    <a:pt x="0" y="65786"/>
                    <a:pt x="65786" y="0"/>
                    <a:pt x="146939" y="0"/>
                  </a:cubicBezTo>
                  <a:lnTo>
                    <a:pt x="4041775" y="0"/>
                  </a:lnTo>
                  <a:cubicBezTo>
                    <a:pt x="4122928" y="0"/>
                    <a:pt x="4188714" y="65786"/>
                    <a:pt x="4188714" y="146939"/>
                  </a:cubicBezTo>
                  <a:lnTo>
                    <a:pt x="4188714" y="7918831"/>
                  </a:lnTo>
                  <a:cubicBezTo>
                    <a:pt x="4188714" y="7999985"/>
                    <a:pt x="4122928" y="8065770"/>
                    <a:pt x="4041775" y="8065770"/>
                  </a:cubicBezTo>
                  <a:lnTo>
                    <a:pt x="146939" y="8065770"/>
                  </a:lnTo>
                  <a:cubicBezTo>
                    <a:pt x="65786" y="8065770"/>
                    <a:pt x="0" y="7999984"/>
                    <a:pt x="0" y="7918831"/>
                  </a:cubicBezTo>
                  <a:close/>
                </a:path>
              </a:pathLst>
            </a:custGeom>
            <a:solidFill>
              <a:srgbClr val="FFFFFF"/>
            </a:solidFill>
            <a:ln w="14288" cap="sq">
              <a:solidFill>
                <a:srgbClr val="E2E8F0"/>
              </a:solidFill>
              <a:prstDash val="solid"/>
              <a:miter/>
            </a:ln>
          </p:spPr>
        </p:sp>
      </p:grpSp>
      <p:grpSp>
        <p:nvGrpSpPr>
          <p:cNvPr name="Group 10" id="10"/>
          <p:cNvGrpSpPr/>
          <p:nvPr/>
        </p:nvGrpSpPr>
        <p:grpSpPr>
          <a:xfrm rot="0">
            <a:off x="1791995" y="2811780"/>
            <a:ext cx="1097280" cy="1097280"/>
            <a:chOff x="0" y="0"/>
            <a:chExt cx="1463040" cy="1463040"/>
          </a:xfrm>
        </p:grpSpPr>
        <p:sp>
          <p:nvSpPr>
            <p:cNvPr name="Freeform 11" id="11"/>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16213E"/>
            </a:solidFill>
          </p:spPr>
        </p:sp>
      </p:grpSp>
      <p:grpSp>
        <p:nvGrpSpPr>
          <p:cNvPr name="Group 12" id="12"/>
          <p:cNvGrpSpPr/>
          <p:nvPr/>
        </p:nvGrpSpPr>
        <p:grpSpPr>
          <a:xfrm rot="0">
            <a:off x="1923669" y="2943454"/>
            <a:ext cx="833933" cy="833933"/>
            <a:chOff x="0" y="0"/>
            <a:chExt cx="1111910" cy="1111910"/>
          </a:xfrm>
        </p:grpSpPr>
        <p:sp>
          <p:nvSpPr>
            <p:cNvPr name="Freeform 13" id="13" descr="/home/claude/pptx/icons/outline.png"/>
            <p:cNvSpPr/>
            <p:nvPr/>
          </p:nvSpPr>
          <p:spPr>
            <a:xfrm flipH="false" flipV="false" rot="0">
              <a:off x="0" y="0"/>
              <a:ext cx="1111885" cy="1111885"/>
            </a:xfrm>
            <a:custGeom>
              <a:avLst/>
              <a:gdLst/>
              <a:ahLst/>
              <a:cxnLst/>
              <a:rect r="r" b="b" t="t" l="l"/>
              <a:pathLst>
                <a:path h="1111885" w="1111885">
                  <a:moveTo>
                    <a:pt x="0" y="0"/>
                  </a:moveTo>
                  <a:lnTo>
                    <a:pt x="1111885" y="0"/>
                  </a:lnTo>
                  <a:lnTo>
                    <a:pt x="1111885" y="1111885"/>
                  </a:lnTo>
                  <a:lnTo>
                    <a:pt x="0" y="1111885"/>
                  </a:lnTo>
                  <a:lnTo>
                    <a:pt x="0" y="0"/>
                  </a:lnTo>
                  <a:close/>
                </a:path>
              </a:pathLst>
            </a:custGeom>
            <a:blipFill>
              <a:blip r:embed="rId4"/>
              <a:stretch>
                <a:fillRect l="0" t="0" r="-2" b="-2"/>
              </a:stretch>
            </a:blipFill>
          </p:spPr>
        </p:sp>
      </p:grpSp>
      <p:grpSp>
        <p:nvGrpSpPr>
          <p:cNvPr name="Group 14" id="14"/>
          <p:cNvGrpSpPr/>
          <p:nvPr/>
        </p:nvGrpSpPr>
        <p:grpSpPr>
          <a:xfrm rot="0">
            <a:off x="3149879" y="2537460"/>
            <a:ext cx="548640" cy="548640"/>
            <a:chOff x="0" y="0"/>
            <a:chExt cx="731520" cy="731520"/>
          </a:xfrm>
        </p:grpSpPr>
        <p:sp>
          <p:nvSpPr>
            <p:cNvPr name="Freeform 15" id="15"/>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16" id="16"/>
            <p:cNvSpPr txBox="true"/>
            <p:nvPr/>
          </p:nvSpPr>
          <p:spPr>
            <a:xfrm>
              <a:off x="0" y="-47625"/>
              <a:ext cx="731520" cy="779145"/>
            </a:xfrm>
            <a:prstGeom prst="rect">
              <a:avLst/>
            </a:prstGeom>
          </p:spPr>
          <p:txBody>
            <a:bodyPr anchor="ctr" rtlCol="false" tIns="0" lIns="0" bIns="0" rIns="0"/>
            <a:lstStyle/>
            <a:p>
              <a:pPr algn="r">
                <a:lnSpc>
                  <a:spcPts val="2340"/>
                </a:lnSpc>
              </a:pPr>
              <a:r>
                <a:rPr lang="en-US" sz="1950" b="true">
                  <a:solidFill>
                    <a:srgbClr val="2DD4BF"/>
                  </a:solidFill>
                  <a:latin typeface="Calibri (MS) Bold"/>
                  <a:ea typeface="Calibri (MS) Bold"/>
                  <a:cs typeface="Calibri (MS) Bold"/>
                  <a:sym typeface="Calibri (MS) Bold"/>
                </a:rPr>
                <a:t>1</a:t>
              </a:r>
            </a:p>
          </p:txBody>
        </p:sp>
      </p:grpSp>
      <p:grpSp>
        <p:nvGrpSpPr>
          <p:cNvPr name="Group 17" id="17"/>
          <p:cNvGrpSpPr/>
          <p:nvPr/>
        </p:nvGrpSpPr>
        <p:grpSpPr>
          <a:xfrm rot="0">
            <a:off x="941603" y="4183380"/>
            <a:ext cx="2798064" cy="685800"/>
            <a:chOff x="0" y="0"/>
            <a:chExt cx="3730752" cy="914400"/>
          </a:xfrm>
        </p:grpSpPr>
        <p:sp>
          <p:nvSpPr>
            <p:cNvPr name="Freeform 18" id="18"/>
            <p:cNvSpPr/>
            <p:nvPr/>
          </p:nvSpPr>
          <p:spPr>
            <a:xfrm flipH="false" flipV="false" rot="0">
              <a:off x="0" y="0"/>
              <a:ext cx="3730752" cy="914400"/>
            </a:xfrm>
            <a:custGeom>
              <a:avLst/>
              <a:gdLst/>
              <a:ahLst/>
              <a:cxnLst/>
              <a:rect r="r" b="b" t="t" l="l"/>
              <a:pathLst>
                <a:path h="914400" w="3730752">
                  <a:moveTo>
                    <a:pt x="0" y="0"/>
                  </a:moveTo>
                  <a:lnTo>
                    <a:pt x="3730752" y="0"/>
                  </a:lnTo>
                  <a:lnTo>
                    <a:pt x="3730752" y="914400"/>
                  </a:lnTo>
                  <a:lnTo>
                    <a:pt x="0" y="914400"/>
                  </a:lnTo>
                  <a:close/>
                </a:path>
              </a:pathLst>
            </a:custGeom>
            <a:blipFill>
              <a:blip r:embed="rId3">
                <a:alphaModFix amt="0"/>
              </a:blip>
              <a:stretch>
                <a:fillRect l="0" t="-29498" r="0" b="-29498"/>
              </a:stretch>
            </a:blipFill>
          </p:spPr>
        </p:sp>
        <p:sp>
          <p:nvSpPr>
            <p:cNvPr name="TextBox 19" id="19"/>
            <p:cNvSpPr txBox="true"/>
            <p:nvPr/>
          </p:nvSpPr>
          <p:spPr>
            <a:xfrm>
              <a:off x="0" y="-47625"/>
              <a:ext cx="3730752" cy="962025"/>
            </a:xfrm>
            <a:prstGeom prst="rect">
              <a:avLst/>
            </a:prstGeom>
          </p:spPr>
          <p:txBody>
            <a:bodyPr anchor="ctr" rtlCol="false" tIns="0" lIns="0" bIns="0" rIns="0"/>
            <a:lstStyle/>
            <a:p>
              <a:pPr algn="ctr">
                <a:lnSpc>
                  <a:spcPts val="2610"/>
                </a:lnSpc>
              </a:pPr>
              <a:r>
                <a:rPr lang="en-US" sz="2175" b="true">
                  <a:solidFill>
                    <a:srgbClr val="17213B"/>
                  </a:solidFill>
                  <a:latin typeface="Calibri (MS) Bold"/>
                  <a:ea typeface="Calibri (MS) Bold"/>
                  <a:cs typeface="Calibri (MS) Bold"/>
                  <a:sym typeface="Calibri (MS) Bold"/>
                </a:rPr>
                <a:t>Outline Agent</a:t>
              </a:r>
            </a:p>
          </p:txBody>
        </p:sp>
      </p:grpSp>
      <p:grpSp>
        <p:nvGrpSpPr>
          <p:cNvPr name="Group 20" id="20"/>
          <p:cNvGrpSpPr/>
          <p:nvPr/>
        </p:nvGrpSpPr>
        <p:grpSpPr>
          <a:xfrm rot="0">
            <a:off x="1023899" y="5006340"/>
            <a:ext cx="2633472" cy="3017520"/>
            <a:chOff x="0" y="0"/>
            <a:chExt cx="3511296" cy="4023360"/>
          </a:xfrm>
        </p:grpSpPr>
        <p:sp>
          <p:nvSpPr>
            <p:cNvPr name="Freeform 21" id="21"/>
            <p:cNvSpPr/>
            <p:nvPr/>
          </p:nvSpPr>
          <p:spPr>
            <a:xfrm flipH="false" flipV="false" rot="0">
              <a:off x="0" y="0"/>
              <a:ext cx="3511296" cy="4023360"/>
            </a:xfrm>
            <a:custGeom>
              <a:avLst/>
              <a:gdLst/>
              <a:ahLst/>
              <a:cxnLst/>
              <a:rect r="r" b="b" t="t" l="l"/>
              <a:pathLst>
                <a:path h="4023360" w="3511296">
                  <a:moveTo>
                    <a:pt x="0" y="0"/>
                  </a:moveTo>
                  <a:lnTo>
                    <a:pt x="3511296" y="0"/>
                  </a:lnTo>
                  <a:lnTo>
                    <a:pt x="3511296" y="4023360"/>
                  </a:lnTo>
                  <a:lnTo>
                    <a:pt x="0" y="4023360"/>
                  </a:lnTo>
                  <a:close/>
                </a:path>
              </a:pathLst>
            </a:custGeom>
            <a:blipFill>
              <a:blip r:embed="rId3">
                <a:alphaModFix amt="0"/>
              </a:blip>
              <a:stretch>
                <a:fillRect l="-97014" t="0" r="-97014" b="0"/>
              </a:stretch>
            </a:blipFill>
          </p:spPr>
        </p:sp>
        <p:sp>
          <p:nvSpPr>
            <p:cNvPr name="TextBox 22" id="22"/>
            <p:cNvSpPr txBox="true"/>
            <p:nvPr/>
          </p:nvSpPr>
          <p:spPr>
            <a:xfrm>
              <a:off x="0" y="-28575"/>
              <a:ext cx="3511296" cy="405193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Builds the content structure and core argument before any prose is written.</a:t>
              </a:r>
            </a:p>
          </p:txBody>
        </p:sp>
      </p:grpSp>
      <p:grpSp>
        <p:nvGrpSpPr>
          <p:cNvPr name="Group 23" id="23"/>
          <p:cNvGrpSpPr/>
          <p:nvPr/>
        </p:nvGrpSpPr>
        <p:grpSpPr>
          <a:xfrm rot="0">
            <a:off x="3931691" y="5212080"/>
            <a:ext cx="219456" cy="274320"/>
            <a:chOff x="0" y="0"/>
            <a:chExt cx="292608" cy="365760"/>
          </a:xfrm>
        </p:grpSpPr>
        <p:sp>
          <p:nvSpPr>
            <p:cNvPr name="Freeform 24" id="24"/>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2DD4BF"/>
            </a:solidFill>
          </p:spPr>
        </p:sp>
      </p:grpSp>
      <p:grpSp>
        <p:nvGrpSpPr>
          <p:cNvPr name="Group 25" id="25"/>
          <p:cNvGrpSpPr/>
          <p:nvPr/>
        </p:nvGrpSpPr>
        <p:grpSpPr>
          <a:xfrm rot="0">
            <a:off x="4171436" y="2324576"/>
            <a:ext cx="3141536" cy="6049328"/>
            <a:chOff x="0" y="0"/>
            <a:chExt cx="4188714" cy="8065770"/>
          </a:xfrm>
        </p:grpSpPr>
        <p:sp>
          <p:nvSpPr>
            <p:cNvPr name="Freeform 26" id="26"/>
            <p:cNvSpPr/>
            <p:nvPr/>
          </p:nvSpPr>
          <p:spPr>
            <a:xfrm flipH="false" flipV="false" rot="0">
              <a:off x="0" y="0"/>
              <a:ext cx="4188714" cy="8065770"/>
            </a:xfrm>
            <a:custGeom>
              <a:avLst/>
              <a:gdLst/>
              <a:ahLst/>
              <a:cxnLst/>
              <a:rect r="r" b="b" t="t" l="l"/>
              <a:pathLst>
                <a:path h="8065770" w="4188714">
                  <a:moveTo>
                    <a:pt x="0" y="146939"/>
                  </a:moveTo>
                  <a:cubicBezTo>
                    <a:pt x="0" y="65786"/>
                    <a:pt x="65786" y="0"/>
                    <a:pt x="146939" y="0"/>
                  </a:cubicBezTo>
                  <a:lnTo>
                    <a:pt x="4041775" y="0"/>
                  </a:lnTo>
                  <a:cubicBezTo>
                    <a:pt x="4122928" y="0"/>
                    <a:pt x="4188714" y="65786"/>
                    <a:pt x="4188714" y="146939"/>
                  </a:cubicBezTo>
                  <a:lnTo>
                    <a:pt x="4188714" y="7918831"/>
                  </a:lnTo>
                  <a:cubicBezTo>
                    <a:pt x="4188714" y="7999985"/>
                    <a:pt x="4122928" y="8065770"/>
                    <a:pt x="4041775" y="8065770"/>
                  </a:cubicBezTo>
                  <a:lnTo>
                    <a:pt x="146939" y="8065770"/>
                  </a:lnTo>
                  <a:cubicBezTo>
                    <a:pt x="65786" y="8065770"/>
                    <a:pt x="0" y="7999984"/>
                    <a:pt x="0" y="7918831"/>
                  </a:cubicBezTo>
                  <a:close/>
                </a:path>
              </a:pathLst>
            </a:custGeom>
            <a:solidFill>
              <a:srgbClr val="FFFFFF"/>
            </a:solidFill>
            <a:ln w="14288" cap="sq">
              <a:solidFill>
                <a:srgbClr val="E2E8F0"/>
              </a:solidFill>
              <a:prstDash val="solid"/>
              <a:miter/>
            </a:ln>
          </p:spPr>
        </p:sp>
      </p:grpSp>
      <p:grpSp>
        <p:nvGrpSpPr>
          <p:cNvPr name="Group 27" id="27"/>
          <p:cNvGrpSpPr/>
          <p:nvPr/>
        </p:nvGrpSpPr>
        <p:grpSpPr>
          <a:xfrm rot="0">
            <a:off x="5193563" y="2811780"/>
            <a:ext cx="1097280" cy="1097280"/>
            <a:chOff x="0" y="0"/>
            <a:chExt cx="1463040" cy="1463040"/>
          </a:xfrm>
        </p:grpSpPr>
        <p:sp>
          <p:nvSpPr>
            <p:cNvPr name="Freeform 28" id="28"/>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16213E"/>
            </a:solidFill>
          </p:spPr>
        </p:sp>
      </p:grpSp>
      <p:grpSp>
        <p:nvGrpSpPr>
          <p:cNvPr name="Group 29" id="29"/>
          <p:cNvGrpSpPr/>
          <p:nvPr/>
        </p:nvGrpSpPr>
        <p:grpSpPr>
          <a:xfrm rot="0">
            <a:off x="5325237" y="2943454"/>
            <a:ext cx="833933" cy="833933"/>
            <a:chOff x="0" y="0"/>
            <a:chExt cx="1111910" cy="1111910"/>
          </a:xfrm>
        </p:grpSpPr>
        <p:sp>
          <p:nvSpPr>
            <p:cNvPr name="Freeform 30" id="30" descr="/home/claude/pptx/icons/search.png"/>
            <p:cNvSpPr/>
            <p:nvPr/>
          </p:nvSpPr>
          <p:spPr>
            <a:xfrm flipH="false" flipV="false" rot="0">
              <a:off x="0" y="0"/>
              <a:ext cx="1111885" cy="1111885"/>
            </a:xfrm>
            <a:custGeom>
              <a:avLst/>
              <a:gdLst/>
              <a:ahLst/>
              <a:cxnLst/>
              <a:rect r="r" b="b" t="t" l="l"/>
              <a:pathLst>
                <a:path h="1111885" w="1111885">
                  <a:moveTo>
                    <a:pt x="0" y="0"/>
                  </a:moveTo>
                  <a:lnTo>
                    <a:pt x="1111885" y="0"/>
                  </a:lnTo>
                  <a:lnTo>
                    <a:pt x="1111885" y="1111885"/>
                  </a:lnTo>
                  <a:lnTo>
                    <a:pt x="0" y="1111885"/>
                  </a:lnTo>
                  <a:lnTo>
                    <a:pt x="0" y="0"/>
                  </a:lnTo>
                  <a:close/>
                </a:path>
              </a:pathLst>
            </a:custGeom>
            <a:blipFill>
              <a:blip r:embed="rId5"/>
              <a:stretch>
                <a:fillRect l="0" t="0" r="-2" b="-2"/>
              </a:stretch>
            </a:blipFill>
          </p:spPr>
        </p:sp>
      </p:grpSp>
      <p:grpSp>
        <p:nvGrpSpPr>
          <p:cNvPr name="Group 31" id="31"/>
          <p:cNvGrpSpPr/>
          <p:nvPr/>
        </p:nvGrpSpPr>
        <p:grpSpPr>
          <a:xfrm rot="0">
            <a:off x="6551447" y="2537460"/>
            <a:ext cx="548640" cy="548640"/>
            <a:chOff x="0" y="0"/>
            <a:chExt cx="731520" cy="731520"/>
          </a:xfrm>
        </p:grpSpPr>
        <p:sp>
          <p:nvSpPr>
            <p:cNvPr name="Freeform 32" id="32"/>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33" id="33"/>
            <p:cNvSpPr txBox="true"/>
            <p:nvPr/>
          </p:nvSpPr>
          <p:spPr>
            <a:xfrm>
              <a:off x="0" y="-47625"/>
              <a:ext cx="731520" cy="779145"/>
            </a:xfrm>
            <a:prstGeom prst="rect">
              <a:avLst/>
            </a:prstGeom>
          </p:spPr>
          <p:txBody>
            <a:bodyPr anchor="ctr" rtlCol="false" tIns="0" lIns="0" bIns="0" rIns="0"/>
            <a:lstStyle/>
            <a:p>
              <a:pPr algn="r">
                <a:lnSpc>
                  <a:spcPts val="2340"/>
                </a:lnSpc>
              </a:pPr>
              <a:r>
                <a:rPr lang="en-US" sz="1950" b="true">
                  <a:solidFill>
                    <a:srgbClr val="2DD4BF"/>
                  </a:solidFill>
                  <a:latin typeface="Calibri (MS) Bold"/>
                  <a:ea typeface="Calibri (MS) Bold"/>
                  <a:cs typeface="Calibri (MS) Bold"/>
                  <a:sym typeface="Calibri (MS) Bold"/>
                </a:rPr>
                <a:t>2</a:t>
              </a:r>
            </a:p>
          </p:txBody>
        </p:sp>
      </p:grpSp>
      <p:grpSp>
        <p:nvGrpSpPr>
          <p:cNvPr name="Group 34" id="34"/>
          <p:cNvGrpSpPr/>
          <p:nvPr/>
        </p:nvGrpSpPr>
        <p:grpSpPr>
          <a:xfrm rot="0">
            <a:off x="4343171" y="4183380"/>
            <a:ext cx="2798064" cy="685800"/>
            <a:chOff x="0" y="0"/>
            <a:chExt cx="3730752" cy="914400"/>
          </a:xfrm>
        </p:grpSpPr>
        <p:sp>
          <p:nvSpPr>
            <p:cNvPr name="Freeform 35" id="35"/>
            <p:cNvSpPr/>
            <p:nvPr/>
          </p:nvSpPr>
          <p:spPr>
            <a:xfrm flipH="false" flipV="false" rot="0">
              <a:off x="0" y="0"/>
              <a:ext cx="3730752" cy="914400"/>
            </a:xfrm>
            <a:custGeom>
              <a:avLst/>
              <a:gdLst/>
              <a:ahLst/>
              <a:cxnLst/>
              <a:rect r="r" b="b" t="t" l="l"/>
              <a:pathLst>
                <a:path h="914400" w="3730752">
                  <a:moveTo>
                    <a:pt x="0" y="0"/>
                  </a:moveTo>
                  <a:lnTo>
                    <a:pt x="3730752" y="0"/>
                  </a:lnTo>
                  <a:lnTo>
                    <a:pt x="3730752" y="914400"/>
                  </a:lnTo>
                  <a:lnTo>
                    <a:pt x="0" y="914400"/>
                  </a:lnTo>
                  <a:close/>
                </a:path>
              </a:pathLst>
            </a:custGeom>
            <a:blipFill>
              <a:blip r:embed="rId3">
                <a:alphaModFix amt="0"/>
              </a:blip>
              <a:stretch>
                <a:fillRect l="0" t="-29498" r="0" b="-29498"/>
              </a:stretch>
            </a:blipFill>
          </p:spPr>
        </p:sp>
        <p:sp>
          <p:nvSpPr>
            <p:cNvPr name="TextBox 36" id="36"/>
            <p:cNvSpPr txBox="true"/>
            <p:nvPr/>
          </p:nvSpPr>
          <p:spPr>
            <a:xfrm>
              <a:off x="0" y="-47625"/>
              <a:ext cx="3730752" cy="962025"/>
            </a:xfrm>
            <a:prstGeom prst="rect">
              <a:avLst/>
            </a:prstGeom>
          </p:spPr>
          <p:txBody>
            <a:bodyPr anchor="ctr" rtlCol="false" tIns="0" lIns="0" bIns="0" rIns="0"/>
            <a:lstStyle/>
            <a:p>
              <a:pPr algn="ctr">
                <a:lnSpc>
                  <a:spcPts val="2610"/>
                </a:lnSpc>
              </a:pPr>
              <a:r>
                <a:rPr lang="en-US" sz="2175" b="true">
                  <a:solidFill>
                    <a:srgbClr val="17213B"/>
                  </a:solidFill>
                  <a:latin typeface="Calibri (MS) Bold"/>
                  <a:ea typeface="Calibri (MS) Bold"/>
                  <a:cs typeface="Calibri (MS) Bold"/>
                  <a:sym typeface="Calibri (MS) Bold"/>
                </a:rPr>
                <a:t>Search Agent</a:t>
              </a:r>
            </a:p>
          </p:txBody>
        </p:sp>
      </p:grpSp>
      <p:grpSp>
        <p:nvGrpSpPr>
          <p:cNvPr name="Group 37" id="37"/>
          <p:cNvGrpSpPr/>
          <p:nvPr/>
        </p:nvGrpSpPr>
        <p:grpSpPr>
          <a:xfrm rot="0">
            <a:off x="4425467" y="5006340"/>
            <a:ext cx="2633472" cy="3017520"/>
            <a:chOff x="0" y="0"/>
            <a:chExt cx="3511296" cy="4023360"/>
          </a:xfrm>
        </p:grpSpPr>
        <p:sp>
          <p:nvSpPr>
            <p:cNvPr name="Freeform 38" id="38"/>
            <p:cNvSpPr/>
            <p:nvPr/>
          </p:nvSpPr>
          <p:spPr>
            <a:xfrm flipH="false" flipV="false" rot="0">
              <a:off x="0" y="0"/>
              <a:ext cx="3511296" cy="4023360"/>
            </a:xfrm>
            <a:custGeom>
              <a:avLst/>
              <a:gdLst/>
              <a:ahLst/>
              <a:cxnLst/>
              <a:rect r="r" b="b" t="t" l="l"/>
              <a:pathLst>
                <a:path h="4023360" w="3511296">
                  <a:moveTo>
                    <a:pt x="0" y="0"/>
                  </a:moveTo>
                  <a:lnTo>
                    <a:pt x="3511296" y="0"/>
                  </a:lnTo>
                  <a:lnTo>
                    <a:pt x="3511296" y="4023360"/>
                  </a:lnTo>
                  <a:lnTo>
                    <a:pt x="0" y="4023360"/>
                  </a:lnTo>
                  <a:close/>
                </a:path>
              </a:pathLst>
            </a:custGeom>
            <a:blipFill>
              <a:blip r:embed="rId3">
                <a:alphaModFix amt="0"/>
              </a:blip>
              <a:stretch>
                <a:fillRect l="-97014" t="0" r="-97014" b="0"/>
              </a:stretch>
            </a:blipFill>
          </p:spPr>
        </p:sp>
        <p:sp>
          <p:nvSpPr>
            <p:cNvPr name="TextBox 39" id="39"/>
            <p:cNvSpPr txBox="true"/>
            <p:nvPr/>
          </p:nvSpPr>
          <p:spPr>
            <a:xfrm>
              <a:off x="0" y="-28575"/>
              <a:ext cx="3511296" cy="405193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Retrieves supporting information and citations using Tavily web search.</a:t>
              </a:r>
            </a:p>
          </p:txBody>
        </p:sp>
      </p:grpSp>
      <p:grpSp>
        <p:nvGrpSpPr>
          <p:cNvPr name="Group 40" id="40"/>
          <p:cNvGrpSpPr/>
          <p:nvPr/>
        </p:nvGrpSpPr>
        <p:grpSpPr>
          <a:xfrm rot="0">
            <a:off x="7333259" y="5212080"/>
            <a:ext cx="219456" cy="274320"/>
            <a:chOff x="0" y="0"/>
            <a:chExt cx="292608" cy="365760"/>
          </a:xfrm>
        </p:grpSpPr>
        <p:sp>
          <p:nvSpPr>
            <p:cNvPr name="Freeform 41" id="41"/>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2DD4BF"/>
            </a:solidFill>
          </p:spPr>
        </p:sp>
      </p:grpSp>
      <p:grpSp>
        <p:nvGrpSpPr>
          <p:cNvPr name="Group 42" id="42"/>
          <p:cNvGrpSpPr/>
          <p:nvPr/>
        </p:nvGrpSpPr>
        <p:grpSpPr>
          <a:xfrm rot="0">
            <a:off x="7573004" y="2324576"/>
            <a:ext cx="3141536" cy="6049328"/>
            <a:chOff x="0" y="0"/>
            <a:chExt cx="4188714" cy="8065770"/>
          </a:xfrm>
        </p:grpSpPr>
        <p:sp>
          <p:nvSpPr>
            <p:cNvPr name="Freeform 43" id="43"/>
            <p:cNvSpPr/>
            <p:nvPr/>
          </p:nvSpPr>
          <p:spPr>
            <a:xfrm flipH="false" flipV="false" rot="0">
              <a:off x="0" y="0"/>
              <a:ext cx="4188714" cy="8065770"/>
            </a:xfrm>
            <a:custGeom>
              <a:avLst/>
              <a:gdLst/>
              <a:ahLst/>
              <a:cxnLst/>
              <a:rect r="r" b="b" t="t" l="l"/>
              <a:pathLst>
                <a:path h="8065770" w="4188714">
                  <a:moveTo>
                    <a:pt x="0" y="146939"/>
                  </a:moveTo>
                  <a:cubicBezTo>
                    <a:pt x="0" y="65786"/>
                    <a:pt x="65786" y="0"/>
                    <a:pt x="146939" y="0"/>
                  </a:cubicBezTo>
                  <a:lnTo>
                    <a:pt x="4041775" y="0"/>
                  </a:lnTo>
                  <a:cubicBezTo>
                    <a:pt x="4122928" y="0"/>
                    <a:pt x="4188714" y="65786"/>
                    <a:pt x="4188714" y="146939"/>
                  </a:cubicBezTo>
                  <a:lnTo>
                    <a:pt x="4188714" y="7918831"/>
                  </a:lnTo>
                  <a:cubicBezTo>
                    <a:pt x="4188714" y="7999985"/>
                    <a:pt x="4122928" y="8065770"/>
                    <a:pt x="4041775" y="8065770"/>
                  </a:cubicBezTo>
                  <a:lnTo>
                    <a:pt x="146939" y="8065770"/>
                  </a:lnTo>
                  <a:cubicBezTo>
                    <a:pt x="65786" y="8065770"/>
                    <a:pt x="0" y="7999984"/>
                    <a:pt x="0" y="7918831"/>
                  </a:cubicBezTo>
                  <a:close/>
                </a:path>
              </a:pathLst>
            </a:custGeom>
            <a:solidFill>
              <a:srgbClr val="FFFFFF"/>
            </a:solidFill>
            <a:ln w="14288" cap="sq">
              <a:solidFill>
                <a:srgbClr val="E2E8F0"/>
              </a:solidFill>
              <a:prstDash val="solid"/>
              <a:miter/>
            </a:ln>
          </p:spPr>
        </p:sp>
      </p:grpSp>
      <p:grpSp>
        <p:nvGrpSpPr>
          <p:cNvPr name="Group 44" id="44"/>
          <p:cNvGrpSpPr/>
          <p:nvPr/>
        </p:nvGrpSpPr>
        <p:grpSpPr>
          <a:xfrm rot="0">
            <a:off x="8595131" y="2811780"/>
            <a:ext cx="1097280" cy="1097280"/>
            <a:chOff x="0" y="0"/>
            <a:chExt cx="1463040" cy="1463040"/>
          </a:xfrm>
        </p:grpSpPr>
        <p:sp>
          <p:nvSpPr>
            <p:cNvPr name="Freeform 45" id="45"/>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16213E"/>
            </a:solidFill>
          </p:spPr>
        </p:sp>
      </p:grpSp>
      <p:grpSp>
        <p:nvGrpSpPr>
          <p:cNvPr name="Group 46" id="46"/>
          <p:cNvGrpSpPr/>
          <p:nvPr/>
        </p:nvGrpSpPr>
        <p:grpSpPr>
          <a:xfrm rot="0">
            <a:off x="8726805" y="2943454"/>
            <a:ext cx="833933" cy="833933"/>
            <a:chOff x="0" y="0"/>
            <a:chExt cx="1111910" cy="1111910"/>
          </a:xfrm>
        </p:grpSpPr>
        <p:sp>
          <p:nvSpPr>
            <p:cNvPr name="Freeform 47" id="47" descr="/home/claude/pptx/icons/router.png"/>
            <p:cNvSpPr/>
            <p:nvPr/>
          </p:nvSpPr>
          <p:spPr>
            <a:xfrm flipH="false" flipV="false" rot="0">
              <a:off x="0" y="0"/>
              <a:ext cx="1111885" cy="1111885"/>
            </a:xfrm>
            <a:custGeom>
              <a:avLst/>
              <a:gdLst/>
              <a:ahLst/>
              <a:cxnLst/>
              <a:rect r="r" b="b" t="t" l="l"/>
              <a:pathLst>
                <a:path h="1111885" w="1111885">
                  <a:moveTo>
                    <a:pt x="0" y="0"/>
                  </a:moveTo>
                  <a:lnTo>
                    <a:pt x="1111885" y="0"/>
                  </a:lnTo>
                  <a:lnTo>
                    <a:pt x="1111885" y="1111885"/>
                  </a:lnTo>
                  <a:lnTo>
                    <a:pt x="0" y="1111885"/>
                  </a:lnTo>
                  <a:lnTo>
                    <a:pt x="0" y="0"/>
                  </a:lnTo>
                  <a:close/>
                </a:path>
              </a:pathLst>
            </a:custGeom>
            <a:blipFill>
              <a:blip r:embed="rId6"/>
              <a:stretch>
                <a:fillRect l="0" t="0" r="-2" b="-2"/>
              </a:stretch>
            </a:blipFill>
          </p:spPr>
        </p:sp>
      </p:grpSp>
      <p:grpSp>
        <p:nvGrpSpPr>
          <p:cNvPr name="Group 48" id="48"/>
          <p:cNvGrpSpPr/>
          <p:nvPr/>
        </p:nvGrpSpPr>
        <p:grpSpPr>
          <a:xfrm rot="0">
            <a:off x="9953015" y="2537460"/>
            <a:ext cx="548640" cy="548640"/>
            <a:chOff x="0" y="0"/>
            <a:chExt cx="731520" cy="731520"/>
          </a:xfrm>
        </p:grpSpPr>
        <p:sp>
          <p:nvSpPr>
            <p:cNvPr name="Freeform 49" id="49"/>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50" id="50"/>
            <p:cNvSpPr txBox="true"/>
            <p:nvPr/>
          </p:nvSpPr>
          <p:spPr>
            <a:xfrm>
              <a:off x="0" y="-47625"/>
              <a:ext cx="731520" cy="779145"/>
            </a:xfrm>
            <a:prstGeom prst="rect">
              <a:avLst/>
            </a:prstGeom>
          </p:spPr>
          <p:txBody>
            <a:bodyPr anchor="ctr" rtlCol="false" tIns="0" lIns="0" bIns="0" rIns="0"/>
            <a:lstStyle/>
            <a:p>
              <a:pPr algn="r">
                <a:lnSpc>
                  <a:spcPts val="2340"/>
                </a:lnSpc>
              </a:pPr>
              <a:r>
                <a:rPr lang="en-US" sz="1950" b="true">
                  <a:solidFill>
                    <a:srgbClr val="2DD4BF"/>
                  </a:solidFill>
                  <a:latin typeface="Calibri (MS) Bold"/>
                  <a:ea typeface="Calibri (MS) Bold"/>
                  <a:cs typeface="Calibri (MS) Bold"/>
                  <a:sym typeface="Calibri (MS) Bold"/>
                </a:rPr>
                <a:t>3</a:t>
              </a:r>
            </a:p>
          </p:txBody>
        </p:sp>
      </p:grpSp>
      <p:grpSp>
        <p:nvGrpSpPr>
          <p:cNvPr name="Group 51" id="51"/>
          <p:cNvGrpSpPr/>
          <p:nvPr/>
        </p:nvGrpSpPr>
        <p:grpSpPr>
          <a:xfrm rot="0">
            <a:off x="7744739" y="4183380"/>
            <a:ext cx="2798064" cy="685800"/>
            <a:chOff x="0" y="0"/>
            <a:chExt cx="3730752" cy="914400"/>
          </a:xfrm>
        </p:grpSpPr>
        <p:sp>
          <p:nvSpPr>
            <p:cNvPr name="Freeform 52" id="52"/>
            <p:cNvSpPr/>
            <p:nvPr/>
          </p:nvSpPr>
          <p:spPr>
            <a:xfrm flipH="false" flipV="false" rot="0">
              <a:off x="0" y="0"/>
              <a:ext cx="3730752" cy="914400"/>
            </a:xfrm>
            <a:custGeom>
              <a:avLst/>
              <a:gdLst/>
              <a:ahLst/>
              <a:cxnLst/>
              <a:rect r="r" b="b" t="t" l="l"/>
              <a:pathLst>
                <a:path h="914400" w="3730752">
                  <a:moveTo>
                    <a:pt x="0" y="0"/>
                  </a:moveTo>
                  <a:lnTo>
                    <a:pt x="3730752" y="0"/>
                  </a:lnTo>
                  <a:lnTo>
                    <a:pt x="3730752" y="914400"/>
                  </a:lnTo>
                  <a:lnTo>
                    <a:pt x="0" y="914400"/>
                  </a:lnTo>
                  <a:close/>
                </a:path>
              </a:pathLst>
            </a:custGeom>
            <a:blipFill>
              <a:blip r:embed="rId3">
                <a:alphaModFix amt="0"/>
              </a:blip>
              <a:stretch>
                <a:fillRect l="0" t="-29498" r="0" b="-29498"/>
              </a:stretch>
            </a:blipFill>
          </p:spPr>
        </p:sp>
        <p:sp>
          <p:nvSpPr>
            <p:cNvPr name="TextBox 53" id="53"/>
            <p:cNvSpPr txBox="true"/>
            <p:nvPr/>
          </p:nvSpPr>
          <p:spPr>
            <a:xfrm>
              <a:off x="0" y="-47625"/>
              <a:ext cx="3730752" cy="962025"/>
            </a:xfrm>
            <a:prstGeom prst="rect">
              <a:avLst/>
            </a:prstGeom>
          </p:spPr>
          <p:txBody>
            <a:bodyPr anchor="ctr" rtlCol="false" tIns="0" lIns="0" bIns="0" rIns="0"/>
            <a:lstStyle/>
            <a:p>
              <a:pPr algn="ctr">
                <a:lnSpc>
                  <a:spcPts val="2610"/>
                </a:lnSpc>
              </a:pPr>
              <a:r>
                <a:rPr lang="en-US" sz="2175" b="true">
                  <a:solidFill>
                    <a:srgbClr val="17213B"/>
                  </a:solidFill>
                  <a:latin typeface="Calibri (MS) Bold"/>
                  <a:ea typeface="Calibri (MS) Bold"/>
                  <a:cs typeface="Calibri (MS) Bold"/>
                  <a:sym typeface="Calibri (MS) Bold"/>
                </a:rPr>
                <a:t>Router Agent</a:t>
              </a:r>
            </a:p>
          </p:txBody>
        </p:sp>
      </p:grpSp>
      <p:grpSp>
        <p:nvGrpSpPr>
          <p:cNvPr name="Group 54" id="54"/>
          <p:cNvGrpSpPr/>
          <p:nvPr/>
        </p:nvGrpSpPr>
        <p:grpSpPr>
          <a:xfrm rot="0">
            <a:off x="7827035" y="5006340"/>
            <a:ext cx="2633472" cy="3017520"/>
            <a:chOff x="0" y="0"/>
            <a:chExt cx="3511296" cy="4023360"/>
          </a:xfrm>
        </p:grpSpPr>
        <p:sp>
          <p:nvSpPr>
            <p:cNvPr name="Freeform 55" id="55"/>
            <p:cNvSpPr/>
            <p:nvPr/>
          </p:nvSpPr>
          <p:spPr>
            <a:xfrm flipH="false" flipV="false" rot="0">
              <a:off x="0" y="0"/>
              <a:ext cx="3511296" cy="4023360"/>
            </a:xfrm>
            <a:custGeom>
              <a:avLst/>
              <a:gdLst/>
              <a:ahLst/>
              <a:cxnLst/>
              <a:rect r="r" b="b" t="t" l="l"/>
              <a:pathLst>
                <a:path h="4023360" w="3511296">
                  <a:moveTo>
                    <a:pt x="0" y="0"/>
                  </a:moveTo>
                  <a:lnTo>
                    <a:pt x="3511296" y="0"/>
                  </a:lnTo>
                  <a:lnTo>
                    <a:pt x="3511296" y="4023360"/>
                  </a:lnTo>
                  <a:lnTo>
                    <a:pt x="0" y="4023360"/>
                  </a:lnTo>
                  <a:close/>
                </a:path>
              </a:pathLst>
            </a:custGeom>
            <a:blipFill>
              <a:blip r:embed="rId3">
                <a:alphaModFix amt="0"/>
              </a:blip>
              <a:stretch>
                <a:fillRect l="-97014" t="0" r="-97014" b="0"/>
              </a:stretch>
            </a:blipFill>
          </p:spPr>
        </p:sp>
        <p:sp>
          <p:nvSpPr>
            <p:cNvPr name="TextBox 56" id="56"/>
            <p:cNvSpPr txBox="true"/>
            <p:nvPr/>
          </p:nvSpPr>
          <p:spPr>
            <a:xfrm>
              <a:off x="0" y="-28575"/>
              <a:ext cx="3511296" cy="405193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Selects the correct writer agent based on the requested content type.</a:t>
              </a:r>
            </a:p>
          </p:txBody>
        </p:sp>
      </p:grpSp>
      <p:grpSp>
        <p:nvGrpSpPr>
          <p:cNvPr name="Group 57" id="57"/>
          <p:cNvGrpSpPr/>
          <p:nvPr/>
        </p:nvGrpSpPr>
        <p:grpSpPr>
          <a:xfrm rot="0">
            <a:off x="10734827" y="5212080"/>
            <a:ext cx="219456" cy="274320"/>
            <a:chOff x="0" y="0"/>
            <a:chExt cx="292608" cy="365760"/>
          </a:xfrm>
        </p:grpSpPr>
        <p:sp>
          <p:nvSpPr>
            <p:cNvPr name="Freeform 58" id="58"/>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2DD4BF"/>
            </a:solidFill>
          </p:spPr>
        </p:sp>
      </p:grpSp>
      <p:grpSp>
        <p:nvGrpSpPr>
          <p:cNvPr name="Group 59" id="59"/>
          <p:cNvGrpSpPr/>
          <p:nvPr/>
        </p:nvGrpSpPr>
        <p:grpSpPr>
          <a:xfrm rot="0">
            <a:off x="10974572" y="2324576"/>
            <a:ext cx="3141536" cy="6049328"/>
            <a:chOff x="0" y="0"/>
            <a:chExt cx="4188714" cy="8065770"/>
          </a:xfrm>
        </p:grpSpPr>
        <p:sp>
          <p:nvSpPr>
            <p:cNvPr name="Freeform 60" id="60"/>
            <p:cNvSpPr/>
            <p:nvPr/>
          </p:nvSpPr>
          <p:spPr>
            <a:xfrm flipH="false" flipV="false" rot="0">
              <a:off x="0" y="0"/>
              <a:ext cx="4188714" cy="8065770"/>
            </a:xfrm>
            <a:custGeom>
              <a:avLst/>
              <a:gdLst/>
              <a:ahLst/>
              <a:cxnLst/>
              <a:rect r="r" b="b" t="t" l="l"/>
              <a:pathLst>
                <a:path h="8065770" w="4188714">
                  <a:moveTo>
                    <a:pt x="0" y="146939"/>
                  </a:moveTo>
                  <a:cubicBezTo>
                    <a:pt x="0" y="65786"/>
                    <a:pt x="65786" y="0"/>
                    <a:pt x="146939" y="0"/>
                  </a:cubicBezTo>
                  <a:lnTo>
                    <a:pt x="4041775" y="0"/>
                  </a:lnTo>
                  <a:cubicBezTo>
                    <a:pt x="4122928" y="0"/>
                    <a:pt x="4188714" y="65786"/>
                    <a:pt x="4188714" y="146939"/>
                  </a:cubicBezTo>
                  <a:lnTo>
                    <a:pt x="4188714" y="7918831"/>
                  </a:lnTo>
                  <a:cubicBezTo>
                    <a:pt x="4188714" y="7999985"/>
                    <a:pt x="4122928" y="8065770"/>
                    <a:pt x="4041775" y="8065770"/>
                  </a:cubicBezTo>
                  <a:lnTo>
                    <a:pt x="146939" y="8065770"/>
                  </a:lnTo>
                  <a:cubicBezTo>
                    <a:pt x="65786" y="8065770"/>
                    <a:pt x="0" y="7999984"/>
                    <a:pt x="0" y="7918831"/>
                  </a:cubicBezTo>
                  <a:close/>
                </a:path>
              </a:pathLst>
            </a:custGeom>
            <a:solidFill>
              <a:srgbClr val="FFFFFF"/>
            </a:solidFill>
            <a:ln w="14288" cap="sq">
              <a:solidFill>
                <a:srgbClr val="E2E8F0"/>
              </a:solidFill>
              <a:prstDash val="solid"/>
              <a:miter/>
            </a:ln>
          </p:spPr>
        </p:sp>
      </p:grpSp>
      <p:grpSp>
        <p:nvGrpSpPr>
          <p:cNvPr name="Group 61" id="61"/>
          <p:cNvGrpSpPr/>
          <p:nvPr/>
        </p:nvGrpSpPr>
        <p:grpSpPr>
          <a:xfrm rot="0">
            <a:off x="11996699" y="2811780"/>
            <a:ext cx="1097280" cy="1097280"/>
            <a:chOff x="0" y="0"/>
            <a:chExt cx="1463040" cy="1463040"/>
          </a:xfrm>
        </p:grpSpPr>
        <p:sp>
          <p:nvSpPr>
            <p:cNvPr name="Freeform 62" id="62"/>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16213E"/>
            </a:solidFill>
          </p:spPr>
        </p:sp>
      </p:grpSp>
      <p:grpSp>
        <p:nvGrpSpPr>
          <p:cNvPr name="Group 63" id="63"/>
          <p:cNvGrpSpPr/>
          <p:nvPr/>
        </p:nvGrpSpPr>
        <p:grpSpPr>
          <a:xfrm rot="0">
            <a:off x="12128373" y="2943454"/>
            <a:ext cx="833933" cy="833933"/>
            <a:chOff x="0" y="0"/>
            <a:chExt cx="1111910" cy="1111910"/>
          </a:xfrm>
        </p:grpSpPr>
        <p:sp>
          <p:nvSpPr>
            <p:cNvPr name="Freeform 64" id="64" descr="/home/claude/pptx/icons/writer.png"/>
            <p:cNvSpPr/>
            <p:nvPr/>
          </p:nvSpPr>
          <p:spPr>
            <a:xfrm flipH="false" flipV="false" rot="0">
              <a:off x="0" y="0"/>
              <a:ext cx="1111885" cy="1111885"/>
            </a:xfrm>
            <a:custGeom>
              <a:avLst/>
              <a:gdLst/>
              <a:ahLst/>
              <a:cxnLst/>
              <a:rect r="r" b="b" t="t" l="l"/>
              <a:pathLst>
                <a:path h="1111885" w="1111885">
                  <a:moveTo>
                    <a:pt x="0" y="0"/>
                  </a:moveTo>
                  <a:lnTo>
                    <a:pt x="1111885" y="0"/>
                  </a:lnTo>
                  <a:lnTo>
                    <a:pt x="1111885" y="1111885"/>
                  </a:lnTo>
                  <a:lnTo>
                    <a:pt x="0" y="1111885"/>
                  </a:lnTo>
                  <a:lnTo>
                    <a:pt x="0" y="0"/>
                  </a:lnTo>
                  <a:close/>
                </a:path>
              </a:pathLst>
            </a:custGeom>
            <a:blipFill>
              <a:blip r:embed="rId7"/>
              <a:stretch>
                <a:fillRect l="0" t="0" r="-2" b="-2"/>
              </a:stretch>
            </a:blipFill>
          </p:spPr>
        </p:sp>
      </p:grpSp>
      <p:grpSp>
        <p:nvGrpSpPr>
          <p:cNvPr name="Group 65" id="65"/>
          <p:cNvGrpSpPr/>
          <p:nvPr/>
        </p:nvGrpSpPr>
        <p:grpSpPr>
          <a:xfrm rot="0">
            <a:off x="13354583" y="2537460"/>
            <a:ext cx="548640" cy="548640"/>
            <a:chOff x="0" y="0"/>
            <a:chExt cx="731520" cy="731520"/>
          </a:xfrm>
        </p:grpSpPr>
        <p:sp>
          <p:nvSpPr>
            <p:cNvPr name="Freeform 66" id="66"/>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67" id="67"/>
            <p:cNvSpPr txBox="true"/>
            <p:nvPr/>
          </p:nvSpPr>
          <p:spPr>
            <a:xfrm>
              <a:off x="0" y="-47625"/>
              <a:ext cx="731520" cy="779145"/>
            </a:xfrm>
            <a:prstGeom prst="rect">
              <a:avLst/>
            </a:prstGeom>
          </p:spPr>
          <p:txBody>
            <a:bodyPr anchor="ctr" rtlCol="false" tIns="0" lIns="0" bIns="0" rIns="0"/>
            <a:lstStyle/>
            <a:p>
              <a:pPr algn="r">
                <a:lnSpc>
                  <a:spcPts val="2340"/>
                </a:lnSpc>
              </a:pPr>
              <a:r>
                <a:rPr lang="en-US" sz="1950" b="true">
                  <a:solidFill>
                    <a:srgbClr val="2DD4BF"/>
                  </a:solidFill>
                  <a:latin typeface="Calibri (MS) Bold"/>
                  <a:ea typeface="Calibri (MS) Bold"/>
                  <a:cs typeface="Calibri (MS) Bold"/>
                  <a:sym typeface="Calibri (MS) Bold"/>
                </a:rPr>
                <a:t>4</a:t>
              </a:r>
            </a:p>
          </p:txBody>
        </p:sp>
      </p:grpSp>
      <p:grpSp>
        <p:nvGrpSpPr>
          <p:cNvPr name="Group 68" id="68"/>
          <p:cNvGrpSpPr/>
          <p:nvPr/>
        </p:nvGrpSpPr>
        <p:grpSpPr>
          <a:xfrm rot="0">
            <a:off x="11146307" y="4183380"/>
            <a:ext cx="2798064" cy="685800"/>
            <a:chOff x="0" y="0"/>
            <a:chExt cx="3730752" cy="914400"/>
          </a:xfrm>
        </p:grpSpPr>
        <p:sp>
          <p:nvSpPr>
            <p:cNvPr name="Freeform 69" id="69"/>
            <p:cNvSpPr/>
            <p:nvPr/>
          </p:nvSpPr>
          <p:spPr>
            <a:xfrm flipH="false" flipV="false" rot="0">
              <a:off x="0" y="0"/>
              <a:ext cx="3730752" cy="914400"/>
            </a:xfrm>
            <a:custGeom>
              <a:avLst/>
              <a:gdLst/>
              <a:ahLst/>
              <a:cxnLst/>
              <a:rect r="r" b="b" t="t" l="l"/>
              <a:pathLst>
                <a:path h="914400" w="3730752">
                  <a:moveTo>
                    <a:pt x="0" y="0"/>
                  </a:moveTo>
                  <a:lnTo>
                    <a:pt x="3730752" y="0"/>
                  </a:lnTo>
                  <a:lnTo>
                    <a:pt x="3730752" y="914400"/>
                  </a:lnTo>
                  <a:lnTo>
                    <a:pt x="0" y="914400"/>
                  </a:lnTo>
                  <a:close/>
                </a:path>
              </a:pathLst>
            </a:custGeom>
            <a:blipFill>
              <a:blip r:embed="rId3">
                <a:alphaModFix amt="0"/>
              </a:blip>
              <a:stretch>
                <a:fillRect l="0" t="-29498" r="0" b="-29498"/>
              </a:stretch>
            </a:blipFill>
          </p:spPr>
        </p:sp>
        <p:sp>
          <p:nvSpPr>
            <p:cNvPr name="TextBox 70" id="70"/>
            <p:cNvSpPr txBox="true"/>
            <p:nvPr/>
          </p:nvSpPr>
          <p:spPr>
            <a:xfrm>
              <a:off x="0" y="-47625"/>
              <a:ext cx="3730752" cy="962025"/>
            </a:xfrm>
            <a:prstGeom prst="rect">
              <a:avLst/>
            </a:prstGeom>
          </p:spPr>
          <p:txBody>
            <a:bodyPr anchor="ctr" rtlCol="false" tIns="0" lIns="0" bIns="0" rIns="0"/>
            <a:lstStyle/>
            <a:p>
              <a:pPr algn="ctr">
                <a:lnSpc>
                  <a:spcPts val="2610"/>
                </a:lnSpc>
              </a:pPr>
              <a:r>
                <a:rPr lang="en-US" sz="2175" b="true">
                  <a:solidFill>
                    <a:srgbClr val="17213B"/>
                  </a:solidFill>
                  <a:latin typeface="Calibri (MS) Bold"/>
                  <a:ea typeface="Calibri (MS) Bold"/>
                  <a:cs typeface="Calibri (MS) Bold"/>
                  <a:sym typeface="Calibri (MS) Bold"/>
                </a:rPr>
                <a:t>Writer Agent</a:t>
              </a:r>
            </a:p>
          </p:txBody>
        </p:sp>
      </p:grpSp>
      <p:grpSp>
        <p:nvGrpSpPr>
          <p:cNvPr name="Group 71" id="71"/>
          <p:cNvGrpSpPr/>
          <p:nvPr/>
        </p:nvGrpSpPr>
        <p:grpSpPr>
          <a:xfrm rot="0">
            <a:off x="11228603" y="5006340"/>
            <a:ext cx="2633472" cy="3017520"/>
            <a:chOff x="0" y="0"/>
            <a:chExt cx="3511296" cy="4023360"/>
          </a:xfrm>
        </p:grpSpPr>
        <p:sp>
          <p:nvSpPr>
            <p:cNvPr name="Freeform 72" id="72"/>
            <p:cNvSpPr/>
            <p:nvPr/>
          </p:nvSpPr>
          <p:spPr>
            <a:xfrm flipH="false" flipV="false" rot="0">
              <a:off x="0" y="0"/>
              <a:ext cx="3511296" cy="4023360"/>
            </a:xfrm>
            <a:custGeom>
              <a:avLst/>
              <a:gdLst/>
              <a:ahLst/>
              <a:cxnLst/>
              <a:rect r="r" b="b" t="t" l="l"/>
              <a:pathLst>
                <a:path h="4023360" w="3511296">
                  <a:moveTo>
                    <a:pt x="0" y="0"/>
                  </a:moveTo>
                  <a:lnTo>
                    <a:pt x="3511296" y="0"/>
                  </a:lnTo>
                  <a:lnTo>
                    <a:pt x="3511296" y="4023360"/>
                  </a:lnTo>
                  <a:lnTo>
                    <a:pt x="0" y="4023360"/>
                  </a:lnTo>
                  <a:close/>
                </a:path>
              </a:pathLst>
            </a:custGeom>
            <a:blipFill>
              <a:blip r:embed="rId3">
                <a:alphaModFix amt="0"/>
              </a:blip>
              <a:stretch>
                <a:fillRect l="-97014" t="0" r="-97014" b="0"/>
              </a:stretch>
            </a:blipFill>
          </p:spPr>
        </p:sp>
        <p:sp>
          <p:nvSpPr>
            <p:cNvPr name="TextBox 73" id="73"/>
            <p:cNvSpPr txBox="true"/>
            <p:nvPr/>
          </p:nvSpPr>
          <p:spPr>
            <a:xfrm>
              <a:off x="0" y="-28575"/>
              <a:ext cx="3511296" cy="405193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Generates platform-specific content — one specialised writer per content type.</a:t>
              </a:r>
            </a:p>
          </p:txBody>
        </p:sp>
      </p:grpSp>
      <p:grpSp>
        <p:nvGrpSpPr>
          <p:cNvPr name="Group 74" id="74"/>
          <p:cNvGrpSpPr/>
          <p:nvPr/>
        </p:nvGrpSpPr>
        <p:grpSpPr>
          <a:xfrm rot="0">
            <a:off x="14136395" y="5212080"/>
            <a:ext cx="219456" cy="274320"/>
            <a:chOff x="0" y="0"/>
            <a:chExt cx="292608" cy="365760"/>
          </a:xfrm>
        </p:grpSpPr>
        <p:sp>
          <p:nvSpPr>
            <p:cNvPr name="Freeform 75" id="75"/>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2DD4BF"/>
            </a:solidFill>
          </p:spPr>
        </p:sp>
      </p:grpSp>
      <p:grpSp>
        <p:nvGrpSpPr>
          <p:cNvPr name="Group 76" id="76"/>
          <p:cNvGrpSpPr/>
          <p:nvPr/>
        </p:nvGrpSpPr>
        <p:grpSpPr>
          <a:xfrm rot="0">
            <a:off x="14376140" y="2324576"/>
            <a:ext cx="3141536" cy="6049328"/>
            <a:chOff x="0" y="0"/>
            <a:chExt cx="4188714" cy="8065770"/>
          </a:xfrm>
        </p:grpSpPr>
        <p:sp>
          <p:nvSpPr>
            <p:cNvPr name="Freeform 77" id="77"/>
            <p:cNvSpPr/>
            <p:nvPr/>
          </p:nvSpPr>
          <p:spPr>
            <a:xfrm flipH="false" flipV="false" rot="0">
              <a:off x="0" y="0"/>
              <a:ext cx="4188714" cy="8065770"/>
            </a:xfrm>
            <a:custGeom>
              <a:avLst/>
              <a:gdLst/>
              <a:ahLst/>
              <a:cxnLst/>
              <a:rect r="r" b="b" t="t" l="l"/>
              <a:pathLst>
                <a:path h="8065770" w="4188714">
                  <a:moveTo>
                    <a:pt x="0" y="146939"/>
                  </a:moveTo>
                  <a:cubicBezTo>
                    <a:pt x="0" y="65786"/>
                    <a:pt x="65786" y="0"/>
                    <a:pt x="146939" y="0"/>
                  </a:cubicBezTo>
                  <a:lnTo>
                    <a:pt x="4041775" y="0"/>
                  </a:lnTo>
                  <a:cubicBezTo>
                    <a:pt x="4122928" y="0"/>
                    <a:pt x="4188714" y="65786"/>
                    <a:pt x="4188714" y="146939"/>
                  </a:cubicBezTo>
                  <a:lnTo>
                    <a:pt x="4188714" y="7918831"/>
                  </a:lnTo>
                  <a:cubicBezTo>
                    <a:pt x="4188714" y="7999985"/>
                    <a:pt x="4122928" y="8065770"/>
                    <a:pt x="4041775" y="8065770"/>
                  </a:cubicBezTo>
                  <a:lnTo>
                    <a:pt x="146939" y="8065770"/>
                  </a:lnTo>
                  <a:cubicBezTo>
                    <a:pt x="65786" y="8065770"/>
                    <a:pt x="0" y="7999984"/>
                    <a:pt x="0" y="7918831"/>
                  </a:cubicBezTo>
                  <a:close/>
                </a:path>
              </a:pathLst>
            </a:custGeom>
            <a:solidFill>
              <a:srgbClr val="FFFFFF"/>
            </a:solidFill>
            <a:ln w="14288" cap="sq">
              <a:solidFill>
                <a:srgbClr val="E2E8F0"/>
              </a:solidFill>
              <a:prstDash val="solid"/>
              <a:miter/>
            </a:ln>
          </p:spPr>
        </p:sp>
      </p:grpSp>
      <p:grpSp>
        <p:nvGrpSpPr>
          <p:cNvPr name="Group 78" id="78"/>
          <p:cNvGrpSpPr/>
          <p:nvPr/>
        </p:nvGrpSpPr>
        <p:grpSpPr>
          <a:xfrm rot="0">
            <a:off x="15398267" y="2811780"/>
            <a:ext cx="1097280" cy="1097280"/>
            <a:chOff x="0" y="0"/>
            <a:chExt cx="1463040" cy="1463040"/>
          </a:xfrm>
        </p:grpSpPr>
        <p:sp>
          <p:nvSpPr>
            <p:cNvPr name="Freeform 79" id="79"/>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16213E"/>
            </a:solidFill>
          </p:spPr>
        </p:sp>
      </p:grpSp>
      <p:grpSp>
        <p:nvGrpSpPr>
          <p:cNvPr name="Group 80" id="80"/>
          <p:cNvGrpSpPr/>
          <p:nvPr/>
        </p:nvGrpSpPr>
        <p:grpSpPr>
          <a:xfrm rot="0">
            <a:off x="15529941" y="2943454"/>
            <a:ext cx="833933" cy="833933"/>
            <a:chOff x="0" y="0"/>
            <a:chExt cx="1111910" cy="1111910"/>
          </a:xfrm>
        </p:grpSpPr>
        <p:sp>
          <p:nvSpPr>
            <p:cNvPr name="Freeform 81" id="81" descr="/home/claude/pptx/icons/critique.png"/>
            <p:cNvSpPr/>
            <p:nvPr/>
          </p:nvSpPr>
          <p:spPr>
            <a:xfrm flipH="false" flipV="false" rot="0">
              <a:off x="0" y="0"/>
              <a:ext cx="1111885" cy="1111885"/>
            </a:xfrm>
            <a:custGeom>
              <a:avLst/>
              <a:gdLst/>
              <a:ahLst/>
              <a:cxnLst/>
              <a:rect r="r" b="b" t="t" l="l"/>
              <a:pathLst>
                <a:path h="1111885" w="1111885">
                  <a:moveTo>
                    <a:pt x="0" y="0"/>
                  </a:moveTo>
                  <a:lnTo>
                    <a:pt x="1111885" y="0"/>
                  </a:lnTo>
                  <a:lnTo>
                    <a:pt x="1111885" y="1111885"/>
                  </a:lnTo>
                  <a:lnTo>
                    <a:pt x="0" y="1111885"/>
                  </a:lnTo>
                  <a:lnTo>
                    <a:pt x="0" y="0"/>
                  </a:lnTo>
                  <a:close/>
                </a:path>
              </a:pathLst>
            </a:custGeom>
            <a:blipFill>
              <a:blip r:embed="rId8"/>
              <a:stretch>
                <a:fillRect l="0" t="0" r="-2" b="-2"/>
              </a:stretch>
            </a:blipFill>
          </p:spPr>
        </p:sp>
      </p:grpSp>
      <p:grpSp>
        <p:nvGrpSpPr>
          <p:cNvPr name="Group 82" id="82"/>
          <p:cNvGrpSpPr/>
          <p:nvPr/>
        </p:nvGrpSpPr>
        <p:grpSpPr>
          <a:xfrm rot="0">
            <a:off x="16756151" y="2537460"/>
            <a:ext cx="548640" cy="548640"/>
            <a:chOff x="0" y="0"/>
            <a:chExt cx="731520" cy="731520"/>
          </a:xfrm>
        </p:grpSpPr>
        <p:sp>
          <p:nvSpPr>
            <p:cNvPr name="Freeform 83" id="8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84" id="84"/>
            <p:cNvSpPr txBox="true"/>
            <p:nvPr/>
          </p:nvSpPr>
          <p:spPr>
            <a:xfrm>
              <a:off x="0" y="-47625"/>
              <a:ext cx="731520" cy="779145"/>
            </a:xfrm>
            <a:prstGeom prst="rect">
              <a:avLst/>
            </a:prstGeom>
          </p:spPr>
          <p:txBody>
            <a:bodyPr anchor="ctr" rtlCol="false" tIns="0" lIns="0" bIns="0" rIns="0"/>
            <a:lstStyle/>
            <a:p>
              <a:pPr algn="r">
                <a:lnSpc>
                  <a:spcPts val="2340"/>
                </a:lnSpc>
              </a:pPr>
              <a:r>
                <a:rPr lang="en-US" sz="1950" b="true">
                  <a:solidFill>
                    <a:srgbClr val="2DD4BF"/>
                  </a:solidFill>
                  <a:latin typeface="Calibri (MS) Bold"/>
                  <a:ea typeface="Calibri (MS) Bold"/>
                  <a:cs typeface="Calibri (MS) Bold"/>
                  <a:sym typeface="Calibri (MS) Bold"/>
                </a:rPr>
                <a:t>5</a:t>
              </a:r>
            </a:p>
          </p:txBody>
        </p:sp>
      </p:grpSp>
      <p:grpSp>
        <p:nvGrpSpPr>
          <p:cNvPr name="Group 85" id="85"/>
          <p:cNvGrpSpPr/>
          <p:nvPr/>
        </p:nvGrpSpPr>
        <p:grpSpPr>
          <a:xfrm rot="0">
            <a:off x="14547875" y="4183380"/>
            <a:ext cx="2798064" cy="685800"/>
            <a:chOff x="0" y="0"/>
            <a:chExt cx="3730752" cy="914400"/>
          </a:xfrm>
        </p:grpSpPr>
        <p:sp>
          <p:nvSpPr>
            <p:cNvPr name="Freeform 86" id="86"/>
            <p:cNvSpPr/>
            <p:nvPr/>
          </p:nvSpPr>
          <p:spPr>
            <a:xfrm flipH="false" flipV="false" rot="0">
              <a:off x="0" y="0"/>
              <a:ext cx="3730752" cy="914400"/>
            </a:xfrm>
            <a:custGeom>
              <a:avLst/>
              <a:gdLst/>
              <a:ahLst/>
              <a:cxnLst/>
              <a:rect r="r" b="b" t="t" l="l"/>
              <a:pathLst>
                <a:path h="914400" w="3730752">
                  <a:moveTo>
                    <a:pt x="0" y="0"/>
                  </a:moveTo>
                  <a:lnTo>
                    <a:pt x="3730752" y="0"/>
                  </a:lnTo>
                  <a:lnTo>
                    <a:pt x="3730752" y="914400"/>
                  </a:lnTo>
                  <a:lnTo>
                    <a:pt x="0" y="914400"/>
                  </a:lnTo>
                  <a:close/>
                </a:path>
              </a:pathLst>
            </a:custGeom>
            <a:blipFill>
              <a:blip r:embed="rId3">
                <a:alphaModFix amt="0"/>
              </a:blip>
              <a:stretch>
                <a:fillRect l="0" t="-29498" r="0" b="-29498"/>
              </a:stretch>
            </a:blipFill>
          </p:spPr>
        </p:sp>
        <p:sp>
          <p:nvSpPr>
            <p:cNvPr name="TextBox 87" id="87"/>
            <p:cNvSpPr txBox="true"/>
            <p:nvPr/>
          </p:nvSpPr>
          <p:spPr>
            <a:xfrm>
              <a:off x="0" y="-47625"/>
              <a:ext cx="3730752" cy="962025"/>
            </a:xfrm>
            <a:prstGeom prst="rect">
              <a:avLst/>
            </a:prstGeom>
          </p:spPr>
          <p:txBody>
            <a:bodyPr anchor="ctr" rtlCol="false" tIns="0" lIns="0" bIns="0" rIns="0"/>
            <a:lstStyle/>
            <a:p>
              <a:pPr algn="ctr">
                <a:lnSpc>
                  <a:spcPts val="2610"/>
                </a:lnSpc>
              </a:pPr>
              <a:r>
                <a:rPr lang="en-US" sz="2175" b="true">
                  <a:solidFill>
                    <a:srgbClr val="17213B"/>
                  </a:solidFill>
                  <a:latin typeface="Calibri (MS) Bold"/>
                  <a:ea typeface="Calibri (MS) Bold"/>
                  <a:cs typeface="Calibri (MS) Bold"/>
                  <a:sym typeface="Calibri (MS) Bold"/>
                </a:rPr>
                <a:t>Critique Agent</a:t>
              </a:r>
            </a:p>
          </p:txBody>
        </p:sp>
      </p:grpSp>
      <p:grpSp>
        <p:nvGrpSpPr>
          <p:cNvPr name="Group 88" id="88"/>
          <p:cNvGrpSpPr/>
          <p:nvPr/>
        </p:nvGrpSpPr>
        <p:grpSpPr>
          <a:xfrm rot="0">
            <a:off x="14630171" y="5006340"/>
            <a:ext cx="2633472" cy="3017520"/>
            <a:chOff x="0" y="0"/>
            <a:chExt cx="3511296" cy="4023360"/>
          </a:xfrm>
        </p:grpSpPr>
        <p:sp>
          <p:nvSpPr>
            <p:cNvPr name="Freeform 89" id="89"/>
            <p:cNvSpPr/>
            <p:nvPr/>
          </p:nvSpPr>
          <p:spPr>
            <a:xfrm flipH="false" flipV="false" rot="0">
              <a:off x="0" y="0"/>
              <a:ext cx="3511296" cy="4023360"/>
            </a:xfrm>
            <a:custGeom>
              <a:avLst/>
              <a:gdLst/>
              <a:ahLst/>
              <a:cxnLst/>
              <a:rect r="r" b="b" t="t" l="l"/>
              <a:pathLst>
                <a:path h="4023360" w="3511296">
                  <a:moveTo>
                    <a:pt x="0" y="0"/>
                  </a:moveTo>
                  <a:lnTo>
                    <a:pt x="3511296" y="0"/>
                  </a:lnTo>
                  <a:lnTo>
                    <a:pt x="3511296" y="4023360"/>
                  </a:lnTo>
                  <a:lnTo>
                    <a:pt x="0" y="4023360"/>
                  </a:lnTo>
                  <a:close/>
                </a:path>
              </a:pathLst>
            </a:custGeom>
            <a:blipFill>
              <a:blip r:embed="rId3">
                <a:alphaModFix amt="0"/>
              </a:blip>
              <a:stretch>
                <a:fillRect l="-97014" t="0" r="-97014" b="0"/>
              </a:stretch>
            </a:blipFill>
          </p:spPr>
        </p:sp>
        <p:sp>
          <p:nvSpPr>
            <p:cNvPr name="TextBox 90" id="90"/>
            <p:cNvSpPr txBox="true"/>
            <p:nvPr/>
          </p:nvSpPr>
          <p:spPr>
            <a:xfrm>
              <a:off x="0" y="-28575"/>
              <a:ext cx="3511296" cy="405193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Reviews and scores the draft, triggering revision cycles up to a limit of three.</a:t>
              </a:r>
            </a:p>
          </p:txBody>
        </p:sp>
      </p:grpSp>
      <p:grpSp>
        <p:nvGrpSpPr>
          <p:cNvPr name="Group 91" id="91"/>
          <p:cNvGrpSpPr/>
          <p:nvPr/>
        </p:nvGrpSpPr>
        <p:grpSpPr>
          <a:xfrm rot="0">
            <a:off x="685800" y="9793224"/>
            <a:ext cx="10972800" cy="411480"/>
            <a:chOff x="0" y="0"/>
            <a:chExt cx="14630400" cy="548640"/>
          </a:xfrm>
        </p:grpSpPr>
        <p:sp>
          <p:nvSpPr>
            <p:cNvPr name="Freeform 92" id="9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93" id="9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94" id="94"/>
          <p:cNvGrpSpPr/>
          <p:nvPr/>
        </p:nvGrpSpPr>
        <p:grpSpPr>
          <a:xfrm rot="0">
            <a:off x="17282160" y="9793224"/>
            <a:ext cx="548640" cy="411480"/>
            <a:chOff x="0" y="0"/>
            <a:chExt cx="731520" cy="548640"/>
          </a:xfrm>
        </p:grpSpPr>
        <p:sp>
          <p:nvSpPr>
            <p:cNvPr name="Freeform 95" id="95"/>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96" id="96"/>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8</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5 · AGENTIC WORKFLOW</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Supported Content Types</a:t>
              </a:r>
            </a:p>
          </p:txBody>
        </p:sp>
      </p:grpSp>
      <p:grpSp>
        <p:nvGrpSpPr>
          <p:cNvPr name="Group 8" id="8"/>
          <p:cNvGrpSpPr/>
          <p:nvPr/>
        </p:nvGrpSpPr>
        <p:grpSpPr>
          <a:xfrm rot="0">
            <a:off x="769868" y="2461736"/>
            <a:ext cx="3141536" cy="4814888"/>
            <a:chOff x="0" y="0"/>
            <a:chExt cx="4188714" cy="6419850"/>
          </a:xfrm>
        </p:grpSpPr>
        <p:sp>
          <p:nvSpPr>
            <p:cNvPr name="Freeform 9" id="9"/>
            <p:cNvSpPr/>
            <p:nvPr/>
          </p:nvSpPr>
          <p:spPr>
            <a:xfrm flipH="false" flipV="false" rot="0">
              <a:off x="0" y="0"/>
              <a:ext cx="4188714" cy="6419850"/>
            </a:xfrm>
            <a:custGeom>
              <a:avLst/>
              <a:gdLst/>
              <a:ahLst/>
              <a:cxnLst/>
              <a:rect r="r" b="b" t="t" l="l"/>
              <a:pathLst>
                <a:path h="6419850" w="4188714">
                  <a:moveTo>
                    <a:pt x="0" y="146939"/>
                  </a:moveTo>
                  <a:cubicBezTo>
                    <a:pt x="0" y="65786"/>
                    <a:pt x="65786" y="0"/>
                    <a:pt x="146939" y="0"/>
                  </a:cubicBezTo>
                  <a:lnTo>
                    <a:pt x="4041775" y="0"/>
                  </a:lnTo>
                  <a:cubicBezTo>
                    <a:pt x="4122928" y="0"/>
                    <a:pt x="4188714" y="65786"/>
                    <a:pt x="4188714" y="146939"/>
                  </a:cubicBezTo>
                  <a:lnTo>
                    <a:pt x="4188714" y="6272911"/>
                  </a:lnTo>
                  <a:cubicBezTo>
                    <a:pt x="4188714" y="6354064"/>
                    <a:pt x="4122928" y="6419850"/>
                    <a:pt x="4041775" y="6419850"/>
                  </a:cubicBezTo>
                  <a:lnTo>
                    <a:pt x="146939" y="6419850"/>
                  </a:lnTo>
                  <a:cubicBezTo>
                    <a:pt x="65786" y="6419850"/>
                    <a:pt x="0" y="6354064"/>
                    <a:pt x="0" y="6272911"/>
                  </a:cubicBezTo>
                  <a:close/>
                </a:path>
              </a:pathLst>
            </a:custGeom>
            <a:solidFill>
              <a:srgbClr val="FFFFFF"/>
            </a:solidFill>
            <a:ln w="14288" cap="sq">
              <a:solidFill>
                <a:srgbClr val="E2E8F0"/>
              </a:solidFill>
              <a:prstDash val="solid"/>
              <a:miter/>
            </a:ln>
          </p:spPr>
        </p:sp>
      </p:grpSp>
      <p:grpSp>
        <p:nvGrpSpPr>
          <p:cNvPr name="Group 10" id="10"/>
          <p:cNvGrpSpPr/>
          <p:nvPr/>
        </p:nvGrpSpPr>
        <p:grpSpPr>
          <a:xfrm rot="0">
            <a:off x="1723415" y="2948940"/>
            <a:ext cx="1234440" cy="1234440"/>
            <a:chOff x="0" y="0"/>
            <a:chExt cx="1645920" cy="1645920"/>
          </a:xfrm>
        </p:grpSpPr>
        <p:sp>
          <p:nvSpPr>
            <p:cNvPr name="Freeform 11" id="11"/>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EEF2FB"/>
            </a:solidFill>
          </p:spPr>
        </p:sp>
      </p:grpSp>
      <p:grpSp>
        <p:nvGrpSpPr>
          <p:cNvPr name="Group 12" id="12"/>
          <p:cNvGrpSpPr/>
          <p:nvPr/>
        </p:nvGrpSpPr>
        <p:grpSpPr>
          <a:xfrm rot="0">
            <a:off x="1871548" y="3097073"/>
            <a:ext cx="938174" cy="938174"/>
            <a:chOff x="0" y="0"/>
            <a:chExt cx="1250899" cy="1250899"/>
          </a:xfrm>
        </p:grpSpPr>
        <p:sp>
          <p:nvSpPr>
            <p:cNvPr name="Freeform 13" id="13" descr="/home/claude/pptx/icons/blog.png"/>
            <p:cNvSpPr/>
            <p:nvPr/>
          </p:nvSpPr>
          <p:spPr>
            <a:xfrm flipH="false" flipV="false" rot="0">
              <a:off x="0" y="0"/>
              <a:ext cx="1250950" cy="1250950"/>
            </a:xfrm>
            <a:custGeom>
              <a:avLst/>
              <a:gdLst/>
              <a:ahLst/>
              <a:cxnLst/>
              <a:rect r="r" b="b" t="t" l="l"/>
              <a:pathLst>
                <a:path h="1250950" w="1250950">
                  <a:moveTo>
                    <a:pt x="0" y="0"/>
                  </a:moveTo>
                  <a:lnTo>
                    <a:pt x="1250950" y="0"/>
                  </a:lnTo>
                  <a:lnTo>
                    <a:pt x="1250950" y="1250950"/>
                  </a:lnTo>
                  <a:lnTo>
                    <a:pt x="0" y="1250950"/>
                  </a:lnTo>
                  <a:lnTo>
                    <a:pt x="0" y="0"/>
                  </a:lnTo>
                  <a:close/>
                </a:path>
              </a:pathLst>
            </a:custGeom>
            <a:blipFill>
              <a:blip r:embed="rId4"/>
              <a:stretch>
                <a:fillRect l="0" t="0" r="4" b="4"/>
              </a:stretch>
            </a:blipFill>
          </p:spPr>
        </p:sp>
      </p:grpSp>
      <p:grpSp>
        <p:nvGrpSpPr>
          <p:cNvPr name="Group 14" id="14"/>
          <p:cNvGrpSpPr/>
          <p:nvPr/>
        </p:nvGrpSpPr>
        <p:grpSpPr>
          <a:xfrm rot="0">
            <a:off x="941603" y="4457700"/>
            <a:ext cx="2798064" cy="617220"/>
            <a:chOff x="0" y="0"/>
            <a:chExt cx="3730752" cy="822960"/>
          </a:xfrm>
        </p:grpSpPr>
        <p:sp>
          <p:nvSpPr>
            <p:cNvPr name="Freeform 15" id="15"/>
            <p:cNvSpPr/>
            <p:nvPr/>
          </p:nvSpPr>
          <p:spPr>
            <a:xfrm flipH="false" flipV="false" rot="0">
              <a:off x="0" y="0"/>
              <a:ext cx="3730752" cy="822960"/>
            </a:xfrm>
            <a:custGeom>
              <a:avLst/>
              <a:gdLst/>
              <a:ahLst/>
              <a:cxnLst/>
              <a:rect r="r" b="b" t="t" l="l"/>
              <a:pathLst>
                <a:path h="822960" w="3730752">
                  <a:moveTo>
                    <a:pt x="0" y="0"/>
                  </a:moveTo>
                  <a:lnTo>
                    <a:pt x="3730752" y="0"/>
                  </a:lnTo>
                  <a:lnTo>
                    <a:pt x="3730752" y="822960"/>
                  </a:lnTo>
                  <a:lnTo>
                    <a:pt x="0" y="822960"/>
                  </a:lnTo>
                  <a:close/>
                </a:path>
              </a:pathLst>
            </a:custGeom>
            <a:blipFill>
              <a:blip r:embed="rId3">
                <a:alphaModFix amt="0"/>
              </a:blip>
              <a:stretch>
                <a:fillRect l="0" t="-38332" r="0" b="-38332"/>
              </a:stretch>
            </a:blipFill>
          </p:spPr>
        </p:sp>
        <p:sp>
          <p:nvSpPr>
            <p:cNvPr name="TextBox 16" id="16"/>
            <p:cNvSpPr txBox="true"/>
            <p:nvPr/>
          </p:nvSpPr>
          <p:spPr>
            <a:xfrm>
              <a:off x="0" y="-57150"/>
              <a:ext cx="3730752" cy="880110"/>
            </a:xfrm>
            <a:prstGeom prst="rect">
              <a:avLst/>
            </a:prstGeom>
          </p:spPr>
          <p:txBody>
            <a:bodyPr anchor="ctr" rtlCol="false" tIns="0" lIns="0" bIns="0" rIns="0"/>
            <a:lstStyle/>
            <a:p>
              <a:pPr algn="ctr">
                <a:lnSpc>
                  <a:spcPts val="2700"/>
                </a:lnSpc>
              </a:pPr>
              <a:r>
                <a:rPr lang="en-US" sz="2250" b="true">
                  <a:solidFill>
                    <a:srgbClr val="17213B"/>
                  </a:solidFill>
                  <a:latin typeface="Calibri (MS) Bold"/>
                  <a:ea typeface="Calibri (MS) Bold"/>
                  <a:cs typeface="Calibri (MS) Bold"/>
                  <a:sym typeface="Calibri (MS) Bold"/>
                </a:rPr>
                <a:t>Blog</a:t>
              </a:r>
            </a:p>
          </p:txBody>
        </p:sp>
      </p:grpSp>
      <p:grpSp>
        <p:nvGrpSpPr>
          <p:cNvPr name="Group 17" id="17"/>
          <p:cNvGrpSpPr/>
          <p:nvPr/>
        </p:nvGrpSpPr>
        <p:grpSpPr>
          <a:xfrm rot="0">
            <a:off x="1023899" y="5143500"/>
            <a:ext cx="2633472" cy="1920240"/>
            <a:chOff x="0" y="0"/>
            <a:chExt cx="3511296" cy="2560320"/>
          </a:xfrm>
        </p:grpSpPr>
        <p:sp>
          <p:nvSpPr>
            <p:cNvPr name="Freeform 18" id="18"/>
            <p:cNvSpPr/>
            <p:nvPr/>
          </p:nvSpPr>
          <p:spPr>
            <a:xfrm flipH="false" flipV="false" rot="0">
              <a:off x="0" y="0"/>
              <a:ext cx="3511296" cy="2560320"/>
            </a:xfrm>
            <a:custGeom>
              <a:avLst/>
              <a:gdLst/>
              <a:ahLst/>
              <a:cxnLst/>
              <a:rect r="r" b="b" t="t" l="l"/>
              <a:pathLst>
                <a:path h="2560320" w="3511296">
                  <a:moveTo>
                    <a:pt x="0" y="0"/>
                  </a:moveTo>
                  <a:lnTo>
                    <a:pt x="3511296" y="0"/>
                  </a:lnTo>
                  <a:lnTo>
                    <a:pt x="3511296" y="2560320"/>
                  </a:lnTo>
                  <a:lnTo>
                    <a:pt x="0" y="2560320"/>
                  </a:lnTo>
                  <a:close/>
                </a:path>
              </a:pathLst>
            </a:custGeom>
            <a:blipFill>
              <a:blip r:embed="rId3">
                <a:alphaModFix amt="0"/>
              </a:blip>
              <a:stretch>
                <a:fillRect l="-43554" t="0" r="-43554" b="0"/>
              </a:stretch>
            </a:blipFill>
          </p:spPr>
        </p:sp>
        <p:sp>
          <p:nvSpPr>
            <p:cNvPr name="TextBox 19" id="19"/>
            <p:cNvSpPr txBox="true"/>
            <p:nvPr/>
          </p:nvSpPr>
          <p:spPr>
            <a:xfrm>
              <a:off x="0" y="-28575"/>
              <a:ext cx="3511296" cy="258889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Structured, long-form content with sections and a clear narrative arc.</a:t>
              </a:r>
            </a:p>
          </p:txBody>
        </p:sp>
      </p:grpSp>
      <p:grpSp>
        <p:nvGrpSpPr>
          <p:cNvPr name="Group 20" id="20"/>
          <p:cNvGrpSpPr/>
          <p:nvPr/>
        </p:nvGrpSpPr>
        <p:grpSpPr>
          <a:xfrm rot="0">
            <a:off x="4171436" y="2461736"/>
            <a:ext cx="3141536" cy="4814888"/>
            <a:chOff x="0" y="0"/>
            <a:chExt cx="4188714" cy="6419850"/>
          </a:xfrm>
        </p:grpSpPr>
        <p:sp>
          <p:nvSpPr>
            <p:cNvPr name="Freeform 21" id="21"/>
            <p:cNvSpPr/>
            <p:nvPr/>
          </p:nvSpPr>
          <p:spPr>
            <a:xfrm flipH="false" flipV="false" rot="0">
              <a:off x="0" y="0"/>
              <a:ext cx="4188714" cy="6419850"/>
            </a:xfrm>
            <a:custGeom>
              <a:avLst/>
              <a:gdLst/>
              <a:ahLst/>
              <a:cxnLst/>
              <a:rect r="r" b="b" t="t" l="l"/>
              <a:pathLst>
                <a:path h="6419850" w="4188714">
                  <a:moveTo>
                    <a:pt x="0" y="146939"/>
                  </a:moveTo>
                  <a:cubicBezTo>
                    <a:pt x="0" y="65786"/>
                    <a:pt x="65786" y="0"/>
                    <a:pt x="146939" y="0"/>
                  </a:cubicBezTo>
                  <a:lnTo>
                    <a:pt x="4041775" y="0"/>
                  </a:lnTo>
                  <a:cubicBezTo>
                    <a:pt x="4122928" y="0"/>
                    <a:pt x="4188714" y="65786"/>
                    <a:pt x="4188714" y="146939"/>
                  </a:cubicBezTo>
                  <a:lnTo>
                    <a:pt x="4188714" y="6272911"/>
                  </a:lnTo>
                  <a:cubicBezTo>
                    <a:pt x="4188714" y="6354064"/>
                    <a:pt x="4122928" y="6419850"/>
                    <a:pt x="4041775" y="6419850"/>
                  </a:cubicBezTo>
                  <a:lnTo>
                    <a:pt x="146939" y="6419850"/>
                  </a:lnTo>
                  <a:cubicBezTo>
                    <a:pt x="65786" y="6419850"/>
                    <a:pt x="0" y="6354064"/>
                    <a:pt x="0" y="6272911"/>
                  </a:cubicBezTo>
                  <a:close/>
                </a:path>
              </a:pathLst>
            </a:custGeom>
            <a:solidFill>
              <a:srgbClr val="FFFFFF"/>
            </a:solidFill>
            <a:ln w="14288" cap="sq">
              <a:solidFill>
                <a:srgbClr val="E2E8F0"/>
              </a:solidFill>
              <a:prstDash val="solid"/>
              <a:miter/>
            </a:ln>
          </p:spPr>
        </p:sp>
      </p:grpSp>
      <p:grpSp>
        <p:nvGrpSpPr>
          <p:cNvPr name="Group 22" id="22"/>
          <p:cNvGrpSpPr/>
          <p:nvPr/>
        </p:nvGrpSpPr>
        <p:grpSpPr>
          <a:xfrm rot="0">
            <a:off x="5124983" y="2948940"/>
            <a:ext cx="1234440" cy="1234440"/>
            <a:chOff x="0" y="0"/>
            <a:chExt cx="1645920" cy="1645920"/>
          </a:xfrm>
        </p:grpSpPr>
        <p:sp>
          <p:nvSpPr>
            <p:cNvPr name="Freeform 23" id="23"/>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EEF2FB"/>
            </a:solidFill>
          </p:spPr>
        </p:sp>
      </p:grpSp>
      <p:grpSp>
        <p:nvGrpSpPr>
          <p:cNvPr name="Group 24" id="24"/>
          <p:cNvGrpSpPr/>
          <p:nvPr/>
        </p:nvGrpSpPr>
        <p:grpSpPr>
          <a:xfrm rot="0">
            <a:off x="5273116" y="3097073"/>
            <a:ext cx="938174" cy="938174"/>
            <a:chOff x="0" y="0"/>
            <a:chExt cx="1250899" cy="1250899"/>
          </a:xfrm>
        </p:grpSpPr>
        <p:sp>
          <p:nvSpPr>
            <p:cNvPr name="Freeform 25" id="25" descr="/home/claude/pptx/icons/linkedin.png"/>
            <p:cNvSpPr/>
            <p:nvPr/>
          </p:nvSpPr>
          <p:spPr>
            <a:xfrm flipH="false" flipV="false" rot="0">
              <a:off x="0" y="0"/>
              <a:ext cx="1250950" cy="1250950"/>
            </a:xfrm>
            <a:custGeom>
              <a:avLst/>
              <a:gdLst/>
              <a:ahLst/>
              <a:cxnLst/>
              <a:rect r="r" b="b" t="t" l="l"/>
              <a:pathLst>
                <a:path h="1250950" w="1250950">
                  <a:moveTo>
                    <a:pt x="0" y="0"/>
                  </a:moveTo>
                  <a:lnTo>
                    <a:pt x="1250950" y="0"/>
                  </a:lnTo>
                  <a:lnTo>
                    <a:pt x="1250950" y="1250950"/>
                  </a:lnTo>
                  <a:lnTo>
                    <a:pt x="0" y="1250950"/>
                  </a:lnTo>
                  <a:lnTo>
                    <a:pt x="0" y="0"/>
                  </a:lnTo>
                  <a:close/>
                </a:path>
              </a:pathLst>
            </a:custGeom>
            <a:blipFill>
              <a:blip r:embed="rId5"/>
              <a:stretch>
                <a:fillRect l="0" t="0" r="4" b="4"/>
              </a:stretch>
            </a:blipFill>
          </p:spPr>
        </p:sp>
      </p:grpSp>
      <p:grpSp>
        <p:nvGrpSpPr>
          <p:cNvPr name="Group 26" id="26"/>
          <p:cNvGrpSpPr/>
          <p:nvPr/>
        </p:nvGrpSpPr>
        <p:grpSpPr>
          <a:xfrm rot="0">
            <a:off x="4343171" y="4457700"/>
            <a:ext cx="2798064" cy="617220"/>
            <a:chOff x="0" y="0"/>
            <a:chExt cx="3730752" cy="822960"/>
          </a:xfrm>
        </p:grpSpPr>
        <p:sp>
          <p:nvSpPr>
            <p:cNvPr name="Freeform 27" id="27"/>
            <p:cNvSpPr/>
            <p:nvPr/>
          </p:nvSpPr>
          <p:spPr>
            <a:xfrm flipH="false" flipV="false" rot="0">
              <a:off x="0" y="0"/>
              <a:ext cx="3730752" cy="822960"/>
            </a:xfrm>
            <a:custGeom>
              <a:avLst/>
              <a:gdLst/>
              <a:ahLst/>
              <a:cxnLst/>
              <a:rect r="r" b="b" t="t" l="l"/>
              <a:pathLst>
                <a:path h="822960" w="3730752">
                  <a:moveTo>
                    <a:pt x="0" y="0"/>
                  </a:moveTo>
                  <a:lnTo>
                    <a:pt x="3730752" y="0"/>
                  </a:lnTo>
                  <a:lnTo>
                    <a:pt x="3730752" y="822960"/>
                  </a:lnTo>
                  <a:lnTo>
                    <a:pt x="0" y="822960"/>
                  </a:lnTo>
                  <a:close/>
                </a:path>
              </a:pathLst>
            </a:custGeom>
            <a:blipFill>
              <a:blip r:embed="rId3">
                <a:alphaModFix amt="0"/>
              </a:blip>
              <a:stretch>
                <a:fillRect l="0" t="-38332" r="0" b="-38332"/>
              </a:stretch>
            </a:blipFill>
          </p:spPr>
        </p:sp>
        <p:sp>
          <p:nvSpPr>
            <p:cNvPr name="TextBox 28" id="28"/>
            <p:cNvSpPr txBox="true"/>
            <p:nvPr/>
          </p:nvSpPr>
          <p:spPr>
            <a:xfrm>
              <a:off x="0" y="-57150"/>
              <a:ext cx="3730752" cy="880110"/>
            </a:xfrm>
            <a:prstGeom prst="rect">
              <a:avLst/>
            </a:prstGeom>
          </p:spPr>
          <p:txBody>
            <a:bodyPr anchor="ctr" rtlCol="false" tIns="0" lIns="0" bIns="0" rIns="0"/>
            <a:lstStyle/>
            <a:p>
              <a:pPr algn="ctr">
                <a:lnSpc>
                  <a:spcPts val="2700"/>
                </a:lnSpc>
              </a:pPr>
              <a:r>
                <a:rPr lang="en-US" sz="2250" b="true">
                  <a:solidFill>
                    <a:srgbClr val="17213B"/>
                  </a:solidFill>
                  <a:latin typeface="Calibri (MS) Bold"/>
                  <a:ea typeface="Calibri (MS) Bold"/>
                  <a:cs typeface="Calibri (MS) Bold"/>
                  <a:sym typeface="Calibri (MS) Bold"/>
                </a:rPr>
                <a:t>LinkedIn</a:t>
              </a:r>
            </a:p>
          </p:txBody>
        </p:sp>
      </p:grpSp>
      <p:grpSp>
        <p:nvGrpSpPr>
          <p:cNvPr name="Group 29" id="29"/>
          <p:cNvGrpSpPr/>
          <p:nvPr/>
        </p:nvGrpSpPr>
        <p:grpSpPr>
          <a:xfrm rot="0">
            <a:off x="4425467" y="5143500"/>
            <a:ext cx="2633472" cy="1920240"/>
            <a:chOff x="0" y="0"/>
            <a:chExt cx="3511296" cy="2560320"/>
          </a:xfrm>
        </p:grpSpPr>
        <p:sp>
          <p:nvSpPr>
            <p:cNvPr name="Freeform 30" id="30"/>
            <p:cNvSpPr/>
            <p:nvPr/>
          </p:nvSpPr>
          <p:spPr>
            <a:xfrm flipH="false" flipV="false" rot="0">
              <a:off x="0" y="0"/>
              <a:ext cx="3511296" cy="2560320"/>
            </a:xfrm>
            <a:custGeom>
              <a:avLst/>
              <a:gdLst/>
              <a:ahLst/>
              <a:cxnLst/>
              <a:rect r="r" b="b" t="t" l="l"/>
              <a:pathLst>
                <a:path h="2560320" w="3511296">
                  <a:moveTo>
                    <a:pt x="0" y="0"/>
                  </a:moveTo>
                  <a:lnTo>
                    <a:pt x="3511296" y="0"/>
                  </a:lnTo>
                  <a:lnTo>
                    <a:pt x="3511296" y="2560320"/>
                  </a:lnTo>
                  <a:lnTo>
                    <a:pt x="0" y="2560320"/>
                  </a:lnTo>
                  <a:close/>
                </a:path>
              </a:pathLst>
            </a:custGeom>
            <a:blipFill>
              <a:blip r:embed="rId3">
                <a:alphaModFix amt="0"/>
              </a:blip>
              <a:stretch>
                <a:fillRect l="-43554" t="0" r="-43554" b="0"/>
              </a:stretch>
            </a:blipFill>
          </p:spPr>
        </p:sp>
        <p:sp>
          <p:nvSpPr>
            <p:cNvPr name="TextBox 31" id="31"/>
            <p:cNvSpPr txBox="true"/>
            <p:nvPr/>
          </p:nvSpPr>
          <p:spPr>
            <a:xfrm>
              <a:off x="0" y="-28575"/>
              <a:ext cx="3511296" cy="258889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Professional post tone, written for engagement on a business network.</a:t>
              </a:r>
            </a:p>
          </p:txBody>
        </p:sp>
      </p:grpSp>
      <p:grpSp>
        <p:nvGrpSpPr>
          <p:cNvPr name="Group 32" id="32"/>
          <p:cNvGrpSpPr/>
          <p:nvPr/>
        </p:nvGrpSpPr>
        <p:grpSpPr>
          <a:xfrm rot="0">
            <a:off x="7573004" y="2461736"/>
            <a:ext cx="3141536" cy="4814888"/>
            <a:chOff x="0" y="0"/>
            <a:chExt cx="4188714" cy="6419850"/>
          </a:xfrm>
        </p:grpSpPr>
        <p:sp>
          <p:nvSpPr>
            <p:cNvPr name="Freeform 33" id="33"/>
            <p:cNvSpPr/>
            <p:nvPr/>
          </p:nvSpPr>
          <p:spPr>
            <a:xfrm flipH="false" flipV="false" rot="0">
              <a:off x="0" y="0"/>
              <a:ext cx="4188714" cy="6419850"/>
            </a:xfrm>
            <a:custGeom>
              <a:avLst/>
              <a:gdLst/>
              <a:ahLst/>
              <a:cxnLst/>
              <a:rect r="r" b="b" t="t" l="l"/>
              <a:pathLst>
                <a:path h="6419850" w="4188714">
                  <a:moveTo>
                    <a:pt x="0" y="146939"/>
                  </a:moveTo>
                  <a:cubicBezTo>
                    <a:pt x="0" y="65786"/>
                    <a:pt x="65786" y="0"/>
                    <a:pt x="146939" y="0"/>
                  </a:cubicBezTo>
                  <a:lnTo>
                    <a:pt x="4041775" y="0"/>
                  </a:lnTo>
                  <a:cubicBezTo>
                    <a:pt x="4122928" y="0"/>
                    <a:pt x="4188714" y="65786"/>
                    <a:pt x="4188714" y="146939"/>
                  </a:cubicBezTo>
                  <a:lnTo>
                    <a:pt x="4188714" y="6272911"/>
                  </a:lnTo>
                  <a:cubicBezTo>
                    <a:pt x="4188714" y="6354064"/>
                    <a:pt x="4122928" y="6419850"/>
                    <a:pt x="4041775" y="6419850"/>
                  </a:cubicBezTo>
                  <a:lnTo>
                    <a:pt x="146939" y="6419850"/>
                  </a:lnTo>
                  <a:cubicBezTo>
                    <a:pt x="65786" y="6419850"/>
                    <a:pt x="0" y="6354064"/>
                    <a:pt x="0" y="6272911"/>
                  </a:cubicBezTo>
                  <a:close/>
                </a:path>
              </a:pathLst>
            </a:custGeom>
            <a:solidFill>
              <a:srgbClr val="FFFFFF"/>
            </a:solidFill>
            <a:ln w="14288" cap="sq">
              <a:solidFill>
                <a:srgbClr val="E2E8F0"/>
              </a:solidFill>
              <a:prstDash val="solid"/>
              <a:miter/>
            </a:ln>
          </p:spPr>
        </p:sp>
      </p:grpSp>
      <p:grpSp>
        <p:nvGrpSpPr>
          <p:cNvPr name="Group 34" id="34"/>
          <p:cNvGrpSpPr/>
          <p:nvPr/>
        </p:nvGrpSpPr>
        <p:grpSpPr>
          <a:xfrm rot="0">
            <a:off x="8526551" y="2948940"/>
            <a:ext cx="1234440" cy="1234440"/>
            <a:chOff x="0" y="0"/>
            <a:chExt cx="1645920" cy="1645920"/>
          </a:xfrm>
        </p:grpSpPr>
        <p:sp>
          <p:nvSpPr>
            <p:cNvPr name="Freeform 35" id="35"/>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EEF2FB"/>
            </a:solidFill>
          </p:spPr>
        </p:sp>
      </p:grpSp>
      <p:grpSp>
        <p:nvGrpSpPr>
          <p:cNvPr name="Group 36" id="36"/>
          <p:cNvGrpSpPr/>
          <p:nvPr/>
        </p:nvGrpSpPr>
        <p:grpSpPr>
          <a:xfrm rot="0">
            <a:off x="8674684" y="3097073"/>
            <a:ext cx="938174" cy="938174"/>
            <a:chOff x="0" y="0"/>
            <a:chExt cx="1250899" cy="1250899"/>
          </a:xfrm>
        </p:grpSpPr>
        <p:sp>
          <p:nvSpPr>
            <p:cNvPr name="Freeform 37" id="37" descr="/home/claude/pptx/icons/tweet.png"/>
            <p:cNvSpPr/>
            <p:nvPr/>
          </p:nvSpPr>
          <p:spPr>
            <a:xfrm flipH="false" flipV="false" rot="0">
              <a:off x="0" y="0"/>
              <a:ext cx="1250950" cy="1250950"/>
            </a:xfrm>
            <a:custGeom>
              <a:avLst/>
              <a:gdLst/>
              <a:ahLst/>
              <a:cxnLst/>
              <a:rect r="r" b="b" t="t" l="l"/>
              <a:pathLst>
                <a:path h="1250950" w="1250950">
                  <a:moveTo>
                    <a:pt x="0" y="0"/>
                  </a:moveTo>
                  <a:lnTo>
                    <a:pt x="1250950" y="0"/>
                  </a:lnTo>
                  <a:lnTo>
                    <a:pt x="1250950" y="1250950"/>
                  </a:lnTo>
                  <a:lnTo>
                    <a:pt x="0" y="1250950"/>
                  </a:lnTo>
                  <a:lnTo>
                    <a:pt x="0" y="0"/>
                  </a:lnTo>
                  <a:close/>
                </a:path>
              </a:pathLst>
            </a:custGeom>
            <a:blipFill>
              <a:blip r:embed="rId6"/>
              <a:stretch>
                <a:fillRect l="0" t="0" r="4" b="4"/>
              </a:stretch>
            </a:blipFill>
          </p:spPr>
        </p:sp>
      </p:grpSp>
      <p:grpSp>
        <p:nvGrpSpPr>
          <p:cNvPr name="Group 38" id="38"/>
          <p:cNvGrpSpPr/>
          <p:nvPr/>
        </p:nvGrpSpPr>
        <p:grpSpPr>
          <a:xfrm rot="0">
            <a:off x="7744739" y="4457700"/>
            <a:ext cx="2798064" cy="617220"/>
            <a:chOff x="0" y="0"/>
            <a:chExt cx="3730752" cy="822960"/>
          </a:xfrm>
        </p:grpSpPr>
        <p:sp>
          <p:nvSpPr>
            <p:cNvPr name="Freeform 39" id="39"/>
            <p:cNvSpPr/>
            <p:nvPr/>
          </p:nvSpPr>
          <p:spPr>
            <a:xfrm flipH="false" flipV="false" rot="0">
              <a:off x="0" y="0"/>
              <a:ext cx="3730752" cy="822960"/>
            </a:xfrm>
            <a:custGeom>
              <a:avLst/>
              <a:gdLst/>
              <a:ahLst/>
              <a:cxnLst/>
              <a:rect r="r" b="b" t="t" l="l"/>
              <a:pathLst>
                <a:path h="822960" w="3730752">
                  <a:moveTo>
                    <a:pt x="0" y="0"/>
                  </a:moveTo>
                  <a:lnTo>
                    <a:pt x="3730752" y="0"/>
                  </a:lnTo>
                  <a:lnTo>
                    <a:pt x="3730752" y="822960"/>
                  </a:lnTo>
                  <a:lnTo>
                    <a:pt x="0" y="822960"/>
                  </a:lnTo>
                  <a:close/>
                </a:path>
              </a:pathLst>
            </a:custGeom>
            <a:blipFill>
              <a:blip r:embed="rId3">
                <a:alphaModFix amt="0"/>
              </a:blip>
              <a:stretch>
                <a:fillRect l="0" t="-38332" r="0" b="-38332"/>
              </a:stretch>
            </a:blipFill>
          </p:spPr>
        </p:sp>
        <p:sp>
          <p:nvSpPr>
            <p:cNvPr name="TextBox 40" id="40"/>
            <p:cNvSpPr txBox="true"/>
            <p:nvPr/>
          </p:nvSpPr>
          <p:spPr>
            <a:xfrm>
              <a:off x="0" y="-57150"/>
              <a:ext cx="3730752" cy="880110"/>
            </a:xfrm>
            <a:prstGeom prst="rect">
              <a:avLst/>
            </a:prstGeom>
          </p:spPr>
          <p:txBody>
            <a:bodyPr anchor="ctr" rtlCol="false" tIns="0" lIns="0" bIns="0" rIns="0"/>
            <a:lstStyle/>
            <a:p>
              <a:pPr algn="ctr">
                <a:lnSpc>
                  <a:spcPts val="2700"/>
                </a:lnSpc>
              </a:pPr>
              <a:r>
                <a:rPr lang="en-US" sz="2250" b="true">
                  <a:solidFill>
                    <a:srgbClr val="17213B"/>
                  </a:solidFill>
                  <a:latin typeface="Calibri (MS) Bold"/>
                  <a:ea typeface="Calibri (MS) Bold"/>
                  <a:cs typeface="Calibri (MS) Bold"/>
                  <a:sym typeface="Calibri (MS) Bold"/>
                </a:rPr>
                <a:t>Tweet</a:t>
              </a:r>
            </a:p>
          </p:txBody>
        </p:sp>
      </p:grpSp>
      <p:grpSp>
        <p:nvGrpSpPr>
          <p:cNvPr name="Group 41" id="41"/>
          <p:cNvGrpSpPr/>
          <p:nvPr/>
        </p:nvGrpSpPr>
        <p:grpSpPr>
          <a:xfrm rot="0">
            <a:off x="7827035" y="5143500"/>
            <a:ext cx="2633472" cy="1920240"/>
            <a:chOff x="0" y="0"/>
            <a:chExt cx="3511296" cy="2560320"/>
          </a:xfrm>
        </p:grpSpPr>
        <p:sp>
          <p:nvSpPr>
            <p:cNvPr name="Freeform 42" id="42"/>
            <p:cNvSpPr/>
            <p:nvPr/>
          </p:nvSpPr>
          <p:spPr>
            <a:xfrm flipH="false" flipV="false" rot="0">
              <a:off x="0" y="0"/>
              <a:ext cx="3511296" cy="2560320"/>
            </a:xfrm>
            <a:custGeom>
              <a:avLst/>
              <a:gdLst/>
              <a:ahLst/>
              <a:cxnLst/>
              <a:rect r="r" b="b" t="t" l="l"/>
              <a:pathLst>
                <a:path h="2560320" w="3511296">
                  <a:moveTo>
                    <a:pt x="0" y="0"/>
                  </a:moveTo>
                  <a:lnTo>
                    <a:pt x="3511296" y="0"/>
                  </a:lnTo>
                  <a:lnTo>
                    <a:pt x="3511296" y="2560320"/>
                  </a:lnTo>
                  <a:lnTo>
                    <a:pt x="0" y="2560320"/>
                  </a:lnTo>
                  <a:close/>
                </a:path>
              </a:pathLst>
            </a:custGeom>
            <a:blipFill>
              <a:blip r:embed="rId3">
                <a:alphaModFix amt="0"/>
              </a:blip>
              <a:stretch>
                <a:fillRect l="-43554" t="0" r="-43554" b="0"/>
              </a:stretch>
            </a:blipFill>
          </p:spPr>
        </p:sp>
        <p:sp>
          <p:nvSpPr>
            <p:cNvPr name="TextBox 43" id="43"/>
            <p:cNvSpPr txBox="true"/>
            <p:nvPr/>
          </p:nvSpPr>
          <p:spPr>
            <a:xfrm>
              <a:off x="0" y="-28575"/>
              <a:ext cx="3511296" cy="258889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Short-form social content, single tweet or thread as appropriate.</a:t>
              </a:r>
            </a:p>
          </p:txBody>
        </p:sp>
      </p:grpSp>
      <p:grpSp>
        <p:nvGrpSpPr>
          <p:cNvPr name="Group 44" id="44"/>
          <p:cNvGrpSpPr/>
          <p:nvPr/>
        </p:nvGrpSpPr>
        <p:grpSpPr>
          <a:xfrm rot="0">
            <a:off x="10974572" y="2461736"/>
            <a:ext cx="3141536" cy="4814888"/>
            <a:chOff x="0" y="0"/>
            <a:chExt cx="4188714" cy="6419850"/>
          </a:xfrm>
        </p:grpSpPr>
        <p:sp>
          <p:nvSpPr>
            <p:cNvPr name="Freeform 45" id="45"/>
            <p:cNvSpPr/>
            <p:nvPr/>
          </p:nvSpPr>
          <p:spPr>
            <a:xfrm flipH="false" flipV="false" rot="0">
              <a:off x="0" y="0"/>
              <a:ext cx="4188714" cy="6419850"/>
            </a:xfrm>
            <a:custGeom>
              <a:avLst/>
              <a:gdLst/>
              <a:ahLst/>
              <a:cxnLst/>
              <a:rect r="r" b="b" t="t" l="l"/>
              <a:pathLst>
                <a:path h="6419850" w="4188714">
                  <a:moveTo>
                    <a:pt x="0" y="146939"/>
                  </a:moveTo>
                  <a:cubicBezTo>
                    <a:pt x="0" y="65786"/>
                    <a:pt x="65786" y="0"/>
                    <a:pt x="146939" y="0"/>
                  </a:cubicBezTo>
                  <a:lnTo>
                    <a:pt x="4041775" y="0"/>
                  </a:lnTo>
                  <a:cubicBezTo>
                    <a:pt x="4122928" y="0"/>
                    <a:pt x="4188714" y="65786"/>
                    <a:pt x="4188714" y="146939"/>
                  </a:cubicBezTo>
                  <a:lnTo>
                    <a:pt x="4188714" y="6272911"/>
                  </a:lnTo>
                  <a:cubicBezTo>
                    <a:pt x="4188714" y="6354064"/>
                    <a:pt x="4122928" y="6419850"/>
                    <a:pt x="4041775" y="6419850"/>
                  </a:cubicBezTo>
                  <a:lnTo>
                    <a:pt x="146939" y="6419850"/>
                  </a:lnTo>
                  <a:cubicBezTo>
                    <a:pt x="65786" y="6419850"/>
                    <a:pt x="0" y="6354064"/>
                    <a:pt x="0" y="6272911"/>
                  </a:cubicBezTo>
                  <a:close/>
                </a:path>
              </a:pathLst>
            </a:custGeom>
            <a:solidFill>
              <a:srgbClr val="FFFFFF"/>
            </a:solidFill>
            <a:ln w="14288" cap="sq">
              <a:solidFill>
                <a:srgbClr val="E2E8F0"/>
              </a:solidFill>
              <a:prstDash val="solid"/>
              <a:miter/>
            </a:ln>
          </p:spPr>
        </p:sp>
      </p:grpSp>
      <p:grpSp>
        <p:nvGrpSpPr>
          <p:cNvPr name="Group 46" id="46"/>
          <p:cNvGrpSpPr/>
          <p:nvPr/>
        </p:nvGrpSpPr>
        <p:grpSpPr>
          <a:xfrm rot="0">
            <a:off x="11928119" y="2948940"/>
            <a:ext cx="1234440" cy="1234440"/>
            <a:chOff x="0" y="0"/>
            <a:chExt cx="1645920" cy="1645920"/>
          </a:xfrm>
        </p:grpSpPr>
        <p:sp>
          <p:nvSpPr>
            <p:cNvPr name="Freeform 47" id="47"/>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EEF2FB"/>
            </a:solidFill>
          </p:spPr>
        </p:sp>
      </p:grpSp>
      <p:grpSp>
        <p:nvGrpSpPr>
          <p:cNvPr name="Group 48" id="48"/>
          <p:cNvGrpSpPr/>
          <p:nvPr/>
        </p:nvGrpSpPr>
        <p:grpSpPr>
          <a:xfrm rot="0">
            <a:off x="12076252" y="3097073"/>
            <a:ext cx="938174" cy="938174"/>
            <a:chOff x="0" y="0"/>
            <a:chExt cx="1250899" cy="1250899"/>
          </a:xfrm>
        </p:grpSpPr>
        <p:sp>
          <p:nvSpPr>
            <p:cNvPr name="Freeform 49" id="49" descr="/home/claude/pptx/icons/instagram.png"/>
            <p:cNvSpPr/>
            <p:nvPr/>
          </p:nvSpPr>
          <p:spPr>
            <a:xfrm flipH="false" flipV="false" rot="0">
              <a:off x="0" y="0"/>
              <a:ext cx="1250950" cy="1250950"/>
            </a:xfrm>
            <a:custGeom>
              <a:avLst/>
              <a:gdLst/>
              <a:ahLst/>
              <a:cxnLst/>
              <a:rect r="r" b="b" t="t" l="l"/>
              <a:pathLst>
                <a:path h="1250950" w="1250950">
                  <a:moveTo>
                    <a:pt x="0" y="0"/>
                  </a:moveTo>
                  <a:lnTo>
                    <a:pt x="1250950" y="0"/>
                  </a:lnTo>
                  <a:lnTo>
                    <a:pt x="1250950" y="1250950"/>
                  </a:lnTo>
                  <a:lnTo>
                    <a:pt x="0" y="1250950"/>
                  </a:lnTo>
                  <a:lnTo>
                    <a:pt x="0" y="0"/>
                  </a:lnTo>
                  <a:close/>
                </a:path>
              </a:pathLst>
            </a:custGeom>
            <a:blipFill>
              <a:blip r:embed="rId7"/>
              <a:stretch>
                <a:fillRect l="0" t="0" r="4" b="4"/>
              </a:stretch>
            </a:blipFill>
          </p:spPr>
        </p:sp>
      </p:grpSp>
      <p:grpSp>
        <p:nvGrpSpPr>
          <p:cNvPr name="Group 50" id="50"/>
          <p:cNvGrpSpPr/>
          <p:nvPr/>
        </p:nvGrpSpPr>
        <p:grpSpPr>
          <a:xfrm rot="0">
            <a:off x="11146307" y="4457700"/>
            <a:ext cx="2798064" cy="617220"/>
            <a:chOff x="0" y="0"/>
            <a:chExt cx="3730752" cy="822960"/>
          </a:xfrm>
        </p:grpSpPr>
        <p:sp>
          <p:nvSpPr>
            <p:cNvPr name="Freeform 51" id="51"/>
            <p:cNvSpPr/>
            <p:nvPr/>
          </p:nvSpPr>
          <p:spPr>
            <a:xfrm flipH="false" flipV="false" rot="0">
              <a:off x="0" y="0"/>
              <a:ext cx="3730752" cy="822960"/>
            </a:xfrm>
            <a:custGeom>
              <a:avLst/>
              <a:gdLst/>
              <a:ahLst/>
              <a:cxnLst/>
              <a:rect r="r" b="b" t="t" l="l"/>
              <a:pathLst>
                <a:path h="822960" w="3730752">
                  <a:moveTo>
                    <a:pt x="0" y="0"/>
                  </a:moveTo>
                  <a:lnTo>
                    <a:pt x="3730752" y="0"/>
                  </a:lnTo>
                  <a:lnTo>
                    <a:pt x="3730752" y="822960"/>
                  </a:lnTo>
                  <a:lnTo>
                    <a:pt x="0" y="822960"/>
                  </a:lnTo>
                  <a:close/>
                </a:path>
              </a:pathLst>
            </a:custGeom>
            <a:blipFill>
              <a:blip r:embed="rId3">
                <a:alphaModFix amt="0"/>
              </a:blip>
              <a:stretch>
                <a:fillRect l="0" t="-38332" r="0" b="-38332"/>
              </a:stretch>
            </a:blipFill>
          </p:spPr>
        </p:sp>
        <p:sp>
          <p:nvSpPr>
            <p:cNvPr name="TextBox 52" id="52"/>
            <p:cNvSpPr txBox="true"/>
            <p:nvPr/>
          </p:nvSpPr>
          <p:spPr>
            <a:xfrm>
              <a:off x="0" y="-57150"/>
              <a:ext cx="3730752" cy="880110"/>
            </a:xfrm>
            <a:prstGeom prst="rect">
              <a:avLst/>
            </a:prstGeom>
          </p:spPr>
          <p:txBody>
            <a:bodyPr anchor="ctr" rtlCol="false" tIns="0" lIns="0" bIns="0" rIns="0"/>
            <a:lstStyle/>
            <a:p>
              <a:pPr algn="ctr">
                <a:lnSpc>
                  <a:spcPts val="2700"/>
                </a:lnSpc>
              </a:pPr>
              <a:r>
                <a:rPr lang="en-US" sz="2250" b="true">
                  <a:solidFill>
                    <a:srgbClr val="17213B"/>
                  </a:solidFill>
                  <a:latin typeface="Calibri (MS) Bold"/>
                  <a:ea typeface="Calibri (MS) Bold"/>
                  <a:cs typeface="Calibri (MS) Bold"/>
                  <a:sym typeface="Calibri (MS) Bold"/>
                </a:rPr>
                <a:t>Instagram</a:t>
              </a:r>
            </a:p>
          </p:txBody>
        </p:sp>
      </p:grpSp>
      <p:grpSp>
        <p:nvGrpSpPr>
          <p:cNvPr name="Group 53" id="53"/>
          <p:cNvGrpSpPr/>
          <p:nvPr/>
        </p:nvGrpSpPr>
        <p:grpSpPr>
          <a:xfrm rot="0">
            <a:off x="11228603" y="5143500"/>
            <a:ext cx="2633472" cy="1920240"/>
            <a:chOff x="0" y="0"/>
            <a:chExt cx="3511296" cy="2560320"/>
          </a:xfrm>
        </p:grpSpPr>
        <p:sp>
          <p:nvSpPr>
            <p:cNvPr name="Freeform 54" id="54"/>
            <p:cNvSpPr/>
            <p:nvPr/>
          </p:nvSpPr>
          <p:spPr>
            <a:xfrm flipH="false" flipV="false" rot="0">
              <a:off x="0" y="0"/>
              <a:ext cx="3511296" cy="2560320"/>
            </a:xfrm>
            <a:custGeom>
              <a:avLst/>
              <a:gdLst/>
              <a:ahLst/>
              <a:cxnLst/>
              <a:rect r="r" b="b" t="t" l="l"/>
              <a:pathLst>
                <a:path h="2560320" w="3511296">
                  <a:moveTo>
                    <a:pt x="0" y="0"/>
                  </a:moveTo>
                  <a:lnTo>
                    <a:pt x="3511296" y="0"/>
                  </a:lnTo>
                  <a:lnTo>
                    <a:pt x="3511296" y="2560320"/>
                  </a:lnTo>
                  <a:lnTo>
                    <a:pt x="0" y="2560320"/>
                  </a:lnTo>
                  <a:close/>
                </a:path>
              </a:pathLst>
            </a:custGeom>
            <a:blipFill>
              <a:blip r:embed="rId3">
                <a:alphaModFix amt="0"/>
              </a:blip>
              <a:stretch>
                <a:fillRect l="-43554" t="0" r="-43554" b="0"/>
              </a:stretch>
            </a:blipFill>
          </p:spPr>
        </p:sp>
        <p:sp>
          <p:nvSpPr>
            <p:cNvPr name="TextBox 55" id="55"/>
            <p:cNvSpPr txBox="true"/>
            <p:nvPr/>
          </p:nvSpPr>
          <p:spPr>
            <a:xfrm>
              <a:off x="0" y="-28575"/>
              <a:ext cx="3511296" cy="258889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Caption-style social content optimised for visual platforms.</a:t>
              </a:r>
            </a:p>
          </p:txBody>
        </p:sp>
      </p:grpSp>
      <p:grpSp>
        <p:nvGrpSpPr>
          <p:cNvPr name="Group 56" id="56"/>
          <p:cNvGrpSpPr/>
          <p:nvPr/>
        </p:nvGrpSpPr>
        <p:grpSpPr>
          <a:xfrm rot="0">
            <a:off x="14376140" y="2461736"/>
            <a:ext cx="3141536" cy="4814888"/>
            <a:chOff x="0" y="0"/>
            <a:chExt cx="4188714" cy="6419850"/>
          </a:xfrm>
        </p:grpSpPr>
        <p:sp>
          <p:nvSpPr>
            <p:cNvPr name="Freeform 57" id="57"/>
            <p:cNvSpPr/>
            <p:nvPr/>
          </p:nvSpPr>
          <p:spPr>
            <a:xfrm flipH="false" flipV="false" rot="0">
              <a:off x="0" y="0"/>
              <a:ext cx="4188714" cy="6419850"/>
            </a:xfrm>
            <a:custGeom>
              <a:avLst/>
              <a:gdLst/>
              <a:ahLst/>
              <a:cxnLst/>
              <a:rect r="r" b="b" t="t" l="l"/>
              <a:pathLst>
                <a:path h="6419850" w="4188714">
                  <a:moveTo>
                    <a:pt x="0" y="146939"/>
                  </a:moveTo>
                  <a:cubicBezTo>
                    <a:pt x="0" y="65786"/>
                    <a:pt x="65786" y="0"/>
                    <a:pt x="146939" y="0"/>
                  </a:cubicBezTo>
                  <a:lnTo>
                    <a:pt x="4041775" y="0"/>
                  </a:lnTo>
                  <a:cubicBezTo>
                    <a:pt x="4122928" y="0"/>
                    <a:pt x="4188714" y="65786"/>
                    <a:pt x="4188714" y="146939"/>
                  </a:cubicBezTo>
                  <a:lnTo>
                    <a:pt x="4188714" y="6272911"/>
                  </a:lnTo>
                  <a:cubicBezTo>
                    <a:pt x="4188714" y="6354064"/>
                    <a:pt x="4122928" y="6419850"/>
                    <a:pt x="4041775" y="6419850"/>
                  </a:cubicBezTo>
                  <a:lnTo>
                    <a:pt x="146939" y="6419850"/>
                  </a:lnTo>
                  <a:cubicBezTo>
                    <a:pt x="65786" y="6419850"/>
                    <a:pt x="0" y="6354064"/>
                    <a:pt x="0" y="6272911"/>
                  </a:cubicBezTo>
                  <a:close/>
                </a:path>
              </a:pathLst>
            </a:custGeom>
            <a:solidFill>
              <a:srgbClr val="FFFFFF"/>
            </a:solidFill>
            <a:ln w="14288" cap="sq">
              <a:solidFill>
                <a:srgbClr val="E2E8F0"/>
              </a:solidFill>
              <a:prstDash val="solid"/>
              <a:miter/>
            </a:ln>
          </p:spPr>
        </p:sp>
      </p:grpSp>
      <p:grpSp>
        <p:nvGrpSpPr>
          <p:cNvPr name="Group 58" id="58"/>
          <p:cNvGrpSpPr/>
          <p:nvPr/>
        </p:nvGrpSpPr>
        <p:grpSpPr>
          <a:xfrm rot="0">
            <a:off x="15329687" y="2948940"/>
            <a:ext cx="1234440" cy="1234440"/>
            <a:chOff x="0" y="0"/>
            <a:chExt cx="1645920" cy="1645920"/>
          </a:xfrm>
        </p:grpSpPr>
        <p:sp>
          <p:nvSpPr>
            <p:cNvPr name="Freeform 59" id="59"/>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EEF2FB"/>
            </a:solidFill>
          </p:spPr>
        </p:sp>
      </p:grpSp>
      <p:grpSp>
        <p:nvGrpSpPr>
          <p:cNvPr name="Group 60" id="60"/>
          <p:cNvGrpSpPr/>
          <p:nvPr/>
        </p:nvGrpSpPr>
        <p:grpSpPr>
          <a:xfrm rot="0">
            <a:off x="15477820" y="3097073"/>
            <a:ext cx="938174" cy="938174"/>
            <a:chOff x="0" y="0"/>
            <a:chExt cx="1250899" cy="1250899"/>
          </a:xfrm>
        </p:grpSpPr>
        <p:sp>
          <p:nvSpPr>
            <p:cNvPr name="Freeform 61" id="61" descr="/home/claude/pptx/icons/story.png"/>
            <p:cNvSpPr/>
            <p:nvPr/>
          </p:nvSpPr>
          <p:spPr>
            <a:xfrm flipH="false" flipV="false" rot="0">
              <a:off x="0" y="0"/>
              <a:ext cx="1250950" cy="1250950"/>
            </a:xfrm>
            <a:custGeom>
              <a:avLst/>
              <a:gdLst/>
              <a:ahLst/>
              <a:cxnLst/>
              <a:rect r="r" b="b" t="t" l="l"/>
              <a:pathLst>
                <a:path h="1250950" w="1250950">
                  <a:moveTo>
                    <a:pt x="0" y="0"/>
                  </a:moveTo>
                  <a:lnTo>
                    <a:pt x="1250950" y="0"/>
                  </a:lnTo>
                  <a:lnTo>
                    <a:pt x="1250950" y="1250950"/>
                  </a:lnTo>
                  <a:lnTo>
                    <a:pt x="0" y="1250950"/>
                  </a:lnTo>
                  <a:lnTo>
                    <a:pt x="0" y="0"/>
                  </a:lnTo>
                  <a:close/>
                </a:path>
              </a:pathLst>
            </a:custGeom>
            <a:blipFill>
              <a:blip r:embed="rId8"/>
              <a:stretch>
                <a:fillRect l="0" t="0" r="4" b="4"/>
              </a:stretch>
            </a:blipFill>
          </p:spPr>
        </p:sp>
      </p:grpSp>
      <p:grpSp>
        <p:nvGrpSpPr>
          <p:cNvPr name="Group 62" id="62"/>
          <p:cNvGrpSpPr/>
          <p:nvPr/>
        </p:nvGrpSpPr>
        <p:grpSpPr>
          <a:xfrm rot="0">
            <a:off x="14547875" y="4457700"/>
            <a:ext cx="2798064" cy="617220"/>
            <a:chOff x="0" y="0"/>
            <a:chExt cx="3730752" cy="822960"/>
          </a:xfrm>
        </p:grpSpPr>
        <p:sp>
          <p:nvSpPr>
            <p:cNvPr name="Freeform 63" id="63"/>
            <p:cNvSpPr/>
            <p:nvPr/>
          </p:nvSpPr>
          <p:spPr>
            <a:xfrm flipH="false" flipV="false" rot="0">
              <a:off x="0" y="0"/>
              <a:ext cx="3730752" cy="822960"/>
            </a:xfrm>
            <a:custGeom>
              <a:avLst/>
              <a:gdLst/>
              <a:ahLst/>
              <a:cxnLst/>
              <a:rect r="r" b="b" t="t" l="l"/>
              <a:pathLst>
                <a:path h="822960" w="3730752">
                  <a:moveTo>
                    <a:pt x="0" y="0"/>
                  </a:moveTo>
                  <a:lnTo>
                    <a:pt x="3730752" y="0"/>
                  </a:lnTo>
                  <a:lnTo>
                    <a:pt x="3730752" y="822960"/>
                  </a:lnTo>
                  <a:lnTo>
                    <a:pt x="0" y="822960"/>
                  </a:lnTo>
                  <a:close/>
                </a:path>
              </a:pathLst>
            </a:custGeom>
            <a:blipFill>
              <a:blip r:embed="rId3">
                <a:alphaModFix amt="0"/>
              </a:blip>
              <a:stretch>
                <a:fillRect l="0" t="-38332" r="0" b="-38332"/>
              </a:stretch>
            </a:blipFill>
          </p:spPr>
        </p:sp>
        <p:sp>
          <p:nvSpPr>
            <p:cNvPr name="TextBox 64" id="64"/>
            <p:cNvSpPr txBox="true"/>
            <p:nvPr/>
          </p:nvSpPr>
          <p:spPr>
            <a:xfrm>
              <a:off x="0" y="-57150"/>
              <a:ext cx="3730752" cy="880110"/>
            </a:xfrm>
            <a:prstGeom prst="rect">
              <a:avLst/>
            </a:prstGeom>
          </p:spPr>
          <p:txBody>
            <a:bodyPr anchor="ctr" rtlCol="false" tIns="0" lIns="0" bIns="0" rIns="0"/>
            <a:lstStyle/>
            <a:p>
              <a:pPr algn="ctr">
                <a:lnSpc>
                  <a:spcPts val="2700"/>
                </a:lnSpc>
              </a:pPr>
              <a:r>
                <a:rPr lang="en-US" sz="2250" b="true">
                  <a:solidFill>
                    <a:srgbClr val="17213B"/>
                  </a:solidFill>
                  <a:latin typeface="Calibri (MS) Bold"/>
                  <a:ea typeface="Calibri (MS) Bold"/>
                  <a:cs typeface="Calibri (MS) Bold"/>
                  <a:sym typeface="Calibri (MS) Bold"/>
                </a:rPr>
                <a:t>Short Story</a:t>
              </a:r>
            </a:p>
          </p:txBody>
        </p:sp>
      </p:grpSp>
      <p:grpSp>
        <p:nvGrpSpPr>
          <p:cNvPr name="Group 65" id="65"/>
          <p:cNvGrpSpPr/>
          <p:nvPr/>
        </p:nvGrpSpPr>
        <p:grpSpPr>
          <a:xfrm rot="0">
            <a:off x="14630171" y="5143500"/>
            <a:ext cx="2633472" cy="1920240"/>
            <a:chOff x="0" y="0"/>
            <a:chExt cx="3511296" cy="2560320"/>
          </a:xfrm>
        </p:grpSpPr>
        <p:sp>
          <p:nvSpPr>
            <p:cNvPr name="Freeform 66" id="66"/>
            <p:cNvSpPr/>
            <p:nvPr/>
          </p:nvSpPr>
          <p:spPr>
            <a:xfrm flipH="false" flipV="false" rot="0">
              <a:off x="0" y="0"/>
              <a:ext cx="3511296" cy="2560320"/>
            </a:xfrm>
            <a:custGeom>
              <a:avLst/>
              <a:gdLst/>
              <a:ahLst/>
              <a:cxnLst/>
              <a:rect r="r" b="b" t="t" l="l"/>
              <a:pathLst>
                <a:path h="2560320" w="3511296">
                  <a:moveTo>
                    <a:pt x="0" y="0"/>
                  </a:moveTo>
                  <a:lnTo>
                    <a:pt x="3511296" y="0"/>
                  </a:lnTo>
                  <a:lnTo>
                    <a:pt x="3511296" y="2560320"/>
                  </a:lnTo>
                  <a:lnTo>
                    <a:pt x="0" y="2560320"/>
                  </a:lnTo>
                  <a:close/>
                </a:path>
              </a:pathLst>
            </a:custGeom>
            <a:blipFill>
              <a:blip r:embed="rId3">
                <a:alphaModFix amt="0"/>
              </a:blip>
              <a:stretch>
                <a:fillRect l="-43554" t="0" r="-43554" b="0"/>
              </a:stretch>
            </a:blipFill>
          </p:spPr>
        </p:sp>
        <p:sp>
          <p:nvSpPr>
            <p:cNvPr name="TextBox 67" id="67"/>
            <p:cNvSpPr txBox="true"/>
            <p:nvPr/>
          </p:nvSpPr>
          <p:spPr>
            <a:xfrm>
              <a:off x="0" y="-28575"/>
              <a:ext cx="3511296" cy="2588895"/>
            </a:xfrm>
            <a:prstGeom prst="rect">
              <a:avLst/>
            </a:prstGeom>
          </p:spPr>
          <p:txBody>
            <a:bodyPr anchor="ctr" rtlCol="false" tIns="0" lIns="0" bIns="0" rIns="0"/>
            <a:lstStyle/>
            <a:p>
              <a:pPr algn="ctr">
                <a:lnSpc>
                  <a:spcPts val="1980"/>
                </a:lnSpc>
              </a:pPr>
              <a:r>
                <a:rPr lang="en-US" sz="1650">
                  <a:solidFill>
                    <a:srgbClr val="64748B"/>
                  </a:solidFill>
                  <a:latin typeface="Calibri (MS)"/>
                  <a:ea typeface="Calibri (MS)"/>
                  <a:cs typeface="Calibri (MS)"/>
                  <a:sym typeface="Calibri (MS)"/>
                </a:rPr>
                <a:t>Creative narrative content with its own writer and evaluation logic.</a:t>
              </a:r>
            </a:p>
          </p:txBody>
        </p:sp>
      </p:grpSp>
      <p:grpSp>
        <p:nvGrpSpPr>
          <p:cNvPr name="Group 68" id="68"/>
          <p:cNvGrpSpPr/>
          <p:nvPr/>
        </p:nvGrpSpPr>
        <p:grpSpPr>
          <a:xfrm rot="0">
            <a:off x="960120" y="7612380"/>
            <a:ext cx="16322040" cy="548640"/>
            <a:chOff x="0" y="0"/>
            <a:chExt cx="21762720" cy="731520"/>
          </a:xfrm>
        </p:grpSpPr>
        <p:sp>
          <p:nvSpPr>
            <p:cNvPr name="Freeform 69" id="69"/>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70" id="70"/>
            <p:cNvSpPr txBox="true"/>
            <p:nvPr/>
          </p:nvSpPr>
          <p:spPr>
            <a:xfrm>
              <a:off x="0" y="-47625"/>
              <a:ext cx="21762720" cy="779145"/>
            </a:xfrm>
            <a:prstGeom prst="rect">
              <a:avLst/>
            </a:prstGeom>
          </p:spPr>
          <p:txBody>
            <a:bodyPr anchor="ctr" rtlCol="false" tIns="0" lIns="0" bIns="0" rIns="0"/>
            <a:lstStyle/>
            <a:p>
              <a:pPr algn="ctr">
                <a:lnSpc>
                  <a:spcPts val="2340"/>
                </a:lnSpc>
              </a:pPr>
              <a:r>
                <a:rPr lang="en-US" sz="1950" i="true">
                  <a:solidFill>
                    <a:srgbClr val="64748B"/>
                  </a:solidFill>
                  <a:latin typeface="Calibri (MS) Italics"/>
                  <a:ea typeface="Calibri (MS) Italics"/>
                  <a:cs typeface="Calibri (MS) Italics"/>
                  <a:sym typeface="Calibri (MS) Italics"/>
                </a:rPr>
                <a:t>Each content type has its own dedicated prompt and writer agent — not one generic template.</a:t>
              </a:r>
            </a:p>
          </p:txBody>
        </p:sp>
      </p:grpSp>
      <p:grpSp>
        <p:nvGrpSpPr>
          <p:cNvPr name="Group 71" id="71"/>
          <p:cNvGrpSpPr/>
          <p:nvPr/>
        </p:nvGrpSpPr>
        <p:grpSpPr>
          <a:xfrm rot="0">
            <a:off x="685800" y="9793224"/>
            <a:ext cx="10972800" cy="411480"/>
            <a:chOff x="0" y="0"/>
            <a:chExt cx="14630400" cy="548640"/>
          </a:xfrm>
        </p:grpSpPr>
        <p:sp>
          <p:nvSpPr>
            <p:cNvPr name="Freeform 72" id="7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73" id="7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74" id="74"/>
          <p:cNvGrpSpPr/>
          <p:nvPr/>
        </p:nvGrpSpPr>
        <p:grpSpPr>
          <a:xfrm rot="0">
            <a:off x="17282160" y="9793224"/>
            <a:ext cx="548640" cy="411480"/>
            <a:chOff x="0" y="0"/>
            <a:chExt cx="731520" cy="548640"/>
          </a:xfrm>
        </p:grpSpPr>
        <p:sp>
          <p:nvSpPr>
            <p:cNvPr name="Freeform 75" id="75"/>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76" id="76"/>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9</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6 · IMPLEMENTATION</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Backend API Design</a:t>
              </a:r>
            </a:p>
          </p:txBody>
        </p:sp>
      </p:grpSp>
      <p:graphicFrame>
        <p:nvGraphicFramePr>
          <p:cNvPr name="Table 8" id="8"/>
          <p:cNvGraphicFramePr>
            <a:graphicFrameLocks noGrp="true"/>
          </p:cNvGraphicFramePr>
          <p:nvPr/>
        </p:nvGraphicFramePr>
        <p:xfrm>
          <a:off x="960120" y="2057400"/>
          <a:ext cx="9982200" cy="5334000"/>
        </p:xfrm>
        <a:graphic>
          <a:graphicData uri="http://schemas.openxmlformats.org/drawingml/2006/table">
            <a:tbl>
              <a:tblPr/>
              <a:tblGrid>
                <a:gridCol w="1519644"/>
                <a:gridCol w="3960114"/>
                <a:gridCol w="4502441"/>
              </a:tblGrid>
              <a:tr h="76200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Method</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16213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Endpoint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16213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Purpose</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16213E"/>
                    </a:solidFill>
                  </a:tcPr>
                </a:tc>
              </a:tr>
              <a:tr h="762000">
                <a:tc>
                  <a:txBody>
                    <a:bodyPr anchor="t" rtlCol="false"/>
                    <a:lstStyle/>
                    <a:p>
                      <a:pPr algn="l">
                        <a:lnSpc>
                          <a:spcPts val="2070"/>
                        </a:lnSpc>
                        <a:defRPr/>
                      </a:pPr>
                      <a:r>
                        <a:rPr lang="en-US" sz="1725" b="true">
                          <a:solidFill>
                            <a:srgbClr val="16213E"/>
                          </a:solidFill>
                          <a:latin typeface="Calibri (MS) Bold"/>
                          <a:ea typeface="Calibri (MS) Bold"/>
                          <a:cs typeface="Calibri (MS) Bold"/>
                          <a:sym typeface="Calibri (MS) Bold"/>
                        </a:rPr>
                        <a:t>GET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EEF2FB"/>
                    </a:solidFill>
                  </a:tcPr>
                </a:tc>
                <a:tc>
                  <a:txBody>
                    <a:bodyPr anchor="t" rtlCol="false"/>
                    <a:lstStyle/>
                    <a:p>
                      <a:pPr algn="l">
                        <a:lnSpc>
                          <a:spcPts val="2160"/>
                        </a:lnSpc>
                        <a:defRPr/>
                      </a:pPr>
                      <a:r>
                        <a:rPr lang="en-US" sz="1800">
                          <a:solidFill>
                            <a:srgbClr val="000000"/>
                          </a:solidFill>
                          <a:latin typeface="Consolas"/>
                          <a:ea typeface="Consolas"/>
                          <a:cs typeface="Consolas"/>
                          <a:sym typeface="Consolas"/>
                        </a:rPr>
                        <a: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l">
                        <a:lnSpc>
                          <a:spcPts val="2070"/>
                        </a:lnSpc>
                        <a:defRPr/>
                      </a:pPr>
                      <a:r>
                        <a:rPr lang="en-US" sz="1725">
                          <a:solidFill>
                            <a:srgbClr val="000000"/>
                          </a:solidFill>
                          <a:latin typeface="Calibri (MS)"/>
                          <a:ea typeface="Calibri (MS)"/>
                          <a:cs typeface="Calibri (MS)"/>
                          <a:sym typeface="Calibri (MS)"/>
                        </a:rPr>
                        <a:t>Root info: name, version, status</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r>
              <a:tr h="762000">
                <a:tc>
                  <a:txBody>
                    <a:bodyPr anchor="t" rtlCol="false"/>
                    <a:lstStyle/>
                    <a:p>
                      <a:pPr algn="l">
                        <a:lnSpc>
                          <a:spcPts val="2070"/>
                        </a:lnSpc>
                        <a:defRPr/>
                      </a:pPr>
                      <a:r>
                        <a:rPr lang="en-US" sz="1725" b="true">
                          <a:solidFill>
                            <a:srgbClr val="16213E"/>
                          </a:solidFill>
                          <a:latin typeface="Calibri (MS) Bold"/>
                          <a:ea typeface="Calibri (MS) Bold"/>
                          <a:cs typeface="Calibri (MS) Bold"/>
                          <a:sym typeface="Calibri (MS) Bold"/>
                        </a:rPr>
                        <a:t>GET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EEF2FB"/>
                    </a:solidFill>
                  </a:tcPr>
                </a:tc>
                <a:tc>
                  <a:txBody>
                    <a:bodyPr anchor="t" rtlCol="false"/>
                    <a:lstStyle/>
                    <a:p>
                      <a:pPr algn="l">
                        <a:lnSpc>
                          <a:spcPts val="2160"/>
                        </a:lnSpc>
                        <a:defRPr/>
                      </a:pPr>
                      <a:r>
                        <a:rPr lang="en-US" sz="1800">
                          <a:solidFill>
                            <a:srgbClr val="000000"/>
                          </a:solidFill>
                          <a:latin typeface="Consolas"/>
                          <a:ea typeface="Consolas"/>
                          <a:cs typeface="Consolas"/>
                          <a:sym typeface="Consolas"/>
                        </a:rPr>
                        <a:t>/health</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l">
                        <a:lnSpc>
                          <a:spcPts val="2070"/>
                        </a:lnSpc>
                        <a:defRPr/>
                      </a:pPr>
                      <a:r>
                        <a:rPr lang="en-US" sz="1725">
                          <a:solidFill>
                            <a:srgbClr val="000000"/>
                          </a:solidFill>
                          <a:latin typeface="Calibri (MS)"/>
                          <a:ea typeface="Calibri (MS)"/>
                          <a:cs typeface="Calibri (MS)"/>
                          <a:sym typeface="Calibri (MS)"/>
                        </a:rPr>
                        <a:t>Health check with readiness status</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r>
              <a:tr h="76200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POST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2DD4BF"/>
                    </a:solidFill>
                  </a:tcPr>
                </a:tc>
                <a:tc>
                  <a:txBody>
                    <a:bodyPr anchor="t" rtlCol="false"/>
                    <a:lstStyle/>
                    <a:p>
                      <a:pPr algn="l">
                        <a:lnSpc>
                          <a:spcPts val="2160"/>
                        </a:lnSpc>
                        <a:defRPr/>
                      </a:pPr>
                      <a:r>
                        <a:rPr lang="en-US" sz="1800">
                          <a:solidFill>
                            <a:srgbClr val="000000"/>
                          </a:solidFill>
                          <a:latin typeface="Consolas"/>
                          <a:ea typeface="Consolas"/>
                          <a:cs typeface="Consolas"/>
                          <a:sym typeface="Consolas"/>
                        </a:rPr>
                        <a:t>/api/v1/generate</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l">
                        <a:lnSpc>
                          <a:spcPts val="2070"/>
                        </a:lnSpc>
                        <a:defRPr/>
                      </a:pPr>
                      <a:r>
                        <a:rPr lang="en-US" sz="1725">
                          <a:solidFill>
                            <a:srgbClr val="000000"/>
                          </a:solidFill>
                          <a:latin typeface="Calibri (MS)"/>
                          <a:ea typeface="Calibri (MS)"/>
                          <a:cs typeface="Calibri (MS)"/>
                          <a:sym typeface="Calibri (MS)"/>
                        </a:rPr>
                        <a:t>Queue a new generation job -&gt; returns job_id</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r>
              <a:tr h="762000">
                <a:tc>
                  <a:txBody>
                    <a:bodyPr anchor="t" rtlCol="false"/>
                    <a:lstStyle/>
                    <a:p>
                      <a:pPr algn="l">
                        <a:lnSpc>
                          <a:spcPts val="2070"/>
                        </a:lnSpc>
                        <a:defRPr/>
                      </a:pPr>
                      <a:r>
                        <a:rPr lang="en-US" sz="1725" b="true">
                          <a:solidFill>
                            <a:srgbClr val="16213E"/>
                          </a:solidFill>
                          <a:latin typeface="Calibri (MS) Bold"/>
                          <a:ea typeface="Calibri (MS) Bold"/>
                          <a:cs typeface="Calibri (MS) Bold"/>
                          <a:sym typeface="Calibri (MS) Bold"/>
                        </a:rPr>
                        <a:t>GET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EEF2FB"/>
                    </a:solidFill>
                  </a:tcPr>
                </a:tc>
                <a:tc>
                  <a:txBody>
                    <a:bodyPr anchor="t" rtlCol="false"/>
                    <a:lstStyle/>
                    <a:p>
                      <a:pPr algn="l">
                        <a:lnSpc>
                          <a:spcPts val="2160"/>
                        </a:lnSpc>
                        <a:defRPr/>
                      </a:pPr>
                      <a:r>
                        <a:rPr lang="en-US" sz="1800">
                          <a:solidFill>
                            <a:srgbClr val="000000"/>
                          </a:solidFill>
                          <a:latin typeface="Consolas"/>
                          <a:ea typeface="Consolas"/>
                          <a:cs typeface="Consolas"/>
                          <a:sym typeface="Consolas"/>
                        </a:rPr>
                        <a:t>/api/v1/jobs/{job_id}</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l">
                        <a:lnSpc>
                          <a:spcPts val="2070"/>
                        </a:lnSpc>
                        <a:defRPr/>
                      </a:pPr>
                      <a:r>
                        <a:rPr lang="en-US" sz="1725">
                          <a:solidFill>
                            <a:srgbClr val="000000"/>
                          </a:solidFill>
                          <a:latin typeface="Calibri (MS)"/>
                          <a:ea typeface="Calibri (MS)"/>
                          <a:cs typeface="Calibri (MS)"/>
                          <a:sym typeface="Calibri (MS)"/>
                        </a:rPr>
                        <a:t>Poll job status and progress</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r>
              <a:tr h="762000">
                <a:tc>
                  <a:txBody>
                    <a:bodyPr anchor="t" rtlCol="false"/>
                    <a:lstStyle/>
                    <a:p>
                      <a:pPr algn="l">
                        <a:lnSpc>
                          <a:spcPts val="2070"/>
                        </a:lnSpc>
                        <a:defRPr/>
                      </a:pPr>
                      <a:r>
                        <a:rPr lang="en-US" sz="1725" b="true">
                          <a:solidFill>
                            <a:srgbClr val="16213E"/>
                          </a:solidFill>
                          <a:latin typeface="Calibri (MS) Bold"/>
                          <a:ea typeface="Calibri (MS) Bold"/>
                          <a:cs typeface="Calibri (MS) Bold"/>
                          <a:sym typeface="Calibri (MS) Bold"/>
                        </a:rPr>
                        <a:t>GET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EEF2FB"/>
                    </a:solidFill>
                  </a:tcPr>
                </a:tc>
                <a:tc>
                  <a:txBody>
                    <a:bodyPr anchor="t" rtlCol="false"/>
                    <a:lstStyle/>
                    <a:p>
                      <a:pPr algn="l">
                        <a:lnSpc>
                          <a:spcPts val="2160"/>
                        </a:lnSpc>
                        <a:defRPr/>
                      </a:pPr>
                      <a:r>
                        <a:rPr lang="en-US" sz="1800">
                          <a:solidFill>
                            <a:srgbClr val="000000"/>
                          </a:solidFill>
                          <a:latin typeface="Consolas"/>
                          <a:ea typeface="Consolas"/>
                          <a:cs typeface="Consolas"/>
                          <a:sym typeface="Consolas"/>
                        </a:rPr>
                        <a:t>/api/v1/jobs/{job_id}/result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l">
                        <a:lnSpc>
                          <a:spcPts val="2070"/>
                        </a:lnSpc>
                        <a:defRPr/>
                      </a:pPr>
                      <a:r>
                        <a:rPr lang="en-US" sz="1725">
                          <a:solidFill>
                            <a:srgbClr val="000000"/>
                          </a:solidFill>
                          <a:latin typeface="Calibri (MS)"/>
                          <a:ea typeface="Calibri (MS)"/>
                          <a:cs typeface="Calibri (MS)"/>
                          <a:sym typeface="Calibri (MS)"/>
                        </a:rPr>
                        <a:t>Retrieve the final generated content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r>
              <a:tr h="762000">
                <a:tc>
                  <a:txBody>
                    <a:bodyPr anchor="t" rtlCol="false"/>
                    <a:lstStyle/>
                    <a:p>
                      <a:pPr algn="l">
                        <a:lnSpc>
                          <a:spcPts val="2070"/>
                        </a:lnSpc>
                        <a:defRPr/>
                      </a:pPr>
                      <a:r>
                        <a:rPr lang="en-US" sz="1725" b="true">
                          <a:solidFill>
                            <a:srgbClr val="16213E"/>
                          </a:solidFill>
                          <a:latin typeface="Calibri (MS) Bold"/>
                          <a:ea typeface="Calibri (MS) Bold"/>
                          <a:cs typeface="Calibri (MS) Bold"/>
                          <a:sym typeface="Calibri (MS) Bold"/>
                        </a:rPr>
                        <a:t>GET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EEF2FB"/>
                    </a:solidFill>
                  </a:tcPr>
                </a:tc>
                <a:tc>
                  <a:txBody>
                    <a:bodyPr anchor="t" rtlCol="false"/>
                    <a:lstStyle/>
                    <a:p>
                      <a:pPr algn="l">
                        <a:lnSpc>
                          <a:spcPts val="2160"/>
                        </a:lnSpc>
                        <a:defRPr/>
                      </a:pPr>
                      <a:r>
                        <a:rPr lang="en-US" sz="1800">
                          <a:solidFill>
                            <a:srgbClr val="000000"/>
                          </a:solidFill>
                          <a:latin typeface="Consolas"/>
                          <a:ea typeface="Consolas"/>
                          <a:cs typeface="Consolas"/>
                          <a:sym typeface="Consolas"/>
                        </a:rPr>
                        <a:t>/api/v1/jobs/{job_id}/debug</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l">
                        <a:lnSpc>
                          <a:spcPts val="2070"/>
                        </a:lnSpc>
                        <a:defRPr/>
                      </a:pPr>
                      <a:r>
                        <a:rPr lang="en-US" sz="1725">
                          <a:solidFill>
                            <a:srgbClr val="000000"/>
                          </a:solidFill>
                          <a:latin typeface="Calibri (MS)"/>
                          <a:ea typeface="Calibri (MS)"/>
                          <a:cs typeface="Calibri (MS)"/>
                          <a:sym typeface="Calibri (MS)"/>
                        </a:rPr>
                        <a:t>Retrieve full agent debug payload</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r>
            </a:tbl>
          </a:graphicData>
        </a:graphic>
      </p:graphicFrame>
      <p:grpSp>
        <p:nvGrpSpPr>
          <p:cNvPr name="Group 9" id="9"/>
          <p:cNvGrpSpPr/>
          <p:nvPr/>
        </p:nvGrpSpPr>
        <p:grpSpPr>
          <a:xfrm rot="0">
            <a:off x="11452860" y="2057400"/>
            <a:ext cx="5897880" cy="6720840"/>
            <a:chOff x="0" y="0"/>
            <a:chExt cx="7863840" cy="8961120"/>
          </a:xfrm>
        </p:grpSpPr>
        <p:sp>
          <p:nvSpPr>
            <p:cNvPr name="Freeform 10" id="10"/>
            <p:cNvSpPr/>
            <p:nvPr/>
          </p:nvSpPr>
          <p:spPr>
            <a:xfrm flipH="false" flipV="false" rot="0">
              <a:off x="0" y="0"/>
              <a:ext cx="7863840" cy="8961120"/>
            </a:xfrm>
            <a:custGeom>
              <a:avLst/>
              <a:gdLst/>
              <a:ahLst/>
              <a:cxnLst/>
              <a:rect r="r" b="b" t="t" l="l"/>
              <a:pathLst>
                <a:path h="8961120" w="7863840">
                  <a:moveTo>
                    <a:pt x="0" y="146304"/>
                  </a:moveTo>
                  <a:cubicBezTo>
                    <a:pt x="0" y="65532"/>
                    <a:pt x="65532" y="0"/>
                    <a:pt x="146304" y="0"/>
                  </a:cubicBezTo>
                  <a:lnTo>
                    <a:pt x="7717536" y="0"/>
                  </a:lnTo>
                  <a:cubicBezTo>
                    <a:pt x="7798308" y="0"/>
                    <a:pt x="7863840" y="65532"/>
                    <a:pt x="7863840" y="146304"/>
                  </a:cubicBezTo>
                  <a:lnTo>
                    <a:pt x="7863840" y="8814816"/>
                  </a:lnTo>
                  <a:cubicBezTo>
                    <a:pt x="7863840" y="8895588"/>
                    <a:pt x="7798308" y="8961120"/>
                    <a:pt x="7717536" y="8961120"/>
                  </a:cubicBezTo>
                  <a:lnTo>
                    <a:pt x="146304" y="8961120"/>
                  </a:lnTo>
                  <a:cubicBezTo>
                    <a:pt x="65532" y="8961120"/>
                    <a:pt x="0" y="8895588"/>
                    <a:pt x="0" y="8814816"/>
                  </a:cubicBezTo>
                  <a:close/>
                </a:path>
              </a:pathLst>
            </a:custGeom>
            <a:solidFill>
              <a:srgbClr val="1C2A4A"/>
            </a:solidFill>
          </p:spPr>
        </p:sp>
      </p:grpSp>
      <p:grpSp>
        <p:nvGrpSpPr>
          <p:cNvPr name="Group 11" id="11"/>
          <p:cNvGrpSpPr/>
          <p:nvPr/>
        </p:nvGrpSpPr>
        <p:grpSpPr>
          <a:xfrm rot="0">
            <a:off x="11864340" y="2400300"/>
            <a:ext cx="5074920" cy="548640"/>
            <a:chOff x="0" y="0"/>
            <a:chExt cx="6766560" cy="731520"/>
          </a:xfrm>
        </p:grpSpPr>
        <p:sp>
          <p:nvSpPr>
            <p:cNvPr name="Freeform 12" id="12"/>
            <p:cNvSpPr/>
            <p:nvPr/>
          </p:nvSpPr>
          <p:spPr>
            <a:xfrm flipH="false" flipV="false" rot="0">
              <a:off x="0" y="0"/>
              <a:ext cx="6766560" cy="731520"/>
            </a:xfrm>
            <a:custGeom>
              <a:avLst/>
              <a:gdLst/>
              <a:ahLst/>
              <a:cxnLst/>
              <a:rect r="r" b="b" t="t" l="l"/>
              <a:pathLst>
                <a:path h="731520" w="6766560">
                  <a:moveTo>
                    <a:pt x="0" y="0"/>
                  </a:moveTo>
                  <a:lnTo>
                    <a:pt x="6766560" y="0"/>
                  </a:lnTo>
                  <a:lnTo>
                    <a:pt x="6766560" y="731520"/>
                  </a:lnTo>
                  <a:lnTo>
                    <a:pt x="0" y="731520"/>
                  </a:lnTo>
                  <a:close/>
                </a:path>
              </a:pathLst>
            </a:custGeom>
            <a:blipFill>
              <a:blip r:embed="rId3">
                <a:alphaModFix amt="0"/>
              </a:blip>
              <a:stretch>
                <a:fillRect l="0" t="-130236" r="0" b="-130236"/>
              </a:stretch>
            </a:blipFill>
          </p:spPr>
        </p:sp>
        <p:sp>
          <p:nvSpPr>
            <p:cNvPr name="TextBox 13" id="13"/>
            <p:cNvSpPr txBox="true"/>
            <p:nvPr/>
          </p:nvSpPr>
          <p:spPr>
            <a:xfrm>
              <a:off x="0" y="-57150"/>
              <a:ext cx="6766560" cy="788670"/>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Async, Job-Based Pattern</a:t>
              </a:r>
            </a:p>
          </p:txBody>
        </p:sp>
      </p:grpSp>
      <p:grpSp>
        <p:nvGrpSpPr>
          <p:cNvPr name="Group 14" id="14"/>
          <p:cNvGrpSpPr/>
          <p:nvPr/>
        </p:nvGrpSpPr>
        <p:grpSpPr>
          <a:xfrm rot="0">
            <a:off x="11864340" y="3154680"/>
            <a:ext cx="5074920" cy="2743200"/>
            <a:chOff x="0" y="0"/>
            <a:chExt cx="6766560" cy="3657600"/>
          </a:xfrm>
        </p:grpSpPr>
        <p:sp>
          <p:nvSpPr>
            <p:cNvPr name="Freeform 15" id="15"/>
            <p:cNvSpPr/>
            <p:nvPr/>
          </p:nvSpPr>
          <p:spPr>
            <a:xfrm flipH="false" flipV="false" rot="0">
              <a:off x="0" y="0"/>
              <a:ext cx="6766560" cy="3657600"/>
            </a:xfrm>
            <a:custGeom>
              <a:avLst/>
              <a:gdLst/>
              <a:ahLst/>
              <a:cxnLst/>
              <a:rect r="r" b="b" t="t" l="l"/>
              <a:pathLst>
                <a:path h="3657600" w="6766560">
                  <a:moveTo>
                    <a:pt x="0" y="0"/>
                  </a:moveTo>
                  <a:lnTo>
                    <a:pt x="6766560" y="0"/>
                  </a:lnTo>
                  <a:lnTo>
                    <a:pt x="6766560" y="3657600"/>
                  </a:lnTo>
                  <a:lnTo>
                    <a:pt x="0" y="3657600"/>
                  </a:lnTo>
                  <a:close/>
                </a:path>
              </a:pathLst>
            </a:custGeom>
            <a:blipFill>
              <a:blip r:embed="rId3">
                <a:alphaModFix amt="0"/>
              </a:blip>
              <a:stretch>
                <a:fillRect l="-19353" t="0" r="-19353" b="0"/>
              </a:stretch>
            </a:blipFill>
          </p:spPr>
        </p:sp>
        <p:sp>
          <p:nvSpPr>
            <p:cNvPr name="TextBox 16" id="16"/>
            <p:cNvSpPr txBox="true"/>
            <p:nvPr/>
          </p:nvSpPr>
          <p:spPr>
            <a:xfrm>
              <a:off x="0" y="-38100"/>
              <a:ext cx="6766560" cy="3695700"/>
            </a:xfrm>
            <a:prstGeom prst="rect">
              <a:avLst/>
            </a:prstGeom>
          </p:spPr>
          <p:txBody>
            <a:bodyPr anchor="ctr" rtlCol="false" tIns="0" lIns="0" bIns="0" rIns="0"/>
            <a:lstStyle/>
            <a:p>
              <a:pPr algn="l">
                <a:lnSpc>
                  <a:spcPts val="2250"/>
                </a:lnSpc>
              </a:pPr>
              <a:r>
                <a:rPr lang="en-US" sz="1875">
                  <a:solidFill>
                    <a:srgbClr val="D7DEF0"/>
                  </a:solidFill>
                  <a:latin typeface="Calibri (MS)"/>
                  <a:ea typeface="Calibri (MS)"/>
                  <a:cs typeface="Calibri (MS)"/>
                  <a:sym typeface="Calibri (MS)"/>
                </a:rPr>
                <a:t>The client receives a job_id immediately after submitting a request. The actual generation runs in the background, so the caller polls the status endpoint and then retrieves the result once it's ready, instead of holding a long HTTP connection open.</a:t>
              </a:r>
            </a:p>
          </p:txBody>
        </p:sp>
      </p:grpSp>
      <p:grpSp>
        <p:nvGrpSpPr>
          <p:cNvPr name="Group 17" id="17"/>
          <p:cNvGrpSpPr/>
          <p:nvPr/>
        </p:nvGrpSpPr>
        <p:grpSpPr>
          <a:xfrm rot="0">
            <a:off x="11864340" y="6035040"/>
            <a:ext cx="5074920" cy="548640"/>
            <a:chOff x="0" y="0"/>
            <a:chExt cx="6766560" cy="731520"/>
          </a:xfrm>
        </p:grpSpPr>
        <p:sp>
          <p:nvSpPr>
            <p:cNvPr name="Freeform 18" id="18"/>
            <p:cNvSpPr/>
            <p:nvPr/>
          </p:nvSpPr>
          <p:spPr>
            <a:xfrm flipH="false" flipV="false" rot="0">
              <a:off x="0" y="0"/>
              <a:ext cx="6766560" cy="731520"/>
            </a:xfrm>
            <a:custGeom>
              <a:avLst/>
              <a:gdLst/>
              <a:ahLst/>
              <a:cxnLst/>
              <a:rect r="r" b="b" t="t" l="l"/>
              <a:pathLst>
                <a:path h="731520" w="6766560">
                  <a:moveTo>
                    <a:pt x="0" y="0"/>
                  </a:moveTo>
                  <a:lnTo>
                    <a:pt x="6766560" y="0"/>
                  </a:lnTo>
                  <a:lnTo>
                    <a:pt x="6766560" y="731520"/>
                  </a:lnTo>
                  <a:lnTo>
                    <a:pt x="0" y="731520"/>
                  </a:lnTo>
                  <a:close/>
                </a:path>
              </a:pathLst>
            </a:custGeom>
            <a:blipFill>
              <a:blip r:embed="rId3">
                <a:alphaModFix amt="0"/>
              </a:blip>
              <a:stretch>
                <a:fillRect l="0" t="-130236" r="0" b="-130236"/>
              </a:stretch>
            </a:blipFill>
          </p:spPr>
        </p:sp>
        <p:sp>
          <p:nvSpPr>
            <p:cNvPr name="TextBox 19" id="19"/>
            <p:cNvSpPr txBox="true"/>
            <p:nvPr/>
          </p:nvSpPr>
          <p:spPr>
            <a:xfrm>
              <a:off x="0" y="-38100"/>
              <a:ext cx="6766560" cy="769620"/>
            </a:xfrm>
            <a:prstGeom prst="rect">
              <a:avLst/>
            </a:prstGeom>
          </p:spPr>
          <p:txBody>
            <a:bodyPr anchor="ctr" rtlCol="false" tIns="0" lIns="0" bIns="0" rIns="0"/>
            <a:lstStyle/>
            <a:p>
              <a:pPr algn="l">
                <a:lnSpc>
                  <a:spcPts val="2250"/>
                </a:lnSpc>
              </a:pPr>
              <a:r>
                <a:rPr lang="en-US" sz="1875" b="true">
                  <a:solidFill>
                    <a:srgbClr val="2DD4BF"/>
                  </a:solidFill>
                  <a:latin typeface="Calibri (MS) Bold"/>
                  <a:ea typeface="Calibri (MS) Bold"/>
                  <a:cs typeface="Calibri (MS) Bold"/>
                  <a:sym typeface="Calibri (MS) Bold"/>
                </a:rPr>
                <a:t>1.  Submit -&gt; 202 Accepted + job_id</a:t>
              </a:r>
            </a:p>
          </p:txBody>
        </p:sp>
      </p:grpSp>
      <p:grpSp>
        <p:nvGrpSpPr>
          <p:cNvPr name="Group 20" id="20"/>
          <p:cNvGrpSpPr/>
          <p:nvPr/>
        </p:nvGrpSpPr>
        <p:grpSpPr>
          <a:xfrm rot="0">
            <a:off x="11864340" y="6720840"/>
            <a:ext cx="5074920" cy="548640"/>
            <a:chOff x="0" y="0"/>
            <a:chExt cx="6766560" cy="731520"/>
          </a:xfrm>
        </p:grpSpPr>
        <p:sp>
          <p:nvSpPr>
            <p:cNvPr name="Freeform 21" id="21"/>
            <p:cNvSpPr/>
            <p:nvPr/>
          </p:nvSpPr>
          <p:spPr>
            <a:xfrm flipH="false" flipV="false" rot="0">
              <a:off x="0" y="0"/>
              <a:ext cx="6766560" cy="731520"/>
            </a:xfrm>
            <a:custGeom>
              <a:avLst/>
              <a:gdLst/>
              <a:ahLst/>
              <a:cxnLst/>
              <a:rect r="r" b="b" t="t" l="l"/>
              <a:pathLst>
                <a:path h="731520" w="6766560">
                  <a:moveTo>
                    <a:pt x="0" y="0"/>
                  </a:moveTo>
                  <a:lnTo>
                    <a:pt x="6766560" y="0"/>
                  </a:lnTo>
                  <a:lnTo>
                    <a:pt x="6766560" y="731520"/>
                  </a:lnTo>
                  <a:lnTo>
                    <a:pt x="0" y="731520"/>
                  </a:lnTo>
                  <a:close/>
                </a:path>
              </a:pathLst>
            </a:custGeom>
            <a:blipFill>
              <a:blip r:embed="rId3">
                <a:alphaModFix amt="0"/>
              </a:blip>
              <a:stretch>
                <a:fillRect l="0" t="-130236" r="0" b="-130236"/>
              </a:stretch>
            </a:blipFill>
          </p:spPr>
        </p:sp>
        <p:sp>
          <p:nvSpPr>
            <p:cNvPr name="TextBox 22" id="22"/>
            <p:cNvSpPr txBox="true"/>
            <p:nvPr/>
          </p:nvSpPr>
          <p:spPr>
            <a:xfrm>
              <a:off x="0" y="-38100"/>
              <a:ext cx="6766560" cy="769620"/>
            </a:xfrm>
            <a:prstGeom prst="rect">
              <a:avLst/>
            </a:prstGeom>
          </p:spPr>
          <p:txBody>
            <a:bodyPr anchor="ctr" rtlCol="false" tIns="0" lIns="0" bIns="0" rIns="0"/>
            <a:lstStyle/>
            <a:p>
              <a:pPr algn="l">
                <a:lnSpc>
                  <a:spcPts val="2250"/>
                </a:lnSpc>
              </a:pPr>
              <a:r>
                <a:rPr lang="en-US" sz="1875" b="true">
                  <a:solidFill>
                    <a:srgbClr val="2DD4BF"/>
                  </a:solidFill>
                  <a:latin typeface="Calibri (MS) Bold"/>
                  <a:ea typeface="Calibri (MS) Bold"/>
                  <a:cs typeface="Calibri (MS) Bold"/>
                  <a:sym typeface="Calibri (MS) Bold"/>
                </a:rPr>
                <a:t>2.  Poll -&gt; status / progress</a:t>
              </a:r>
            </a:p>
          </p:txBody>
        </p:sp>
      </p:grpSp>
      <p:grpSp>
        <p:nvGrpSpPr>
          <p:cNvPr name="Group 23" id="23"/>
          <p:cNvGrpSpPr/>
          <p:nvPr/>
        </p:nvGrpSpPr>
        <p:grpSpPr>
          <a:xfrm rot="0">
            <a:off x="11864340" y="7406640"/>
            <a:ext cx="5074920" cy="548640"/>
            <a:chOff x="0" y="0"/>
            <a:chExt cx="6766560" cy="731520"/>
          </a:xfrm>
        </p:grpSpPr>
        <p:sp>
          <p:nvSpPr>
            <p:cNvPr name="Freeform 24" id="24"/>
            <p:cNvSpPr/>
            <p:nvPr/>
          </p:nvSpPr>
          <p:spPr>
            <a:xfrm flipH="false" flipV="false" rot="0">
              <a:off x="0" y="0"/>
              <a:ext cx="6766560" cy="731520"/>
            </a:xfrm>
            <a:custGeom>
              <a:avLst/>
              <a:gdLst/>
              <a:ahLst/>
              <a:cxnLst/>
              <a:rect r="r" b="b" t="t" l="l"/>
              <a:pathLst>
                <a:path h="731520" w="6766560">
                  <a:moveTo>
                    <a:pt x="0" y="0"/>
                  </a:moveTo>
                  <a:lnTo>
                    <a:pt x="6766560" y="0"/>
                  </a:lnTo>
                  <a:lnTo>
                    <a:pt x="6766560" y="731520"/>
                  </a:lnTo>
                  <a:lnTo>
                    <a:pt x="0" y="731520"/>
                  </a:lnTo>
                  <a:close/>
                </a:path>
              </a:pathLst>
            </a:custGeom>
            <a:blipFill>
              <a:blip r:embed="rId3">
                <a:alphaModFix amt="0"/>
              </a:blip>
              <a:stretch>
                <a:fillRect l="0" t="-130236" r="0" b="-130236"/>
              </a:stretch>
            </a:blipFill>
          </p:spPr>
        </p:sp>
        <p:sp>
          <p:nvSpPr>
            <p:cNvPr name="TextBox 25" id="25"/>
            <p:cNvSpPr txBox="true"/>
            <p:nvPr/>
          </p:nvSpPr>
          <p:spPr>
            <a:xfrm>
              <a:off x="0" y="-38100"/>
              <a:ext cx="6766560" cy="769620"/>
            </a:xfrm>
            <a:prstGeom prst="rect">
              <a:avLst/>
            </a:prstGeom>
          </p:spPr>
          <p:txBody>
            <a:bodyPr anchor="ctr" rtlCol="false" tIns="0" lIns="0" bIns="0" rIns="0"/>
            <a:lstStyle/>
            <a:p>
              <a:pPr algn="l">
                <a:lnSpc>
                  <a:spcPts val="2250"/>
                </a:lnSpc>
              </a:pPr>
              <a:r>
                <a:rPr lang="en-US" sz="1875" b="true">
                  <a:solidFill>
                    <a:srgbClr val="2DD4BF"/>
                  </a:solidFill>
                  <a:latin typeface="Calibri (MS) Bold"/>
                  <a:ea typeface="Calibri (MS) Bold"/>
                  <a:cs typeface="Calibri (MS) Bold"/>
                  <a:sym typeface="Calibri (MS) Bold"/>
                </a:rPr>
                <a:t>3.  Retrieve -&gt; final content</a:t>
              </a:r>
            </a:p>
          </p:txBody>
        </p:sp>
      </p:grpSp>
      <p:grpSp>
        <p:nvGrpSpPr>
          <p:cNvPr name="Group 26" id="26"/>
          <p:cNvGrpSpPr/>
          <p:nvPr/>
        </p:nvGrpSpPr>
        <p:grpSpPr>
          <a:xfrm rot="0">
            <a:off x="685800" y="9793224"/>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29" id="29"/>
          <p:cNvGrpSpPr/>
          <p:nvPr/>
        </p:nvGrpSpPr>
        <p:grpSpPr>
          <a:xfrm rot="0">
            <a:off x="17282160" y="9793224"/>
            <a:ext cx="548640" cy="411480"/>
            <a:chOff x="0" y="0"/>
            <a:chExt cx="731520" cy="548640"/>
          </a:xfrm>
        </p:grpSpPr>
        <p:sp>
          <p:nvSpPr>
            <p:cNvPr name="Freeform 30" id="30"/>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31" id="31"/>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10</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6 · IMPLEMENTATION</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Data and Persistence Layer</a:t>
              </a:r>
            </a:p>
          </p:txBody>
        </p:sp>
      </p:grpSp>
      <p:grpSp>
        <p:nvGrpSpPr>
          <p:cNvPr name="Group 8" id="8"/>
          <p:cNvGrpSpPr/>
          <p:nvPr/>
        </p:nvGrpSpPr>
        <p:grpSpPr>
          <a:xfrm rot="0">
            <a:off x="952976" y="2118836"/>
            <a:ext cx="9478328" cy="1317308"/>
            <a:chOff x="0" y="0"/>
            <a:chExt cx="12637770" cy="1756410"/>
          </a:xfrm>
        </p:grpSpPr>
        <p:sp>
          <p:nvSpPr>
            <p:cNvPr name="Freeform 9" id="9"/>
            <p:cNvSpPr/>
            <p:nvPr/>
          </p:nvSpPr>
          <p:spPr>
            <a:xfrm flipH="false" flipV="false" rot="0">
              <a:off x="0" y="0"/>
              <a:ext cx="12637770" cy="1756410"/>
            </a:xfrm>
            <a:custGeom>
              <a:avLst/>
              <a:gdLst/>
              <a:ahLst/>
              <a:cxnLst/>
              <a:rect r="r" b="b" t="t" l="l"/>
              <a:pathLst>
                <a:path h="1756410" w="12637770">
                  <a:moveTo>
                    <a:pt x="0" y="147955"/>
                  </a:moveTo>
                  <a:cubicBezTo>
                    <a:pt x="0" y="66167"/>
                    <a:pt x="66167" y="0"/>
                    <a:pt x="147955" y="0"/>
                  </a:cubicBezTo>
                  <a:lnTo>
                    <a:pt x="12489815" y="0"/>
                  </a:lnTo>
                  <a:cubicBezTo>
                    <a:pt x="12571476" y="0"/>
                    <a:pt x="12637770" y="66167"/>
                    <a:pt x="12637770" y="147955"/>
                  </a:cubicBezTo>
                  <a:lnTo>
                    <a:pt x="12637770" y="1608455"/>
                  </a:lnTo>
                  <a:cubicBezTo>
                    <a:pt x="12637770" y="1690116"/>
                    <a:pt x="12571603" y="1756410"/>
                    <a:pt x="12489815" y="1756410"/>
                  </a:cubicBezTo>
                  <a:lnTo>
                    <a:pt x="147955" y="1756410"/>
                  </a:lnTo>
                  <a:cubicBezTo>
                    <a:pt x="66167" y="1756410"/>
                    <a:pt x="0" y="1690243"/>
                    <a:pt x="0" y="1608455"/>
                  </a:cubicBezTo>
                  <a:close/>
                </a:path>
              </a:pathLst>
            </a:custGeom>
            <a:solidFill>
              <a:srgbClr val="FFFFFF"/>
            </a:solidFill>
            <a:ln w="14288" cap="sq">
              <a:solidFill>
                <a:srgbClr val="E2E8F0"/>
              </a:solidFill>
              <a:prstDash val="solid"/>
              <a:miter/>
            </a:ln>
          </p:spPr>
        </p:sp>
      </p:grpSp>
      <p:grpSp>
        <p:nvGrpSpPr>
          <p:cNvPr name="Group 10" id="10"/>
          <p:cNvGrpSpPr/>
          <p:nvPr/>
        </p:nvGrpSpPr>
        <p:grpSpPr>
          <a:xfrm rot="0">
            <a:off x="1234440" y="2400300"/>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146304"/>
                  </a:moveTo>
                  <a:cubicBezTo>
                    <a:pt x="0" y="65532"/>
                    <a:pt x="65532" y="0"/>
                    <a:pt x="146304" y="0"/>
                  </a:cubicBezTo>
                  <a:lnTo>
                    <a:pt x="768096" y="0"/>
                  </a:lnTo>
                  <a:cubicBezTo>
                    <a:pt x="848868" y="0"/>
                    <a:pt x="914400" y="65532"/>
                    <a:pt x="914400" y="146304"/>
                  </a:cubicBezTo>
                  <a:lnTo>
                    <a:pt x="914400" y="768096"/>
                  </a:lnTo>
                  <a:cubicBezTo>
                    <a:pt x="914400" y="848868"/>
                    <a:pt x="848868" y="914400"/>
                    <a:pt x="768096" y="914400"/>
                  </a:cubicBezTo>
                  <a:lnTo>
                    <a:pt x="146304" y="914400"/>
                  </a:lnTo>
                  <a:cubicBezTo>
                    <a:pt x="65532" y="914400"/>
                    <a:pt x="0" y="848868"/>
                    <a:pt x="0" y="768096"/>
                  </a:cubicBezTo>
                  <a:close/>
                </a:path>
              </a:pathLst>
            </a:custGeom>
            <a:solidFill>
              <a:srgbClr val="F3EAFB"/>
            </a:solidFill>
          </p:spPr>
        </p:sp>
      </p:grpSp>
      <p:grpSp>
        <p:nvGrpSpPr>
          <p:cNvPr name="Group 12" id="12"/>
          <p:cNvGrpSpPr/>
          <p:nvPr/>
        </p:nvGrpSpPr>
        <p:grpSpPr>
          <a:xfrm rot="0">
            <a:off x="1344168" y="2510028"/>
            <a:ext cx="466344" cy="466344"/>
            <a:chOff x="0" y="0"/>
            <a:chExt cx="621792" cy="621792"/>
          </a:xfrm>
        </p:grpSpPr>
        <p:sp>
          <p:nvSpPr>
            <p:cNvPr name="Freeform 13" id="13" descr="/home/claude/pptx/icons/database.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4"/>
              <a:stretch>
                <a:fillRect l="0" t="0" r="0" b="0"/>
              </a:stretch>
            </a:blipFill>
          </p:spPr>
        </p:sp>
      </p:grpSp>
      <p:grpSp>
        <p:nvGrpSpPr>
          <p:cNvPr name="Group 14" id="14"/>
          <p:cNvGrpSpPr/>
          <p:nvPr/>
        </p:nvGrpSpPr>
        <p:grpSpPr>
          <a:xfrm rot="0">
            <a:off x="2194560" y="2263140"/>
            <a:ext cx="7955280" cy="480060"/>
            <a:chOff x="0" y="0"/>
            <a:chExt cx="10607040" cy="640080"/>
          </a:xfrm>
        </p:grpSpPr>
        <p:sp>
          <p:nvSpPr>
            <p:cNvPr name="Freeform 15" id="15"/>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3">
                <a:alphaModFix amt="0"/>
              </a:blip>
              <a:stretch>
                <a:fillRect l="0" t="-272894" r="0" b="-272894"/>
              </a:stretch>
            </a:blipFill>
          </p:spPr>
        </p:sp>
        <p:sp>
          <p:nvSpPr>
            <p:cNvPr name="TextBox 16" id="16"/>
            <p:cNvSpPr txBox="true"/>
            <p:nvPr/>
          </p:nvSpPr>
          <p:spPr>
            <a:xfrm>
              <a:off x="0" y="-47625"/>
              <a:ext cx="10607040" cy="687705"/>
            </a:xfrm>
            <a:prstGeom prst="rect">
              <a:avLst/>
            </a:prstGeom>
          </p:spPr>
          <p:txBody>
            <a:bodyPr anchor="ctr" rtlCol="false" tIns="0" lIns="0" bIns="0" rIns="0"/>
            <a:lstStyle/>
            <a:p>
              <a:pPr algn="l">
                <a:lnSpc>
                  <a:spcPts val="2520"/>
                </a:lnSpc>
              </a:pPr>
              <a:r>
                <a:rPr lang="en-US" sz="2100" b="true">
                  <a:solidFill>
                    <a:srgbClr val="17213B"/>
                  </a:solidFill>
                  <a:latin typeface="Calibri (MS) Bold"/>
                  <a:ea typeface="Calibri (MS) Bold"/>
                  <a:cs typeface="Calibri (MS) Bold"/>
                  <a:sym typeface="Calibri (MS) Bold"/>
                </a:rPr>
                <a:t>GenerationJob</a:t>
              </a:r>
            </a:p>
          </p:txBody>
        </p:sp>
      </p:grpSp>
      <p:grpSp>
        <p:nvGrpSpPr>
          <p:cNvPr name="Group 17" id="17"/>
          <p:cNvGrpSpPr/>
          <p:nvPr/>
        </p:nvGrpSpPr>
        <p:grpSpPr>
          <a:xfrm rot="0">
            <a:off x="2194560" y="2756916"/>
            <a:ext cx="7955280" cy="548640"/>
            <a:chOff x="0" y="0"/>
            <a:chExt cx="10607040" cy="731520"/>
          </a:xfrm>
        </p:grpSpPr>
        <p:sp>
          <p:nvSpPr>
            <p:cNvPr name="Freeform 18" id="18"/>
            <p:cNvSpPr/>
            <p:nvPr/>
          </p:nvSpPr>
          <p:spPr>
            <a:xfrm flipH="false" flipV="false" rot="0">
              <a:off x="0" y="0"/>
              <a:ext cx="10607040" cy="731520"/>
            </a:xfrm>
            <a:custGeom>
              <a:avLst/>
              <a:gdLst/>
              <a:ahLst/>
              <a:cxnLst/>
              <a:rect r="r" b="b" t="t" l="l"/>
              <a:pathLst>
                <a:path h="731520" w="10607040">
                  <a:moveTo>
                    <a:pt x="0" y="0"/>
                  </a:moveTo>
                  <a:lnTo>
                    <a:pt x="10607040" y="0"/>
                  </a:lnTo>
                  <a:lnTo>
                    <a:pt x="10607040" y="731520"/>
                  </a:lnTo>
                  <a:lnTo>
                    <a:pt x="0" y="731520"/>
                  </a:lnTo>
                  <a:close/>
                </a:path>
              </a:pathLst>
            </a:custGeom>
            <a:blipFill>
              <a:blip r:embed="rId3">
                <a:alphaModFix amt="0"/>
              </a:blip>
              <a:stretch>
                <a:fillRect l="0" t="-232533" r="0" b="-232533"/>
              </a:stretch>
            </a:blipFill>
          </p:spPr>
        </p:sp>
        <p:sp>
          <p:nvSpPr>
            <p:cNvPr name="TextBox 19" id="19"/>
            <p:cNvSpPr txBox="true"/>
            <p:nvPr/>
          </p:nvSpPr>
          <p:spPr>
            <a:xfrm>
              <a:off x="0" y="-28575"/>
              <a:ext cx="10607040" cy="760095"/>
            </a:xfrm>
            <a:prstGeom prst="rect">
              <a:avLst/>
            </a:prstGeom>
          </p:spPr>
          <p:txBody>
            <a:bodyPr anchor="ctr" rtlCol="false" tIns="0" lIns="0" bIns="0" rIns="0"/>
            <a:lstStyle/>
            <a:p>
              <a:pPr algn="l">
                <a:lnSpc>
                  <a:spcPts val="1980"/>
                </a:lnSpc>
              </a:pPr>
              <a:r>
                <a:rPr lang="en-US" sz="1650">
                  <a:solidFill>
                    <a:srgbClr val="64748B"/>
                  </a:solidFill>
                  <a:latin typeface="Calibri (MS)"/>
                  <a:ea typeface="Calibri (MS)"/>
                  <a:cs typeface="Calibri (MS)"/>
                  <a:sym typeface="Calibri (MS)"/>
                </a:rPr>
                <a:t>Tracks background job lifecycle: status, progress, timestamps</a:t>
              </a:r>
            </a:p>
          </p:txBody>
        </p:sp>
      </p:grpSp>
      <p:grpSp>
        <p:nvGrpSpPr>
          <p:cNvPr name="Group 20" id="20"/>
          <p:cNvGrpSpPr/>
          <p:nvPr/>
        </p:nvGrpSpPr>
        <p:grpSpPr>
          <a:xfrm rot="0">
            <a:off x="952976" y="3627596"/>
            <a:ext cx="9478328" cy="1317308"/>
            <a:chOff x="0" y="0"/>
            <a:chExt cx="12637770" cy="1756410"/>
          </a:xfrm>
        </p:grpSpPr>
        <p:sp>
          <p:nvSpPr>
            <p:cNvPr name="Freeform 21" id="21"/>
            <p:cNvSpPr/>
            <p:nvPr/>
          </p:nvSpPr>
          <p:spPr>
            <a:xfrm flipH="false" flipV="false" rot="0">
              <a:off x="0" y="0"/>
              <a:ext cx="12637770" cy="1756410"/>
            </a:xfrm>
            <a:custGeom>
              <a:avLst/>
              <a:gdLst/>
              <a:ahLst/>
              <a:cxnLst/>
              <a:rect r="r" b="b" t="t" l="l"/>
              <a:pathLst>
                <a:path h="1756410" w="12637770">
                  <a:moveTo>
                    <a:pt x="0" y="147955"/>
                  </a:moveTo>
                  <a:cubicBezTo>
                    <a:pt x="0" y="66167"/>
                    <a:pt x="66167" y="0"/>
                    <a:pt x="147955" y="0"/>
                  </a:cubicBezTo>
                  <a:lnTo>
                    <a:pt x="12489815" y="0"/>
                  </a:lnTo>
                  <a:cubicBezTo>
                    <a:pt x="12571476" y="0"/>
                    <a:pt x="12637770" y="66167"/>
                    <a:pt x="12637770" y="147955"/>
                  </a:cubicBezTo>
                  <a:lnTo>
                    <a:pt x="12637770" y="1608455"/>
                  </a:lnTo>
                  <a:cubicBezTo>
                    <a:pt x="12637770" y="1690116"/>
                    <a:pt x="12571603" y="1756410"/>
                    <a:pt x="12489815" y="1756410"/>
                  </a:cubicBezTo>
                  <a:lnTo>
                    <a:pt x="147955" y="1756410"/>
                  </a:lnTo>
                  <a:cubicBezTo>
                    <a:pt x="66167" y="1756410"/>
                    <a:pt x="0" y="1690243"/>
                    <a:pt x="0" y="1608455"/>
                  </a:cubicBezTo>
                  <a:close/>
                </a:path>
              </a:pathLst>
            </a:custGeom>
            <a:solidFill>
              <a:srgbClr val="FFFFFF"/>
            </a:solidFill>
            <a:ln w="14288" cap="sq">
              <a:solidFill>
                <a:srgbClr val="E2E8F0"/>
              </a:solidFill>
              <a:prstDash val="solid"/>
              <a:miter/>
            </a:ln>
          </p:spPr>
        </p:sp>
      </p:grpSp>
      <p:grpSp>
        <p:nvGrpSpPr>
          <p:cNvPr name="Group 22" id="22"/>
          <p:cNvGrpSpPr/>
          <p:nvPr/>
        </p:nvGrpSpPr>
        <p:grpSpPr>
          <a:xfrm rot="0">
            <a:off x="1234440" y="3909060"/>
            <a:ext cx="685800" cy="685800"/>
            <a:chOff x="0" y="0"/>
            <a:chExt cx="914400" cy="914400"/>
          </a:xfrm>
        </p:grpSpPr>
        <p:sp>
          <p:nvSpPr>
            <p:cNvPr name="Freeform 23" id="23"/>
            <p:cNvSpPr/>
            <p:nvPr/>
          </p:nvSpPr>
          <p:spPr>
            <a:xfrm flipH="false" flipV="false" rot="0">
              <a:off x="0" y="0"/>
              <a:ext cx="914400" cy="914400"/>
            </a:xfrm>
            <a:custGeom>
              <a:avLst/>
              <a:gdLst/>
              <a:ahLst/>
              <a:cxnLst/>
              <a:rect r="r" b="b" t="t" l="l"/>
              <a:pathLst>
                <a:path h="914400" w="914400">
                  <a:moveTo>
                    <a:pt x="0" y="146304"/>
                  </a:moveTo>
                  <a:cubicBezTo>
                    <a:pt x="0" y="65532"/>
                    <a:pt x="65532" y="0"/>
                    <a:pt x="146304" y="0"/>
                  </a:cubicBezTo>
                  <a:lnTo>
                    <a:pt x="768096" y="0"/>
                  </a:lnTo>
                  <a:cubicBezTo>
                    <a:pt x="848868" y="0"/>
                    <a:pt x="914400" y="65532"/>
                    <a:pt x="914400" y="146304"/>
                  </a:cubicBezTo>
                  <a:lnTo>
                    <a:pt x="914400" y="768096"/>
                  </a:lnTo>
                  <a:cubicBezTo>
                    <a:pt x="914400" y="848868"/>
                    <a:pt x="848868" y="914400"/>
                    <a:pt x="768096" y="914400"/>
                  </a:cubicBezTo>
                  <a:lnTo>
                    <a:pt x="146304" y="914400"/>
                  </a:lnTo>
                  <a:cubicBezTo>
                    <a:pt x="65532" y="914400"/>
                    <a:pt x="0" y="848868"/>
                    <a:pt x="0" y="768096"/>
                  </a:cubicBezTo>
                  <a:close/>
                </a:path>
              </a:pathLst>
            </a:custGeom>
            <a:solidFill>
              <a:srgbClr val="F3EAFB"/>
            </a:solidFill>
          </p:spPr>
        </p:sp>
      </p:grpSp>
      <p:grpSp>
        <p:nvGrpSpPr>
          <p:cNvPr name="Group 24" id="24"/>
          <p:cNvGrpSpPr/>
          <p:nvPr/>
        </p:nvGrpSpPr>
        <p:grpSpPr>
          <a:xfrm rot="0">
            <a:off x="1344168" y="4018788"/>
            <a:ext cx="466344" cy="466344"/>
            <a:chOff x="0" y="0"/>
            <a:chExt cx="621792" cy="621792"/>
          </a:xfrm>
        </p:grpSpPr>
        <p:sp>
          <p:nvSpPr>
            <p:cNvPr name="Freeform 25" id="25" descr="/home/claude/pptx/icons/database.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4"/>
              <a:stretch>
                <a:fillRect l="0" t="0" r="0" b="0"/>
              </a:stretch>
            </a:blipFill>
          </p:spPr>
        </p:sp>
      </p:grpSp>
      <p:grpSp>
        <p:nvGrpSpPr>
          <p:cNvPr name="Group 26" id="26"/>
          <p:cNvGrpSpPr/>
          <p:nvPr/>
        </p:nvGrpSpPr>
        <p:grpSpPr>
          <a:xfrm rot="0">
            <a:off x="2194560" y="3771900"/>
            <a:ext cx="7955280" cy="480060"/>
            <a:chOff x="0" y="0"/>
            <a:chExt cx="10607040" cy="640080"/>
          </a:xfrm>
        </p:grpSpPr>
        <p:sp>
          <p:nvSpPr>
            <p:cNvPr name="Freeform 27" id="27"/>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3">
                <a:alphaModFix amt="0"/>
              </a:blip>
              <a:stretch>
                <a:fillRect l="0" t="-272894" r="0" b="-272894"/>
              </a:stretch>
            </a:blipFill>
          </p:spPr>
        </p:sp>
        <p:sp>
          <p:nvSpPr>
            <p:cNvPr name="TextBox 28" id="28"/>
            <p:cNvSpPr txBox="true"/>
            <p:nvPr/>
          </p:nvSpPr>
          <p:spPr>
            <a:xfrm>
              <a:off x="0" y="-47625"/>
              <a:ext cx="10607040" cy="687705"/>
            </a:xfrm>
            <a:prstGeom prst="rect">
              <a:avLst/>
            </a:prstGeom>
          </p:spPr>
          <p:txBody>
            <a:bodyPr anchor="ctr" rtlCol="false" tIns="0" lIns="0" bIns="0" rIns="0"/>
            <a:lstStyle/>
            <a:p>
              <a:pPr algn="l">
                <a:lnSpc>
                  <a:spcPts val="2520"/>
                </a:lnSpc>
              </a:pPr>
              <a:r>
                <a:rPr lang="en-US" sz="2100" b="true">
                  <a:solidFill>
                    <a:srgbClr val="17213B"/>
                  </a:solidFill>
                  <a:latin typeface="Calibri (MS) Bold"/>
                  <a:ea typeface="Calibri (MS) Bold"/>
                  <a:cs typeface="Calibri (MS) Bold"/>
                  <a:sym typeface="Calibri (MS) Bold"/>
                </a:rPr>
                <a:t>ContentGeneration</a:t>
              </a:r>
            </a:p>
          </p:txBody>
        </p:sp>
      </p:grpSp>
      <p:grpSp>
        <p:nvGrpSpPr>
          <p:cNvPr name="Group 29" id="29"/>
          <p:cNvGrpSpPr/>
          <p:nvPr/>
        </p:nvGrpSpPr>
        <p:grpSpPr>
          <a:xfrm rot="0">
            <a:off x="2194560" y="4265676"/>
            <a:ext cx="7955280" cy="548640"/>
            <a:chOff x="0" y="0"/>
            <a:chExt cx="10607040" cy="731520"/>
          </a:xfrm>
        </p:grpSpPr>
        <p:sp>
          <p:nvSpPr>
            <p:cNvPr name="Freeform 30" id="30"/>
            <p:cNvSpPr/>
            <p:nvPr/>
          </p:nvSpPr>
          <p:spPr>
            <a:xfrm flipH="false" flipV="false" rot="0">
              <a:off x="0" y="0"/>
              <a:ext cx="10607040" cy="731520"/>
            </a:xfrm>
            <a:custGeom>
              <a:avLst/>
              <a:gdLst/>
              <a:ahLst/>
              <a:cxnLst/>
              <a:rect r="r" b="b" t="t" l="l"/>
              <a:pathLst>
                <a:path h="731520" w="10607040">
                  <a:moveTo>
                    <a:pt x="0" y="0"/>
                  </a:moveTo>
                  <a:lnTo>
                    <a:pt x="10607040" y="0"/>
                  </a:lnTo>
                  <a:lnTo>
                    <a:pt x="10607040" y="731520"/>
                  </a:lnTo>
                  <a:lnTo>
                    <a:pt x="0" y="731520"/>
                  </a:lnTo>
                  <a:close/>
                </a:path>
              </a:pathLst>
            </a:custGeom>
            <a:blipFill>
              <a:blip r:embed="rId3">
                <a:alphaModFix amt="0"/>
              </a:blip>
              <a:stretch>
                <a:fillRect l="0" t="-232533" r="0" b="-232533"/>
              </a:stretch>
            </a:blipFill>
          </p:spPr>
        </p:sp>
        <p:sp>
          <p:nvSpPr>
            <p:cNvPr name="TextBox 31" id="31"/>
            <p:cNvSpPr txBox="true"/>
            <p:nvPr/>
          </p:nvSpPr>
          <p:spPr>
            <a:xfrm>
              <a:off x="0" y="-28575"/>
              <a:ext cx="10607040" cy="760095"/>
            </a:xfrm>
            <a:prstGeom prst="rect">
              <a:avLst/>
            </a:prstGeom>
          </p:spPr>
          <p:txBody>
            <a:bodyPr anchor="ctr" rtlCol="false" tIns="0" lIns="0" bIns="0" rIns="0"/>
            <a:lstStyle/>
            <a:p>
              <a:pPr algn="l">
                <a:lnSpc>
                  <a:spcPts val="1980"/>
                </a:lnSpc>
              </a:pPr>
              <a:r>
                <a:rPr lang="en-US" sz="1650">
                  <a:solidFill>
                    <a:srgbClr val="64748B"/>
                  </a:solidFill>
                  <a:latin typeface="Calibri (MS)"/>
                  <a:ea typeface="Calibri (MS)"/>
                  <a:cs typeface="Calibri (MS)"/>
                  <a:sym typeface="Calibri (MS)"/>
                </a:rPr>
                <a:t>Normalised request configuration: topic, content_type, tone</a:t>
              </a:r>
            </a:p>
          </p:txBody>
        </p:sp>
      </p:grpSp>
      <p:grpSp>
        <p:nvGrpSpPr>
          <p:cNvPr name="Group 32" id="32"/>
          <p:cNvGrpSpPr/>
          <p:nvPr/>
        </p:nvGrpSpPr>
        <p:grpSpPr>
          <a:xfrm rot="0">
            <a:off x="952976" y="5136356"/>
            <a:ext cx="9478328" cy="1317308"/>
            <a:chOff x="0" y="0"/>
            <a:chExt cx="12637770" cy="1756410"/>
          </a:xfrm>
        </p:grpSpPr>
        <p:sp>
          <p:nvSpPr>
            <p:cNvPr name="Freeform 33" id="33"/>
            <p:cNvSpPr/>
            <p:nvPr/>
          </p:nvSpPr>
          <p:spPr>
            <a:xfrm flipH="false" flipV="false" rot="0">
              <a:off x="0" y="0"/>
              <a:ext cx="12637770" cy="1756410"/>
            </a:xfrm>
            <a:custGeom>
              <a:avLst/>
              <a:gdLst/>
              <a:ahLst/>
              <a:cxnLst/>
              <a:rect r="r" b="b" t="t" l="l"/>
              <a:pathLst>
                <a:path h="1756410" w="12637770">
                  <a:moveTo>
                    <a:pt x="0" y="147955"/>
                  </a:moveTo>
                  <a:cubicBezTo>
                    <a:pt x="0" y="66167"/>
                    <a:pt x="66167" y="0"/>
                    <a:pt x="147955" y="0"/>
                  </a:cubicBezTo>
                  <a:lnTo>
                    <a:pt x="12489815" y="0"/>
                  </a:lnTo>
                  <a:cubicBezTo>
                    <a:pt x="12571476" y="0"/>
                    <a:pt x="12637770" y="66167"/>
                    <a:pt x="12637770" y="147955"/>
                  </a:cubicBezTo>
                  <a:lnTo>
                    <a:pt x="12637770" y="1608455"/>
                  </a:lnTo>
                  <a:cubicBezTo>
                    <a:pt x="12637770" y="1690116"/>
                    <a:pt x="12571603" y="1756410"/>
                    <a:pt x="12489815" y="1756410"/>
                  </a:cubicBezTo>
                  <a:lnTo>
                    <a:pt x="147955" y="1756410"/>
                  </a:lnTo>
                  <a:cubicBezTo>
                    <a:pt x="66167" y="1756410"/>
                    <a:pt x="0" y="1690243"/>
                    <a:pt x="0" y="1608455"/>
                  </a:cubicBezTo>
                  <a:close/>
                </a:path>
              </a:pathLst>
            </a:custGeom>
            <a:solidFill>
              <a:srgbClr val="FFFFFF"/>
            </a:solidFill>
            <a:ln w="14288" cap="sq">
              <a:solidFill>
                <a:srgbClr val="E2E8F0"/>
              </a:solidFill>
              <a:prstDash val="solid"/>
              <a:miter/>
            </a:ln>
          </p:spPr>
        </p:sp>
      </p:grpSp>
      <p:grpSp>
        <p:nvGrpSpPr>
          <p:cNvPr name="Group 34" id="34"/>
          <p:cNvGrpSpPr/>
          <p:nvPr/>
        </p:nvGrpSpPr>
        <p:grpSpPr>
          <a:xfrm rot="0">
            <a:off x="1234440" y="5417820"/>
            <a:ext cx="685800" cy="685800"/>
            <a:chOff x="0" y="0"/>
            <a:chExt cx="914400" cy="914400"/>
          </a:xfrm>
        </p:grpSpPr>
        <p:sp>
          <p:nvSpPr>
            <p:cNvPr name="Freeform 35" id="35"/>
            <p:cNvSpPr/>
            <p:nvPr/>
          </p:nvSpPr>
          <p:spPr>
            <a:xfrm flipH="false" flipV="false" rot="0">
              <a:off x="0" y="0"/>
              <a:ext cx="914400" cy="914400"/>
            </a:xfrm>
            <a:custGeom>
              <a:avLst/>
              <a:gdLst/>
              <a:ahLst/>
              <a:cxnLst/>
              <a:rect r="r" b="b" t="t" l="l"/>
              <a:pathLst>
                <a:path h="914400" w="914400">
                  <a:moveTo>
                    <a:pt x="0" y="146304"/>
                  </a:moveTo>
                  <a:cubicBezTo>
                    <a:pt x="0" y="65532"/>
                    <a:pt x="65532" y="0"/>
                    <a:pt x="146304" y="0"/>
                  </a:cubicBezTo>
                  <a:lnTo>
                    <a:pt x="768096" y="0"/>
                  </a:lnTo>
                  <a:cubicBezTo>
                    <a:pt x="848868" y="0"/>
                    <a:pt x="914400" y="65532"/>
                    <a:pt x="914400" y="146304"/>
                  </a:cubicBezTo>
                  <a:lnTo>
                    <a:pt x="914400" y="768096"/>
                  </a:lnTo>
                  <a:cubicBezTo>
                    <a:pt x="914400" y="848868"/>
                    <a:pt x="848868" y="914400"/>
                    <a:pt x="768096" y="914400"/>
                  </a:cubicBezTo>
                  <a:lnTo>
                    <a:pt x="146304" y="914400"/>
                  </a:lnTo>
                  <a:cubicBezTo>
                    <a:pt x="65532" y="914400"/>
                    <a:pt x="0" y="848868"/>
                    <a:pt x="0" y="768096"/>
                  </a:cubicBezTo>
                  <a:close/>
                </a:path>
              </a:pathLst>
            </a:custGeom>
            <a:solidFill>
              <a:srgbClr val="F3EAFB"/>
            </a:solidFill>
          </p:spPr>
        </p:sp>
      </p:grpSp>
      <p:grpSp>
        <p:nvGrpSpPr>
          <p:cNvPr name="Group 36" id="36"/>
          <p:cNvGrpSpPr/>
          <p:nvPr/>
        </p:nvGrpSpPr>
        <p:grpSpPr>
          <a:xfrm rot="0">
            <a:off x="1344168" y="5527548"/>
            <a:ext cx="466344" cy="466344"/>
            <a:chOff x="0" y="0"/>
            <a:chExt cx="621792" cy="621792"/>
          </a:xfrm>
        </p:grpSpPr>
        <p:sp>
          <p:nvSpPr>
            <p:cNvPr name="Freeform 37" id="37" descr="/home/claude/pptx/icons/database.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4"/>
              <a:stretch>
                <a:fillRect l="0" t="0" r="0" b="0"/>
              </a:stretch>
            </a:blipFill>
          </p:spPr>
        </p:sp>
      </p:grpSp>
      <p:grpSp>
        <p:nvGrpSpPr>
          <p:cNvPr name="Group 38" id="38"/>
          <p:cNvGrpSpPr/>
          <p:nvPr/>
        </p:nvGrpSpPr>
        <p:grpSpPr>
          <a:xfrm rot="0">
            <a:off x="2194560" y="5280660"/>
            <a:ext cx="7955280" cy="480060"/>
            <a:chOff x="0" y="0"/>
            <a:chExt cx="10607040" cy="640080"/>
          </a:xfrm>
        </p:grpSpPr>
        <p:sp>
          <p:nvSpPr>
            <p:cNvPr name="Freeform 39" id="39"/>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3">
                <a:alphaModFix amt="0"/>
              </a:blip>
              <a:stretch>
                <a:fillRect l="0" t="-272894" r="0" b="-272894"/>
              </a:stretch>
            </a:blipFill>
          </p:spPr>
        </p:sp>
        <p:sp>
          <p:nvSpPr>
            <p:cNvPr name="TextBox 40" id="40"/>
            <p:cNvSpPr txBox="true"/>
            <p:nvPr/>
          </p:nvSpPr>
          <p:spPr>
            <a:xfrm>
              <a:off x="0" y="-47625"/>
              <a:ext cx="10607040" cy="687705"/>
            </a:xfrm>
            <a:prstGeom prst="rect">
              <a:avLst/>
            </a:prstGeom>
          </p:spPr>
          <p:txBody>
            <a:bodyPr anchor="ctr" rtlCol="false" tIns="0" lIns="0" bIns="0" rIns="0"/>
            <a:lstStyle/>
            <a:p>
              <a:pPr algn="l">
                <a:lnSpc>
                  <a:spcPts val="2520"/>
                </a:lnSpc>
              </a:pPr>
              <a:r>
                <a:rPr lang="en-US" sz="2100" b="true">
                  <a:solidFill>
                    <a:srgbClr val="17213B"/>
                  </a:solidFill>
                  <a:latin typeface="Calibri (MS) Bold"/>
                  <a:ea typeface="Calibri (MS) Bold"/>
                  <a:cs typeface="Calibri (MS) Bold"/>
                  <a:sym typeface="Calibri (MS) Bold"/>
                </a:rPr>
                <a:t>GeneratedContent</a:t>
              </a:r>
            </a:p>
          </p:txBody>
        </p:sp>
      </p:grpSp>
      <p:grpSp>
        <p:nvGrpSpPr>
          <p:cNvPr name="Group 41" id="41"/>
          <p:cNvGrpSpPr/>
          <p:nvPr/>
        </p:nvGrpSpPr>
        <p:grpSpPr>
          <a:xfrm rot="0">
            <a:off x="2194560" y="5774436"/>
            <a:ext cx="7955280" cy="548640"/>
            <a:chOff x="0" y="0"/>
            <a:chExt cx="10607040" cy="731520"/>
          </a:xfrm>
        </p:grpSpPr>
        <p:sp>
          <p:nvSpPr>
            <p:cNvPr name="Freeform 42" id="42"/>
            <p:cNvSpPr/>
            <p:nvPr/>
          </p:nvSpPr>
          <p:spPr>
            <a:xfrm flipH="false" flipV="false" rot="0">
              <a:off x="0" y="0"/>
              <a:ext cx="10607040" cy="731520"/>
            </a:xfrm>
            <a:custGeom>
              <a:avLst/>
              <a:gdLst/>
              <a:ahLst/>
              <a:cxnLst/>
              <a:rect r="r" b="b" t="t" l="l"/>
              <a:pathLst>
                <a:path h="731520" w="10607040">
                  <a:moveTo>
                    <a:pt x="0" y="0"/>
                  </a:moveTo>
                  <a:lnTo>
                    <a:pt x="10607040" y="0"/>
                  </a:lnTo>
                  <a:lnTo>
                    <a:pt x="10607040" y="731520"/>
                  </a:lnTo>
                  <a:lnTo>
                    <a:pt x="0" y="731520"/>
                  </a:lnTo>
                  <a:close/>
                </a:path>
              </a:pathLst>
            </a:custGeom>
            <a:blipFill>
              <a:blip r:embed="rId3">
                <a:alphaModFix amt="0"/>
              </a:blip>
              <a:stretch>
                <a:fillRect l="0" t="-232533" r="0" b="-232533"/>
              </a:stretch>
            </a:blipFill>
          </p:spPr>
        </p:sp>
        <p:sp>
          <p:nvSpPr>
            <p:cNvPr name="TextBox 43" id="43"/>
            <p:cNvSpPr txBox="true"/>
            <p:nvPr/>
          </p:nvSpPr>
          <p:spPr>
            <a:xfrm>
              <a:off x="0" y="-28575"/>
              <a:ext cx="10607040" cy="760095"/>
            </a:xfrm>
            <a:prstGeom prst="rect">
              <a:avLst/>
            </a:prstGeom>
          </p:spPr>
          <p:txBody>
            <a:bodyPr anchor="ctr" rtlCol="false" tIns="0" lIns="0" bIns="0" rIns="0"/>
            <a:lstStyle/>
            <a:p>
              <a:pPr algn="l">
                <a:lnSpc>
                  <a:spcPts val="1980"/>
                </a:lnSpc>
              </a:pPr>
              <a:r>
                <a:rPr lang="en-US" sz="1650">
                  <a:solidFill>
                    <a:srgbClr val="64748B"/>
                  </a:solidFill>
                  <a:latin typeface="Calibri (MS)"/>
                  <a:ea typeface="Calibri (MS)"/>
                  <a:cs typeface="Calibri (MS)"/>
                  <a:sym typeface="Calibri (MS)"/>
                </a:rPr>
                <a:t>Final clean content, revision count, rating field</a:t>
              </a:r>
            </a:p>
          </p:txBody>
        </p:sp>
      </p:grpSp>
      <p:grpSp>
        <p:nvGrpSpPr>
          <p:cNvPr name="Group 44" id="44"/>
          <p:cNvGrpSpPr/>
          <p:nvPr/>
        </p:nvGrpSpPr>
        <p:grpSpPr>
          <a:xfrm rot="0">
            <a:off x="952976" y="6645116"/>
            <a:ext cx="9478328" cy="1317308"/>
            <a:chOff x="0" y="0"/>
            <a:chExt cx="12637770" cy="1756410"/>
          </a:xfrm>
        </p:grpSpPr>
        <p:sp>
          <p:nvSpPr>
            <p:cNvPr name="Freeform 45" id="45"/>
            <p:cNvSpPr/>
            <p:nvPr/>
          </p:nvSpPr>
          <p:spPr>
            <a:xfrm flipH="false" flipV="false" rot="0">
              <a:off x="0" y="0"/>
              <a:ext cx="12637770" cy="1756410"/>
            </a:xfrm>
            <a:custGeom>
              <a:avLst/>
              <a:gdLst/>
              <a:ahLst/>
              <a:cxnLst/>
              <a:rect r="r" b="b" t="t" l="l"/>
              <a:pathLst>
                <a:path h="1756410" w="12637770">
                  <a:moveTo>
                    <a:pt x="0" y="147955"/>
                  </a:moveTo>
                  <a:cubicBezTo>
                    <a:pt x="0" y="66167"/>
                    <a:pt x="66167" y="0"/>
                    <a:pt x="147955" y="0"/>
                  </a:cubicBezTo>
                  <a:lnTo>
                    <a:pt x="12489815" y="0"/>
                  </a:lnTo>
                  <a:cubicBezTo>
                    <a:pt x="12571476" y="0"/>
                    <a:pt x="12637770" y="66167"/>
                    <a:pt x="12637770" y="147955"/>
                  </a:cubicBezTo>
                  <a:lnTo>
                    <a:pt x="12637770" y="1608455"/>
                  </a:lnTo>
                  <a:cubicBezTo>
                    <a:pt x="12637770" y="1690116"/>
                    <a:pt x="12571603" y="1756410"/>
                    <a:pt x="12489815" y="1756410"/>
                  </a:cubicBezTo>
                  <a:lnTo>
                    <a:pt x="147955" y="1756410"/>
                  </a:lnTo>
                  <a:cubicBezTo>
                    <a:pt x="66167" y="1756410"/>
                    <a:pt x="0" y="1690243"/>
                    <a:pt x="0" y="1608455"/>
                  </a:cubicBezTo>
                  <a:close/>
                </a:path>
              </a:pathLst>
            </a:custGeom>
            <a:solidFill>
              <a:srgbClr val="FFFFFF"/>
            </a:solidFill>
            <a:ln w="14288" cap="sq">
              <a:solidFill>
                <a:srgbClr val="E2E8F0"/>
              </a:solidFill>
              <a:prstDash val="solid"/>
              <a:miter/>
            </a:ln>
          </p:spPr>
        </p:sp>
      </p:grpSp>
      <p:grpSp>
        <p:nvGrpSpPr>
          <p:cNvPr name="Group 46" id="46"/>
          <p:cNvGrpSpPr/>
          <p:nvPr/>
        </p:nvGrpSpPr>
        <p:grpSpPr>
          <a:xfrm rot="0">
            <a:off x="1234440" y="6926580"/>
            <a:ext cx="685800" cy="685800"/>
            <a:chOff x="0" y="0"/>
            <a:chExt cx="914400" cy="914400"/>
          </a:xfrm>
        </p:grpSpPr>
        <p:sp>
          <p:nvSpPr>
            <p:cNvPr name="Freeform 47" id="47"/>
            <p:cNvSpPr/>
            <p:nvPr/>
          </p:nvSpPr>
          <p:spPr>
            <a:xfrm flipH="false" flipV="false" rot="0">
              <a:off x="0" y="0"/>
              <a:ext cx="914400" cy="914400"/>
            </a:xfrm>
            <a:custGeom>
              <a:avLst/>
              <a:gdLst/>
              <a:ahLst/>
              <a:cxnLst/>
              <a:rect r="r" b="b" t="t" l="l"/>
              <a:pathLst>
                <a:path h="914400" w="914400">
                  <a:moveTo>
                    <a:pt x="0" y="146304"/>
                  </a:moveTo>
                  <a:cubicBezTo>
                    <a:pt x="0" y="65532"/>
                    <a:pt x="65532" y="0"/>
                    <a:pt x="146304" y="0"/>
                  </a:cubicBezTo>
                  <a:lnTo>
                    <a:pt x="768096" y="0"/>
                  </a:lnTo>
                  <a:cubicBezTo>
                    <a:pt x="848868" y="0"/>
                    <a:pt x="914400" y="65532"/>
                    <a:pt x="914400" y="146304"/>
                  </a:cubicBezTo>
                  <a:lnTo>
                    <a:pt x="914400" y="768096"/>
                  </a:lnTo>
                  <a:cubicBezTo>
                    <a:pt x="914400" y="848868"/>
                    <a:pt x="848868" y="914400"/>
                    <a:pt x="768096" y="914400"/>
                  </a:cubicBezTo>
                  <a:lnTo>
                    <a:pt x="146304" y="914400"/>
                  </a:lnTo>
                  <a:cubicBezTo>
                    <a:pt x="65532" y="914400"/>
                    <a:pt x="0" y="848868"/>
                    <a:pt x="0" y="768096"/>
                  </a:cubicBezTo>
                  <a:close/>
                </a:path>
              </a:pathLst>
            </a:custGeom>
            <a:solidFill>
              <a:srgbClr val="F3EAFB"/>
            </a:solidFill>
          </p:spPr>
        </p:sp>
      </p:grpSp>
      <p:grpSp>
        <p:nvGrpSpPr>
          <p:cNvPr name="Group 48" id="48"/>
          <p:cNvGrpSpPr/>
          <p:nvPr/>
        </p:nvGrpSpPr>
        <p:grpSpPr>
          <a:xfrm rot="0">
            <a:off x="1344168" y="7036308"/>
            <a:ext cx="466344" cy="466344"/>
            <a:chOff x="0" y="0"/>
            <a:chExt cx="621792" cy="621792"/>
          </a:xfrm>
        </p:grpSpPr>
        <p:sp>
          <p:nvSpPr>
            <p:cNvPr name="Freeform 49" id="49" descr="/home/claude/pptx/icons/database.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4"/>
              <a:stretch>
                <a:fillRect l="0" t="0" r="0" b="0"/>
              </a:stretch>
            </a:blipFill>
          </p:spPr>
        </p:sp>
      </p:grpSp>
      <p:grpSp>
        <p:nvGrpSpPr>
          <p:cNvPr name="Group 50" id="50"/>
          <p:cNvGrpSpPr/>
          <p:nvPr/>
        </p:nvGrpSpPr>
        <p:grpSpPr>
          <a:xfrm rot="0">
            <a:off x="2194560" y="6789420"/>
            <a:ext cx="7955280" cy="480060"/>
            <a:chOff x="0" y="0"/>
            <a:chExt cx="10607040" cy="640080"/>
          </a:xfrm>
        </p:grpSpPr>
        <p:sp>
          <p:nvSpPr>
            <p:cNvPr name="Freeform 51" id="51"/>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3">
                <a:alphaModFix amt="0"/>
              </a:blip>
              <a:stretch>
                <a:fillRect l="0" t="-272894" r="0" b="-272894"/>
              </a:stretch>
            </a:blipFill>
          </p:spPr>
        </p:sp>
        <p:sp>
          <p:nvSpPr>
            <p:cNvPr name="TextBox 52" id="52"/>
            <p:cNvSpPr txBox="true"/>
            <p:nvPr/>
          </p:nvSpPr>
          <p:spPr>
            <a:xfrm>
              <a:off x="0" y="-47625"/>
              <a:ext cx="10607040" cy="687705"/>
            </a:xfrm>
            <a:prstGeom prst="rect">
              <a:avLst/>
            </a:prstGeom>
          </p:spPr>
          <p:txBody>
            <a:bodyPr anchor="ctr" rtlCol="false" tIns="0" lIns="0" bIns="0" rIns="0"/>
            <a:lstStyle/>
            <a:p>
              <a:pPr algn="l">
                <a:lnSpc>
                  <a:spcPts val="2520"/>
                </a:lnSpc>
              </a:pPr>
              <a:r>
                <a:rPr lang="en-US" sz="2100" b="true">
                  <a:solidFill>
                    <a:srgbClr val="17213B"/>
                  </a:solidFill>
                  <a:latin typeface="Calibri (MS) Bold"/>
                  <a:ea typeface="Calibri (MS) Bold"/>
                  <a:cs typeface="Calibri (MS) Bold"/>
                  <a:sym typeface="Calibri (MS) Bold"/>
                </a:rPr>
                <a:t>GenerationDebugData</a:t>
              </a:r>
            </a:p>
          </p:txBody>
        </p:sp>
      </p:grpSp>
      <p:grpSp>
        <p:nvGrpSpPr>
          <p:cNvPr name="Group 53" id="53"/>
          <p:cNvGrpSpPr/>
          <p:nvPr/>
        </p:nvGrpSpPr>
        <p:grpSpPr>
          <a:xfrm rot="0">
            <a:off x="2194560" y="7283196"/>
            <a:ext cx="7955280" cy="548640"/>
            <a:chOff x="0" y="0"/>
            <a:chExt cx="10607040" cy="731520"/>
          </a:xfrm>
        </p:grpSpPr>
        <p:sp>
          <p:nvSpPr>
            <p:cNvPr name="Freeform 54" id="54"/>
            <p:cNvSpPr/>
            <p:nvPr/>
          </p:nvSpPr>
          <p:spPr>
            <a:xfrm flipH="false" flipV="false" rot="0">
              <a:off x="0" y="0"/>
              <a:ext cx="10607040" cy="731520"/>
            </a:xfrm>
            <a:custGeom>
              <a:avLst/>
              <a:gdLst/>
              <a:ahLst/>
              <a:cxnLst/>
              <a:rect r="r" b="b" t="t" l="l"/>
              <a:pathLst>
                <a:path h="731520" w="10607040">
                  <a:moveTo>
                    <a:pt x="0" y="0"/>
                  </a:moveTo>
                  <a:lnTo>
                    <a:pt x="10607040" y="0"/>
                  </a:lnTo>
                  <a:lnTo>
                    <a:pt x="10607040" y="731520"/>
                  </a:lnTo>
                  <a:lnTo>
                    <a:pt x="0" y="731520"/>
                  </a:lnTo>
                  <a:close/>
                </a:path>
              </a:pathLst>
            </a:custGeom>
            <a:blipFill>
              <a:blip r:embed="rId3">
                <a:alphaModFix amt="0"/>
              </a:blip>
              <a:stretch>
                <a:fillRect l="0" t="-232533" r="0" b="-232533"/>
              </a:stretch>
            </a:blipFill>
          </p:spPr>
        </p:sp>
        <p:sp>
          <p:nvSpPr>
            <p:cNvPr name="TextBox 55" id="55"/>
            <p:cNvSpPr txBox="true"/>
            <p:nvPr/>
          </p:nvSpPr>
          <p:spPr>
            <a:xfrm>
              <a:off x="0" y="-28575"/>
              <a:ext cx="10607040" cy="760095"/>
            </a:xfrm>
            <a:prstGeom prst="rect">
              <a:avLst/>
            </a:prstGeom>
          </p:spPr>
          <p:txBody>
            <a:bodyPr anchor="ctr" rtlCol="false" tIns="0" lIns="0" bIns="0" rIns="0"/>
            <a:lstStyle/>
            <a:p>
              <a:pPr algn="l">
                <a:lnSpc>
                  <a:spcPts val="1980"/>
                </a:lnSpc>
              </a:pPr>
              <a:r>
                <a:rPr lang="en-US" sz="1650">
                  <a:solidFill>
                    <a:srgbClr val="64748B"/>
                  </a:solidFill>
                  <a:latin typeface="Calibri (MS)"/>
                  <a:ea typeface="Calibri (MS)"/>
                  <a:cs typeface="Calibri (MS)"/>
                  <a:sym typeface="Calibri (MS)"/>
                </a:rPr>
                <a:t>Full agent internals for debugging: outline, search, draft, critique</a:t>
              </a:r>
            </a:p>
          </p:txBody>
        </p:sp>
      </p:grpSp>
      <p:grpSp>
        <p:nvGrpSpPr>
          <p:cNvPr name="Group 56" id="56"/>
          <p:cNvGrpSpPr/>
          <p:nvPr/>
        </p:nvGrpSpPr>
        <p:grpSpPr>
          <a:xfrm rot="0">
            <a:off x="10904220" y="2125980"/>
            <a:ext cx="6446520" cy="6035040"/>
            <a:chOff x="0" y="0"/>
            <a:chExt cx="8595360" cy="8046720"/>
          </a:xfrm>
        </p:grpSpPr>
        <p:sp>
          <p:nvSpPr>
            <p:cNvPr name="Freeform 57" id="57"/>
            <p:cNvSpPr/>
            <p:nvPr/>
          </p:nvSpPr>
          <p:spPr>
            <a:xfrm flipH="false" flipV="false" rot="0">
              <a:off x="0" y="0"/>
              <a:ext cx="8595361" cy="8046720"/>
            </a:xfrm>
            <a:custGeom>
              <a:avLst/>
              <a:gdLst/>
              <a:ahLst/>
              <a:cxnLst/>
              <a:rect r="r" b="b" t="t" l="l"/>
              <a:pathLst>
                <a:path h="8046720" w="8595361">
                  <a:moveTo>
                    <a:pt x="0" y="146304"/>
                  </a:moveTo>
                  <a:cubicBezTo>
                    <a:pt x="0" y="65532"/>
                    <a:pt x="65532" y="0"/>
                    <a:pt x="146304" y="0"/>
                  </a:cubicBezTo>
                  <a:lnTo>
                    <a:pt x="8449056" y="0"/>
                  </a:lnTo>
                  <a:cubicBezTo>
                    <a:pt x="8529828" y="0"/>
                    <a:pt x="8595361" y="65532"/>
                    <a:pt x="8595361" y="146304"/>
                  </a:cubicBezTo>
                  <a:lnTo>
                    <a:pt x="8595361" y="7900416"/>
                  </a:lnTo>
                  <a:cubicBezTo>
                    <a:pt x="8595361" y="7981188"/>
                    <a:pt x="8529828" y="8046720"/>
                    <a:pt x="8449056" y="8046720"/>
                  </a:cubicBezTo>
                  <a:lnTo>
                    <a:pt x="146304" y="8046720"/>
                  </a:lnTo>
                  <a:cubicBezTo>
                    <a:pt x="65532" y="8046720"/>
                    <a:pt x="0" y="7981188"/>
                    <a:pt x="0" y="7900416"/>
                  </a:cubicBezTo>
                  <a:close/>
                </a:path>
              </a:pathLst>
            </a:custGeom>
            <a:solidFill>
              <a:srgbClr val="1C2A4A"/>
            </a:solidFill>
          </p:spPr>
        </p:sp>
      </p:grpSp>
      <p:grpSp>
        <p:nvGrpSpPr>
          <p:cNvPr name="Group 58" id="58"/>
          <p:cNvGrpSpPr/>
          <p:nvPr/>
        </p:nvGrpSpPr>
        <p:grpSpPr>
          <a:xfrm rot="0">
            <a:off x="11247120" y="2468880"/>
            <a:ext cx="754380" cy="754380"/>
            <a:chOff x="0" y="0"/>
            <a:chExt cx="1005840" cy="1005840"/>
          </a:xfrm>
        </p:grpSpPr>
        <p:sp>
          <p:nvSpPr>
            <p:cNvPr name="Freeform 59" id="59" descr="/home/claude/pptx/icons/database.png"/>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lnTo>
                    <a:pt x="0" y="0"/>
                  </a:lnTo>
                  <a:close/>
                </a:path>
              </a:pathLst>
            </a:custGeom>
            <a:blipFill>
              <a:blip r:embed="rId4"/>
              <a:stretch>
                <a:fillRect l="0" t="0" r="0" b="0"/>
              </a:stretch>
            </a:blipFill>
          </p:spPr>
        </p:sp>
      </p:grpSp>
      <p:grpSp>
        <p:nvGrpSpPr>
          <p:cNvPr name="Group 60" id="60"/>
          <p:cNvGrpSpPr/>
          <p:nvPr/>
        </p:nvGrpSpPr>
        <p:grpSpPr>
          <a:xfrm rot="0">
            <a:off x="12207240" y="2537460"/>
            <a:ext cx="4937760" cy="617220"/>
            <a:chOff x="0" y="0"/>
            <a:chExt cx="6583680" cy="822960"/>
          </a:xfrm>
        </p:grpSpPr>
        <p:sp>
          <p:nvSpPr>
            <p:cNvPr name="Freeform 61" id="61"/>
            <p:cNvSpPr/>
            <p:nvPr/>
          </p:nvSpPr>
          <p:spPr>
            <a:xfrm flipH="false" flipV="false" rot="0">
              <a:off x="0" y="0"/>
              <a:ext cx="6583680" cy="822960"/>
            </a:xfrm>
            <a:custGeom>
              <a:avLst/>
              <a:gdLst/>
              <a:ahLst/>
              <a:cxnLst/>
              <a:rect r="r" b="b" t="t" l="l"/>
              <a:pathLst>
                <a:path h="822960" w="6583680">
                  <a:moveTo>
                    <a:pt x="0" y="0"/>
                  </a:moveTo>
                  <a:lnTo>
                    <a:pt x="6583680" y="0"/>
                  </a:lnTo>
                  <a:lnTo>
                    <a:pt x="6583680" y="822960"/>
                  </a:lnTo>
                  <a:lnTo>
                    <a:pt x="0" y="822960"/>
                  </a:lnTo>
                  <a:close/>
                </a:path>
              </a:pathLst>
            </a:custGeom>
            <a:blipFill>
              <a:blip r:embed="rId3">
                <a:alphaModFix amt="0"/>
              </a:blip>
              <a:stretch>
                <a:fillRect l="0" t="-105880" r="0" b="-105880"/>
              </a:stretch>
            </a:blipFill>
          </p:spPr>
        </p:sp>
        <p:sp>
          <p:nvSpPr>
            <p:cNvPr name="TextBox 62" id="62"/>
            <p:cNvSpPr txBox="true"/>
            <p:nvPr/>
          </p:nvSpPr>
          <p:spPr>
            <a:xfrm>
              <a:off x="0" y="-57150"/>
              <a:ext cx="6583680" cy="880110"/>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PostgreSQL via SQLAlchemy</a:t>
              </a:r>
            </a:p>
          </p:txBody>
        </p:sp>
      </p:grpSp>
      <p:grpSp>
        <p:nvGrpSpPr>
          <p:cNvPr name="Group 63" id="63"/>
          <p:cNvGrpSpPr/>
          <p:nvPr/>
        </p:nvGrpSpPr>
        <p:grpSpPr>
          <a:xfrm rot="0">
            <a:off x="11247120" y="3429000"/>
            <a:ext cx="5760720" cy="1165860"/>
            <a:chOff x="0" y="0"/>
            <a:chExt cx="7680960" cy="1554480"/>
          </a:xfrm>
        </p:grpSpPr>
        <p:sp>
          <p:nvSpPr>
            <p:cNvPr name="Freeform 64" id="64"/>
            <p:cNvSpPr/>
            <p:nvPr/>
          </p:nvSpPr>
          <p:spPr>
            <a:xfrm flipH="false" flipV="false" rot="0">
              <a:off x="0" y="0"/>
              <a:ext cx="7680960" cy="1554480"/>
            </a:xfrm>
            <a:custGeom>
              <a:avLst/>
              <a:gdLst/>
              <a:ahLst/>
              <a:cxnLst/>
              <a:rect r="r" b="b" t="t" l="l"/>
              <a:pathLst>
                <a:path h="1554480" w="7680960">
                  <a:moveTo>
                    <a:pt x="0" y="0"/>
                  </a:moveTo>
                  <a:lnTo>
                    <a:pt x="7680960" y="0"/>
                  </a:lnTo>
                  <a:lnTo>
                    <a:pt x="7680960" y="1554480"/>
                  </a:lnTo>
                  <a:lnTo>
                    <a:pt x="0" y="1554480"/>
                  </a:lnTo>
                  <a:close/>
                </a:path>
              </a:pathLst>
            </a:custGeom>
            <a:blipFill>
              <a:blip r:embed="rId3">
                <a:alphaModFix amt="0"/>
              </a:blip>
              <a:stretch>
                <a:fillRect l="0" t="-46279" r="0" b="-46279"/>
              </a:stretch>
            </a:blipFill>
          </p:spPr>
        </p:sp>
        <p:sp>
          <p:nvSpPr>
            <p:cNvPr name="TextBox 65" id="65"/>
            <p:cNvSpPr txBox="true"/>
            <p:nvPr/>
          </p:nvSpPr>
          <p:spPr>
            <a:xfrm>
              <a:off x="0" y="-38100"/>
              <a:ext cx="7680960" cy="1592580"/>
            </a:xfrm>
            <a:prstGeom prst="rect">
              <a:avLst/>
            </a:prstGeom>
          </p:spPr>
          <p:txBody>
            <a:bodyPr anchor="ctr" rtlCol="false" tIns="0" lIns="0" bIns="0" rIns="0"/>
            <a:lstStyle/>
            <a:p>
              <a:pPr algn="l">
                <a:lnSpc>
                  <a:spcPts val="2070"/>
                </a:lnSpc>
              </a:pPr>
              <a:r>
                <a:rPr lang="en-US" sz="1725">
                  <a:solidFill>
                    <a:srgbClr val="D7DEF0"/>
                  </a:solidFill>
                  <a:latin typeface="Calibri (MS)"/>
                  <a:ea typeface="Calibri (MS)"/>
                  <a:cs typeface="Calibri (MS)"/>
                  <a:sym typeface="Calibri (MS)"/>
                </a:rPr>
                <a:t>Schema evolved through Alembic migrations, including a rating field added later for future human feedback.</a:t>
              </a:r>
            </a:p>
          </p:txBody>
        </p:sp>
      </p:grpSp>
      <p:grpSp>
        <p:nvGrpSpPr>
          <p:cNvPr name="Group 66" id="66"/>
          <p:cNvGrpSpPr/>
          <p:nvPr/>
        </p:nvGrpSpPr>
        <p:grpSpPr>
          <a:xfrm rot="0">
            <a:off x="11237595" y="4791075"/>
            <a:ext cx="5779770" cy="19050"/>
            <a:chOff x="0" y="0"/>
            <a:chExt cx="7706360" cy="25400"/>
          </a:xfrm>
        </p:grpSpPr>
        <p:sp>
          <p:nvSpPr>
            <p:cNvPr name="Freeform 67" id="67"/>
            <p:cNvSpPr/>
            <p:nvPr/>
          </p:nvSpPr>
          <p:spPr>
            <a:xfrm flipH="false" flipV="false" rot="0">
              <a:off x="0" y="0"/>
              <a:ext cx="7706360" cy="25400"/>
            </a:xfrm>
            <a:custGeom>
              <a:avLst/>
              <a:gdLst/>
              <a:ahLst/>
              <a:cxnLst/>
              <a:rect r="r" b="b" t="t" l="l"/>
              <a:pathLst>
                <a:path h="25400" w="7706360">
                  <a:moveTo>
                    <a:pt x="0" y="0"/>
                  </a:moveTo>
                  <a:lnTo>
                    <a:pt x="7706360" y="25400"/>
                  </a:lnTo>
                </a:path>
              </a:pathLst>
            </a:custGeom>
            <a:blipFill>
              <a:blip r:embed="rId3">
                <a:alphaModFix amt="0"/>
              </a:blip>
              <a:stretch>
                <a:fillRect l="0" t="-5861760" r="0" b="-5861760"/>
              </a:stretch>
            </a:blipFill>
            <a:ln w="19050" cap="sq">
              <a:solidFill>
                <a:srgbClr val="334066"/>
              </a:solidFill>
              <a:prstDash val="solid"/>
              <a:miter/>
            </a:ln>
          </p:spPr>
        </p:sp>
      </p:grpSp>
      <p:grpSp>
        <p:nvGrpSpPr>
          <p:cNvPr name="Group 68" id="68"/>
          <p:cNvGrpSpPr/>
          <p:nvPr/>
        </p:nvGrpSpPr>
        <p:grpSpPr>
          <a:xfrm rot="0">
            <a:off x="11247120" y="5006340"/>
            <a:ext cx="5760720" cy="480060"/>
            <a:chOff x="0" y="0"/>
            <a:chExt cx="7680960" cy="640080"/>
          </a:xfrm>
        </p:grpSpPr>
        <p:sp>
          <p:nvSpPr>
            <p:cNvPr name="Freeform 69" id="69"/>
            <p:cNvSpPr/>
            <p:nvPr/>
          </p:nvSpPr>
          <p:spPr>
            <a:xfrm flipH="false" flipV="false" rot="0">
              <a:off x="0" y="0"/>
              <a:ext cx="7680960" cy="640080"/>
            </a:xfrm>
            <a:custGeom>
              <a:avLst/>
              <a:gdLst/>
              <a:ahLst/>
              <a:cxnLst/>
              <a:rect r="r" b="b" t="t" l="l"/>
              <a:pathLst>
                <a:path h="640080" w="7680960">
                  <a:moveTo>
                    <a:pt x="0" y="0"/>
                  </a:moveTo>
                  <a:lnTo>
                    <a:pt x="7680960" y="0"/>
                  </a:lnTo>
                  <a:lnTo>
                    <a:pt x="7680960" y="640080"/>
                  </a:lnTo>
                  <a:lnTo>
                    <a:pt x="0" y="640080"/>
                  </a:lnTo>
                  <a:close/>
                </a:path>
              </a:pathLst>
            </a:custGeom>
            <a:blipFill>
              <a:blip r:embed="rId3">
                <a:alphaModFix amt="0"/>
              </a:blip>
              <a:stretch>
                <a:fillRect l="0" t="-183820" r="0" b="-183820"/>
              </a:stretch>
            </a:blipFill>
          </p:spPr>
        </p:sp>
        <p:sp>
          <p:nvSpPr>
            <p:cNvPr name="TextBox 70" id="70"/>
            <p:cNvSpPr txBox="true"/>
            <p:nvPr/>
          </p:nvSpPr>
          <p:spPr>
            <a:xfrm>
              <a:off x="0" y="-38100"/>
              <a:ext cx="7680960" cy="678180"/>
            </a:xfrm>
            <a:prstGeom prst="rect">
              <a:avLst/>
            </a:prstGeom>
          </p:spPr>
          <p:txBody>
            <a:bodyPr anchor="ctr" rtlCol="false" tIns="0" lIns="0" bIns="0" rIns="0"/>
            <a:lstStyle/>
            <a:p>
              <a:pPr algn="l">
                <a:lnSpc>
                  <a:spcPts val="2430"/>
                </a:lnSpc>
              </a:pPr>
              <a:r>
                <a:rPr lang="en-US" sz="2025" b="true">
                  <a:solidFill>
                    <a:srgbClr val="2DD4BF"/>
                  </a:solidFill>
                  <a:latin typeface="Calibri (MS) Bold"/>
                  <a:ea typeface="Calibri (MS) Bold"/>
                  <a:cs typeface="Calibri (MS) Bold"/>
                  <a:sym typeface="Calibri (MS) Bold"/>
                </a:rPr>
                <a:t>In-Memory Fallback</a:t>
              </a:r>
            </a:p>
          </p:txBody>
        </p:sp>
      </p:grpSp>
      <p:grpSp>
        <p:nvGrpSpPr>
          <p:cNvPr name="Group 71" id="71"/>
          <p:cNvGrpSpPr/>
          <p:nvPr/>
        </p:nvGrpSpPr>
        <p:grpSpPr>
          <a:xfrm rot="0">
            <a:off x="11247120" y="5486400"/>
            <a:ext cx="5760720" cy="2331720"/>
            <a:chOff x="0" y="0"/>
            <a:chExt cx="7680960" cy="3108960"/>
          </a:xfrm>
        </p:grpSpPr>
        <p:sp>
          <p:nvSpPr>
            <p:cNvPr name="Freeform 72" id="72"/>
            <p:cNvSpPr/>
            <p:nvPr/>
          </p:nvSpPr>
          <p:spPr>
            <a:xfrm flipH="false" flipV="false" rot="0">
              <a:off x="0" y="0"/>
              <a:ext cx="7680960" cy="3108960"/>
            </a:xfrm>
            <a:custGeom>
              <a:avLst/>
              <a:gdLst/>
              <a:ahLst/>
              <a:cxnLst/>
              <a:rect r="r" b="b" t="t" l="l"/>
              <a:pathLst>
                <a:path h="3108960" w="7680960">
                  <a:moveTo>
                    <a:pt x="0" y="0"/>
                  </a:moveTo>
                  <a:lnTo>
                    <a:pt x="7680960" y="0"/>
                  </a:lnTo>
                  <a:lnTo>
                    <a:pt x="7680960" y="3108960"/>
                  </a:lnTo>
                  <a:lnTo>
                    <a:pt x="0" y="3108960"/>
                  </a:lnTo>
                  <a:close/>
                </a:path>
              </a:pathLst>
            </a:custGeom>
            <a:blipFill>
              <a:blip r:embed="rId3">
                <a:alphaModFix amt="0"/>
              </a:blip>
              <a:stretch>
                <a:fillRect l="-1932" t="0" r="-1932" b="0"/>
              </a:stretch>
            </a:blipFill>
          </p:spPr>
        </p:sp>
        <p:sp>
          <p:nvSpPr>
            <p:cNvPr name="TextBox 73" id="73"/>
            <p:cNvSpPr txBox="true"/>
            <p:nvPr/>
          </p:nvSpPr>
          <p:spPr>
            <a:xfrm>
              <a:off x="0" y="-38100"/>
              <a:ext cx="7680960" cy="3147060"/>
            </a:xfrm>
            <a:prstGeom prst="rect">
              <a:avLst/>
            </a:prstGeom>
          </p:spPr>
          <p:txBody>
            <a:bodyPr anchor="ctr" rtlCol="false" tIns="0" lIns="0" bIns="0" rIns="0"/>
            <a:lstStyle/>
            <a:p>
              <a:pPr algn="l">
                <a:lnSpc>
                  <a:spcPts val="2070"/>
                </a:lnSpc>
              </a:pPr>
              <a:r>
                <a:rPr lang="en-US" sz="1725">
                  <a:solidFill>
                    <a:srgbClr val="D7DEF0"/>
                  </a:solidFill>
                  <a:latin typeface="Calibri (MS)"/>
                  <a:ea typeface="Calibri (MS)"/>
                  <a:cs typeface="Calibri (MS)"/>
                  <a:sym typeface="Calibri (MS)"/>
                </a:rPr>
                <a:t>If the database is unreachable, the job store automatically falls back to an in-process memory store for local development — unless strict-database mode is enabled.</a:t>
              </a:r>
            </a:p>
          </p:txBody>
        </p:sp>
      </p:grpSp>
      <p:grpSp>
        <p:nvGrpSpPr>
          <p:cNvPr name="Group 74" id="74"/>
          <p:cNvGrpSpPr/>
          <p:nvPr/>
        </p:nvGrpSpPr>
        <p:grpSpPr>
          <a:xfrm rot="0">
            <a:off x="685800" y="9793224"/>
            <a:ext cx="10972800" cy="411480"/>
            <a:chOff x="0" y="0"/>
            <a:chExt cx="14630400" cy="548640"/>
          </a:xfrm>
        </p:grpSpPr>
        <p:sp>
          <p:nvSpPr>
            <p:cNvPr name="Freeform 75" id="7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76" id="7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77" id="77"/>
          <p:cNvGrpSpPr/>
          <p:nvPr/>
        </p:nvGrpSpPr>
        <p:grpSpPr>
          <a:xfrm rot="0">
            <a:off x="17282160" y="9793224"/>
            <a:ext cx="548640" cy="411480"/>
            <a:chOff x="0" y="0"/>
            <a:chExt cx="731520" cy="548640"/>
          </a:xfrm>
        </p:grpSpPr>
        <p:sp>
          <p:nvSpPr>
            <p:cNvPr name="Freeform 78" id="78"/>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79" id="79"/>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11</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6 · IMPLEMENTATION</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Technology Stack</a:t>
              </a:r>
            </a:p>
          </p:txBody>
        </p:sp>
      </p:grpSp>
      <p:grpSp>
        <p:nvGrpSpPr>
          <p:cNvPr name="Group 8" id="8"/>
          <p:cNvGrpSpPr/>
          <p:nvPr/>
        </p:nvGrpSpPr>
        <p:grpSpPr>
          <a:xfrm rot="0">
            <a:off x="960120" y="2057400"/>
            <a:ext cx="11109960" cy="768096"/>
            <a:chOff x="0" y="0"/>
            <a:chExt cx="14813280" cy="1024128"/>
          </a:xfrm>
        </p:grpSpPr>
        <p:sp>
          <p:nvSpPr>
            <p:cNvPr name="Freeform 9" id="9"/>
            <p:cNvSpPr/>
            <p:nvPr/>
          </p:nvSpPr>
          <p:spPr>
            <a:xfrm flipH="false" flipV="false" rot="0">
              <a:off x="0" y="0"/>
              <a:ext cx="14813280" cy="1024128"/>
            </a:xfrm>
            <a:custGeom>
              <a:avLst/>
              <a:gdLst/>
              <a:ahLst/>
              <a:cxnLst/>
              <a:rect r="r" b="b" t="t" l="l"/>
              <a:pathLst>
                <a:path h="1024128" w="14813280">
                  <a:moveTo>
                    <a:pt x="0" y="109728"/>
                  </a:moveTo>
                  <a:cubicBezTo>
                    <a:pt x="0" y="49149"/>
                    <a:pt x="49149" y="0"/>
                    <a:pt x="109728" y="0"/>
                  </a:cubicBezTo>
                  <a:lnTo>
                    <a:pt x="14703552" y="0"/>
                  </a:lnTo>
                  <a:cubicBezTo>
                    <a:pt x="14764131" y="0"/>
                    <a:pt x="14813280" y="49149"/>
                    <a:pt x="14813280" y="109728"/>
                  </a:cubicBezTo>
                  <a:lnTo>
                    <a:pt x="14813280" y="914400"/>
                  </a:lnTo>
                  <a:cubicBezTo>
                    <a:pt x="14813280" y="974979"/>
                    <a:pt x="14764131" y="1024128"/>
                    <a:pt x="14703552" y="1024128"/>
                  </a:cubicBezTo>
                  <a:lnTo>
                    <a:pt x="109728" y="1024128"/>
                  </a:lnTo>
                  <a:cubicBezTo>
                    <a:pt x="49149" y="1024128"/>
                    <a:pt x="0" y="974979"/>
                    <a:pt x="0" y="914400"/>
                  </a:cubicBezTo>
                  <a:close/>
                </a:path>
              </a:pathLst>
            </a:custGeom>
            <a:solidFill>
              <a:srgbClr val="16213E"/>
            </a:solidFill>
          </p:spPr>
        </p:sp>
      </p:grpSp>
      <p:grpSp>
        <p:nvGrpSpPr>
          <p:cNvPr name="Group 10" id="10"/>
          <p:cNvGrpSpPr/>
          <p:nvPr/>
        </p:nvGrpSpPr>
        <p:grpSpPr>
          <a:xfrm rot="0">
            <a:off x="1234440" y="2057400"/>
            <a:ext cx="2743200" cy="768096"/>
            <a:chOff x="0" y="0"/>
            <a:chExt cx="3657600" cy="1024128"/>
          </a:xfrm>
        </p:grpSpPr>
        <p:sp>
          <p:nvSpPr>
            <p:cNvPr name="Freeform 11" id="11"/>
            <p:cNvSpPr/>
            <p:nvPr/>
          </p:nvSpPr>
          <p:spPr>
            <a:xfrm flipH="false" flipV="false" rot="0">
              <a:off x="0" y="0"/>
              <a:ext cx="3657600" cy="1024128"/>
            </a:xfrm>
            <a:custGeom>
              <a:avLst/>
              <a:gdLst/>
              <a:ahLst/>
              <a:cxnLst/>
              <a:rect r="r" b="b" t="t" l="l"/>
              <a:pathLst>
                <a:path h="1024128" w="3657600">
                  <a:moveTo>
                    <a:pt x="0" y="0"/>
                  </a:moveTo>
                  <a:lnTo>
                    <a:pt x="3657600" y="0"/>
                  </a:lnTo>
                  <a:lnTo>
                    <a:pt x="3657600" y="1024128"/>
                  </a:lnTo>
                  <a:lnTo>
                    <a:pt x="0" y="1024128"/>
                  </a:lnTo>
                  <a:close/>
                </a:path>
              </a:pathLst>
            </a:custGeom>
            <a:blipFill>
              <a:blip r:embed="rId3">
                <a:alphaModFix amt="0"/>
              </a:blip>
              <a:stretch>
                <a:fillRect l="0" t="-19589" r="0" b="-19589"/>
              </a:stretch>
            </a:blipFill>
          </p:spPr>
        </p:sp>
        <p:sp>
          <p:nvSpPr>
            <p:cNvPr name="TextBox 12" id="12"/>
            <p:cNvSpPr txBox="true"/>
            <p:nvPr/>
          </p:nvSpPr>
          <p:spPr>
            <a:xfrm>
              <a:off x="0" y="-38100"/>
              <a:ext cx="3657600" cy="1062228"/>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Backend</a:t>
              </a:r>
            </a:p>
          </p:txBody>
        </p:sp>
      </p:grpSp>
      <p:grpSp>
        <p:nvGrpSpPr>
          <p:cNvPr name="Group 13" id="13"/>
          <p:cNvGrpSpPr/>
          <p:nvPr/>
        </p:nvGrpSpPr>
        <p:grpSpPr>
          <a:xfrm rot="0">
            <a:off x="4046220" y="2057400"/>
            <a:ext cx="8092440" cy="768096"/>
            <a:chOff x="0" y="0"/>
            <a:chExt cx="10789920" cy="1024128"/>
          </a:xfrm>
        </p:grpSpPr>
        <p:sp>
          <p:nvSpPr>
            <p:cNvPr name="Freeform 14" id="14"/>
            <p:cNvSpPr/>
            <p:nvPr/>
          </p:nvSpPr>
          <p:spPr>
            <a:xfrm flipH="false" flipV="false" rot="0">
              <a:off x="0" y="0"/>
              <a:ext cx="10789920" cy="1024128"/>
            </a:xfrm>
            <a:custGeom>
              <a:avLst/>
              <a:gdLst/>
              <a:ahLst/>
              <a:cxnLst/>
              <a:rect r="r" b="b" t="t" l="l"/>
              <a:pathLst>
                <a:path h="1024128" w="10789920">
                  <a:moveTo>
                    <a:pt x="0" y="0"/>
                  </a:moveTo>
                  <a:lnTo>
                    <a:pt x="10789920" y="0"/>
                  </a:lnTo>
                  <a:lnTo>
                    <a:pt x="10789920" y="1024128"/>
                  </a:lnTo>
                  <a:lnTo>
                    <a:pt x="0" y="1024128"/>
                  </a:lnTo>
                  <a:close/>
                </a:path>
              </a:pathLst>
            </a:custGeom>
            <a:blipFill>
              <a:blip r:embed="rId3">
                <a:alphaModFix amt="0"/>
              </a:blip>
              <a:stretch>
                <a:fillRect l="0" t="-155288" r="0" b="-155288"/>
              </a:stretch>
            </a:blipFill>
          </p:spPr>
        </p:sp>
        <p:sp>
          <p:nvSpPr>
            <p:cNvPr name="TextBox 15" id="15"/>
            <p:cNvSpPr txBox="true"/>
            <p:nvPr/>
          </p:nvSpPr>
          <p:spPr>
            <a:xfrm>
              <a:off x="0" y="-38100"/>
              <a:ext cx="10789920" cy="1062228"/>
            </a:xfrm>
            <a:prstGeom prst="rect">
              <a:avLst/>
            </a:prstGeom>
          </p:spPr>
          <p:txBody>
            <a:bodyPr anchor="ctr" rtlCol="false" tIns="0" lIns="0" bIns="0" rIns="0"/>
            <a:lstStyle/>
            <a:p>
              <a:pPr algn="l">
                <a:lnSpc>
                  <a:spcPts val="2160"/>
                </a:lnSpc>
              </a:pPr>
              <a:r>
                <a:rPr lang="en-US" sz="1800">
                  <a:solidFill>
                    <a:srgbClr val="F1F5FF"/>
                  </a:solidFill>
                  <a:latin typeface="Calibri (MS)"/>
                  <a:ea typeface="Calibri (MS)"/>
                  <a:cs typeface="Calibri (MS)"/>
                  <a:sym typeface="Calibri (MS)"/>
                </a:rPr>
                <a:t>FastAPI · Uvicorn · Pydantic</a:t>
              </a:r>
            </a:p>
          </p:txBody>
        </p:sp>
      </p:grpSp>
      <p:grpSp>
        <p:nvGrpSpPr>
          <p:cNvPr name="Group 16" id="16"/>
          <p:cNvGrpSpPr/>
          <p:nvPr/>
        </p:nvGrpSpPr>
        <p:grpSpPr>
          <a:xfrm rot="0">
            <a:off x="960120" y="2935224"/>
            <a:ext cx="11109960" cy="768096"/>
            <a:chOff x="0" y="0"/>
            <a:chExt cx="14813280" cy="1024128"/>
          </a:xfrm>
        </p:grpSpPr>
        <p:sp>
          <p:nvSpPr>
            <p:cNvPr name="Freeform 17" id="17"/>
            <p:cNvSpPr/>
            <p:nvPr/>
          </p:nvSpPr>
          <p:spPr>
            <a:xfrm flipH="false" flipV="false" rot="0">
              <a:off x="0" y="0"/>
              <a:ext cx="14813280" cy="1024128"/>
            </a:xfrm>
            <a:custGeom>
              <a:avLst/>
              <a:gdLst/>
              <a:ahLst/>
              <a:cxnLst/>
              <a:rect r="r" b="b" t="t" l="l"/>
              <a:pathLst>
                <a:path h="1024128" w="14813280">
                  <a:moveTo>
                    <a:pt x="0" y="109728"/>
                  </a:moveTo>
                  <a:cubicBezTo>
                    <a:pt x="0" y="49149"/>
                    <a:pt x="49149" y="0"/>
                    <a:pt x="109728" y="0"/>
                  </a:cubicBezTo>
                  <a:lnTo>
                    <a:pt x="14703552" y="0"/>
                  </a:lnTo>
                  <a:cubicBezTo>
                    <a:pt x="14764131" y="0"/>
                    <a:pt x="14813280" y="49149"/>
                    <a:pt x="14813280" y="109728"/>
                  </a:cubicBezTo>
                  <a:lnTo>
                    <a:pt x="14813280" y="914400"/>
                  </a:lnTo>
                  <a:cubicBezTo>
                    <a:pt x="14813280" y="974979"/>
                    <a:pt x="14764131" y="1024128"/>
                    <a:pt x="14703552" y="1024128"/>
                  </a:cubicBezTo>
                  <a:lnTo>
                    <a:pt x="109728" y="1024128"/>
                  </a:lnTo>
                  <a:cubicBezTo>
                    <a:pt x="49149" y="1024128"/>
                    <a:pt x="0" y="974979"/>
                    <a:pt x="0" y="914400"/>
                  </a:cubicBezTo>
                  <a:close/>
                </a:path>
              </a:pathLst>
            </a:custGeom>
            <a:solidFill>
              <a:srgbClr val="0F766E"/>
            </a:solidFill>
          </p:spPr>
        </p:sp>
      </p:grpSp>
      <p:grpSp>
        <p:nvGrpSpPr>
          <p:cNvPr name="Group 18" id="18"/>
          <p:cNvGrpSpPr/>
          <p:nvPr/>
        </p:nvGrpSpPr>
        <p:grpSpPr>
          <a:xfrm rot="0">
            <a:off x="1234440" y="2935224"/>
            <a:ext cx="2743200" cy="768096"/>
            <a:chOff x="0" y="0"/>
            <a:chExt cx="3657600" cy="1024128"/>
          </a:xfrm>
        </p:grpSpPr>
        <p:sp>
          <p:nvSpPr>
            <p:cNvPr name="Freeform 19" id="19"/>
            <p:cNvSpPr/>
            <p:nvPr/>
          </p:nvSpPr>
          <p:spPr>
            <a:xfrm flipH="false" flipV="false" rot="0">
              <a:off x="0" y="0"/>
              <a:ext cx="3657600" cy="1024128"/>
            </a:xfrm>
            <a:custGeom>
              <a:avLst/>
              <a:gdLst/>
              <a:ahLst/>
              <a:cxnLst/>
              <a:rect r="r" b="b" t="t" l="l"/>
              <a:pathLst>
                <a:path h="1024128" w="3657600">
                  <a:moveTo>
                    <a:pt x="0" y="0"/>
                  </a:moveTo>
                  <a:lnTo>
                    <a:pt x="3657600" y="0"/>
                  </a:lnTo>
                  <a:lnTo>
                    <a:pt x="3657600" y="1024128"/>
                  </a:lnTo>
                  <a:lnTo>
                    <a:pt x="0" y="1024128"/>
                  </a:lnTo>
                  <a:close/>
                </a:path>
              </a:pathLst>
            </a:custGeom>
            <a:blipFill>
              <a:blip r:embed="rId3">
                <a:alphaModFix amt="0"/>
              </a:blip>
              <a:stretch>
                <a:fillRect l="0" t="-19589" r="0" b="-19589"/>
              </a:stretch>
            </a:blipFill>
          </p:spPr>
        </p:sp>
        <p:sp>
          <p:nvSpPr>
            <p:cNvPr name="TextBox 20" id="20"/>
            <p:cNvSpPr txBox="true"/>
            <p:nvPr/>
          </p:nvSpPr>
          <p:spPr>
            <a:xfrm>
              <a:off x="0" y="-38100"/>
              <a:ext cx="3657600" cy="1062228"/>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Agents</a:t>
              </a:r>
            </a:p>
          </p:txBody>
        </p:sp>
      </p:grpSp>
      <p:grpSp>
        <p:nvGrpSpPr>
          <p:cNvPr name="Group 21" id="21"/>
          <p:cNvGrpSpPr/>
          <p:nvPr/>
        </p:nvGrpSpPr>
        <p:grpSpPr>
          <a:xfrm rot="0">
            <a:off x="4046220" y="2935224"/>
            <a:ext cx="8092440" cy="768096"/>
            <a:chOff x="0" y="0"/>
            <a:chExt cx="10789920" cy="1024128"/>
          </a:xfrm>
        </p:grpSpPr>
        <p:sp>
          <p:nvSpPr>
            <p:cNvPr name="Freeform 22" id="22"/>
            <p:cNvSpPr/>
            <p:nvPr/>
          </p:nvSpPr>
          <p:spPr>
            <a:xfrm flipH="false" flipV="false" rot="0">
              <a:off x="0" y="0"/>
              <a:ext cx="10789920" cy="1024128"/>
            </a:xfrm>
            <a:custGeom>
              <a:avLst/>
              <a:gdLst/>
              <a:ahLst/>
              <a:cxnLst/>
              <a:rect r="r" b="b" t="t" l="l"/>
              <a:pathLst>
                <a:path h="1024128" w="10789920">
                  <a:moveTo>
                    <a:pt x="0" y="0"/>
                  </a:moveTo>
                  <a:lnTo>
                    <a:pt x="10789920" y="0"/>
                  </a:lnTo>
                  <a:lnTo>
                    <a:pt x="10789920" y="1024128"/>
                  </a:lnTo>
                  <a:lnTo>
                    <a:pt x="0" y="1024128"/>
                  </a:lnTo>
                  <a:close/>
                </a:path>
              </a:pathLst>
            </a:custGeom>
            <a:blipFill>
              <a:blip r:embed="rId3">
                <a:alphaModFix amt="0"/>
              </a:blip>
              <a:stretch>
                <a:fillRect l="0" t="-155288" r="0" b="-155288"/>
              </a:stretch>
            </a:blipFill>
          </p:spPr>
        </p:sp>
        <p:sp>
          <p:nvSpPr>
            <p:cNvPr name="TextBox 23" id="23"/>
            <p:cNvSpPr txBox="true"/>
            <p:nvPr/>
          </p:nvSpPr>
          <p:spPr>
            <a:xfrm>
              <a:off x="0" y="-38100"/>
              <a:ext cx="10789920" cy="1062228"/>
            </a:xfrm>
            <a:prstGeom prst="rect">
              <a:avLst/>
            </a:prstGeom>
          </p:spPr>
          <p:txBody>
            <a:bodyPr anchor="ctr" rtlCol="false" tIns="0" lIns="0" bIns="0" rIns="0"/>
            <a:lstStyle/>
            <a:p>
              <a:pPr algn="l">
                <a:lnSpc>
                  <a:spcPts val="2160"/>
                </a:lnSpc>
              </a:pPr>
              <a:r>
                <a:rPr lang="en-US" sz="1800">
                  <a:solidFill>
                    <a:srgbClr val="F1F5FF"/>
                  </a:solidFill>
                  <a:latin typeface="Calibri (MS)"/>
                  <a:ea typeface="Calibri (MS)"/>
                  <a:cs typeface="Calibri (MS)"/>
                  <a:sym typeface="Calibri (MS)"/>
                </a:rPr>
                <a:t>LangGraph </a:t>
              </a:r>
            </a:p>
          </p:txBody>
        </p:sp>
      </p:grpSp>
      <p:grpSp>
        <p:nvGrpSpPr>
          <p:cNvPr name="Group 24" id="24"/>
          <p:cNvGrpSpPr/>
          <p:nvPr/>
        </p:nvGrpSpPr>
        <p:grpSpPr>
          <a:xfrm rot="0">
            <a:off x="960120" y="3813048"/>
            <a:ext cx="11109960" cy="768096"/>
            <a:chOff x="0" y="0"/>
            <a:chExt cx="14813280" cy="1024128"/>
          </a:xfrm>
        </p:grpSpPr>
        <p:sp>
          <p:nvSpPr>
            <p:cNvPr name="Freeform 25" id="25"/>
            <p:cNvSpPr/>
            <p:nvPr/>
          </p:nvSpPr>
          <p:spPr>
            <a:xfrm flipH="false" flipV="false" rot="0">
              <a:off x="0" y="0"/>
              <a:ext cx="14813280" cy="1024128"/>
            </a:xfrm>
            <a:custGeom>
              <a:avLst/>
              <a:gdLst/>
              <a:ahLst/>
              <a:cxnLst/>
              <a:rect r="r" b="b" t="t" l="l"/>
              <a:pathLst>
                <a:path h="1024128" w="14813280">
                  <a:moveTo>
                    <a:pt x="0" y="109728"/>
                  </a:moveTo>
                  <a:cubicBezTo>
                    <a:pt x="0" y="49149"/>
                    <a:pt x="49149" y="0"/>
                    <a:pt x="109728" y="0"/>
                  </a:cubicBezTo>
                  <a:lnTo>
                    <a:pt x="14703552" y="0"/>
                  </a:lnTo>
                  <a:cubicBezTo>
                    <a:pt x="14764131" y="0"/>
                    <a:pt x="14813280" y="49149"/>
                    <a:pt x="14813280" y="109728"/>
                  </a:cubicBezTo>
                  <a:lnTo>
                    <a:pt x="14813280" y="914400"/>
                  </a:lnTo>
                  <a:cubicBezTo>
                    <a:pt x="14813280" y="974979"/>
                    <a:pt x="14764131" y="1024128"/>
                    <a:pt x="14703552" y="1024128"/>
                  </a:cubicBezTo>
                  <a:lnTo>
                    <a:pt x="109728" y="1024128"/>
                  </a:lnTo>
                  <a:cubicBezTo>
                    <a:pt x="49149" y="1024128"/>
                    <a:pt x="0" y="974979"/>
                    <a:pt x="0" y="914400"/>
                  </a:cubicBezTo>
                  <a:close/>
                </a:path>
              </a:pathLst>
            </a:custGeom>
            <a:solidFill>
              <a:srgbClr val="D97706"/>
            </a:solidFill>
          </p:spPr>
        </p:sp>
      </p:grpSp>
      <p:grpSp>
        <p:nvGrpSpPr>
          <p:cNvPr name="Group 26" id="26"/>
          <p:cNvGrpSpPr/>
          <p:nvPr/>
        </p:nvGrpSpPr>
        <p:grpSpPr>
          <a:xfrm rot="0">
            <a:off x="1234440" y="3813048"/>
            <a:ext cx="2743200" cy="768096"/>
            <a:chOff x="0" y="0"/>
            <a:chExt cx="3657600" cy="1024128"/>
          </a:xfrm>
        </p:grpSpPr>
        <p:sp>
          <p:nvSpPr>
            <p:cNvPr name="Freeform 27" id="27"/>
            <p:cNvSpPr/>
            <p:nvPr/>
          </p:nvSpPr>
          <p:spPr>
            <a:xfrm flipH="false" flipV="false" rot="0">
              <a:off x="0" y="0"/>
              <a:ext cx="3657600" cy="1024128"/>
            </a:xfrm>
            <a:custGeom>
              <a:avLst/>
              <a:gdLst/>
              <a:ahLst/>
              <a:cxnLst/>
              <a:rect r="r" b="b" t="t" l="l"/>
              <a:pathLst>
                <a:path h="1024128" w="3657600">
                  <a:moveTo>
                    <a:pt x="0" y="0"/>
                  </a:moveTo>
                  <a:lnTo>
                    <a:pt x="3657600" y="0"/>
                  </a:lnTo>
                  <a:lnTo>
                    <a:pt x="3657600" y="1024128"/>
                  </a:lnTo>
                  <a:lnTo>
                    <a:pt x="0" y="1024128"/>
                  </a:lnTo>
                  <a:close/>
                </a:path>
              </a:pathLst>
            </a:custGeom>
            <a:blipFill>
              <a:blip r:embed="rId3">
                <a:alphaModFix amt="0"/>
              </a:blip>
              <a:stretch>
                <a:fillRect l="0" t="-19589" r="0" b="-19589"/>
              </a:stretch>
            </a:blipFill>
          </p:spPr>
        </p:sp>
        <p:sp>
          <p:nvSpPr>
            <p:cNvPr name="TextBox 28" id="28"/>
            <p:cNvSpPr txBox="true"/>
            <p:nvPr/>
          </p:nvSpPr>
          <p:spPr>
            <a:xfrm>
              <a:off x="0" y="-38100"/>
              <a:ext cx="3657600" cy="1062228"/>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LLM Provider</a:t>
              </a:r>
            </a:p>
          </p:txBody>
        </p:sp>
      </p:grpSp>
      <p:grpSp>
        <p:nvGrpSpPr>
          <p:cNvPr name="Group 29" id="29"/>
          <p:cNvGrpSpPr/>
          <p:nvPr/>
        </p:nvGrpSpPr>
        <p:grpSpPr>
          <a:xfrm rot="0">
            <a:off x="4046220" y="3813048"/>
            <a:ext cx="8092440" cy="768096"/>
            <a:chOff x="0" y="0"/>
            <a:chExt cx="10789920" cy="1024128"/>
          </a:xfrm>
        </p:grpSpPr>
        <p:sp>
          <p:nvSpPr>
            <p:cNvPr name="Freeform 30" id="30"/>
            <p:cNvSpPr/>
            <p:nvPr/>
          </p:nvSpPr>
          <p:spPr>
            <a:xfrm flipH="false" flipV="false" rot="0">
              <a:off x="0" y="0"/>
              <a:ext cx="10789920" cy="1024128"/>
            </a:xfrm>
            <a:custGeom>
              <a:avLst/>
              <a:gdLst/>
              <a:ahLst/>
              <a:cxnLst/>
              <a:rect r="r" b="b" t="t" l="l"/>
              <a:pathLst>
                <a:path h="1024128" w="10789920">
                  <a:moveTo>
                    <a:pt x="0" y="0"/>
                  </a:moveTo>
                  <a:lnTo>
                    <a:pt x="10789920" y="0"/>
                  </a:lnTo>
                  <a:lnTo>
                    <a:pt x="10789920" y="1024128"/>
                  </a:lnTo>
                  <a:lnTo>
                    <a:pt x="0" y="1024128"/>
                  </a:lnTo>
                  <a:close/>
                </a:path>
              </a:pathLst>
            </a:custGeom>
            <a:blipFill>
              <a:blip r:embed="rId3">
                <a:alphaModFix amt="0"/>
              </a:blip>
              <a:stretch>
                <a:fillRect l="0" t="-155288" r="0" b="-155288"/>
              </a:stretch>
            </a:blipFill>
          </p:spPr>
        </p:sp>
        <p:sp>
          <p:nvSpPr>
            <p:cNvPr name="TextBox 31" id="31"/>
            <p:cNvSpPr txBox="true"/>
            <p:nvPr/>
          </p:nvSpPr>
          <p:spPr>
            <a:xfrm>
              <a:off x="0" y="-38100"/>
              <a:ext cx="10789920" cy="1062228"/>
            </a:xfrm>
            <a:prstGeom prst="rect">
              <a:avLst/>
            </a:prstGeom>
          </p:spPr>
          <p:txBody>
            <a:bodyPr anchor="ctr" rtlCol="false" tIns="0" lIns="0" bIns="0" rIns="0"/>
            <a:lstStyle/>
            <a:p>
              <a:pPr algn="l">
                <a:lnSpc>
                  <a:spcPts val="2160"/>
                </a:lnSpc>
              </a:pPr>
              <a:r>
                <a:rPr lang="en-US" sz="1800">
                  <a:solidFill>
                    <a:srgbClr val="F1F5FF"/>
                  </a:solidFill>
                  <a:latin typeface="Calibri (MS)"/>
                  <a:ea typeface="Calibri (MS)"/>
                  <a:cs typeface="Calibri (MS)"/>
                  <a:sym typeface="Calibri (MS)"/>
                </a:rPr>
                <a:t>OpenRouter (Llama 3.1 8B Instruct)</a:t>
              </a:r>
            </a:p>
          </p:txBody>
        </p:sp>
      </p:grpSp>
      <p:grpSp>
        <p:nvGrpSpPr>
          <p:cNvPr name="Group 32" id="32"/>
          <p:cNvGrpSpPr/>
          <p:nvPr/>
        </p:nvGrpSpPr>
        <p:grpSpPr>
          <a:xfrm rot="0">
            <a:off x="960120" y="4690872"/>
            <a:ext cx="11109960" cy="768096"/>
            <a:chOff x="0" y="0"/>
            <a:chExt cx="14813280" cy="1024128"/>
          </a:xfrm>
        </p:grpSpPr>
        <p:sp>
          <p:nvSpPr>
            <p:cNvPr name="Freeform 33" id="33"/>
            <p:cNvSpPr/>
            <p:nvPr/>
          </p:nvSpPr>
          <p:spPr>
            <a:xfrm flipH="false" flipV="false" rot="0">
              <a:off x="0" y="0"/>
              <a:ext cx="14813280" cy="1024128"/>
            </a:xfrm>
            <a:custGeom>
              <a:avLst/>
              <a:gdLst/>
              <a:ahLst/>
              <a:cxnLst/>
              <a:rect r="r" b="b" t="t" l="l"/>
              <a:pathLst>
                <a:path h="1024128" w="14813280">
                  <a:moveTo>
                    <a:pt x="0" y="109728"/>
                  </a:moveTo>
                  <a:cubicBezTo>
                    <a:pt x="0" y="49149"/>
                    <a:pt x="49149" y="0"/>
                    <a:pt x="109728" y="0"/>
                  </a:cubicBezTo>
                  <a:lnTo>
                    <a:pt x="14703552" y="0"/>
                  </a:lnTo>
                  <a:cubicBezTo>
                    <a:pt x="14764131" y="0"/>
                    <a:pt x="14813280" y="49149"/>
                    <a:pt x="14813280" y="109728"/>
                  </a:cubicBezTo>
                  <a:lnTo>
                    <a:pt x="14813280" y="914400"/>
                  </a:lnTo>
                  <a:cubicBezTo>
                    <a:pt x="14813280" y="974979"/>
                    <a:pt x="14764131" y="1024128"/>
                    <a:pt x="14703552" y="1024128"/>
                  </a:cubicBezTo>
                  <a:lnTo>
                    <a:pt x="109728" y="1024128"/>
                  </a:lnTo>
                  <a:cubicBezTo>
                    <a:pt x="49149" y="1024128"/>
                    <a:pt x="0" y="974979"/>
                    <a:pt x="0" y="914400"/>
                  </a:cubicBezTo>
                  <a:close/>
                </a:path>
              </a:pathLst>
            </a:custGeom>
            <a:solidFill>
              <a:srgbClr val="D97706"/>
            </a:solidFill>
          </p:spPr>
        </p:sp>
      </p:grpSp>
      <p:grpSp>
        <p:nvGrpSpPr>
          <p:cNvPr name="Group 34" id="34"/>
          <p:cNvGrpSpPr/>
          <p:nvPr/>
        </p:nvGrpSpPr>
        <p:grpSpPr>
          <a:xfrm rot="0">
            <a:off x="1234440" y="4690872"/>
            <a:ext cx="2743200" cy="768096"/>
            <a:chOff x="0" y="0"/>
            <a:chExt cx="3657600" cy="1024128"/>
          </a:xfrm>
        </p:grpSpPr>
        <p:sp>
          <p:nvSpPr>
            <p:cNvPr name="Freeform 35" id="35"/>
            <p:cNvSpPr/>
            <p:nvPr/>
          </p:nvSpPr>
          <p:spPr>
            <a:xfrm flipH="false" flipV="false" rot="0">
              <a:off x="0" y="0"/>
              <a:ext cx="3657600" cy="1024128"/>
            </a:xfrm>
            <a:custGeom>
              <a:avLst/>
              <a:gdLst/>
              <a:ahLst/>
              <a:cxnLst/>
              <a:rect r="r" b="b" t="t" l="l"/>
              <a:pathLst>
                <a:path h="1024128" w="3657600">
                  <a:moveTo>
                    <a:pt x="0" y="0"/>
                  </a:moveTo>
                  <a:lnTo>
                    <a:pt x="3657600" y="0"/>
                  </a:lnTo>
                  <a:lnTo>
                    <a:pt x="3657600" y="1024128"/>
                  </a:lnTo>
                  <a:lnTo>
                    <a:pt x="0" y="1024128"/>
                  </a:lnTo>
                  <a:close/>
                </a:path>
              </a:pathLst>
            </a:custGeom>
            <a:blipFill>
              <a:blip r:embed="rId3">
                <a:alphaModFix amt="0"/>
              </a:blip>
              <a:stretch>
                <a:fillRect l="0" t="-19589" r="0" b="-19589"/>
              </a:stretch>
            </a:blipFill>
          </p:spPr>
        </p:sp>
        <p:sp>
          <p:nvSpPr>
            <p:cNvPr name="TextBox 36" id="36"/>
            <p:cNvSpPr txBox="true"/>
            <p:nvPr/>
          </p:nvSpPr>
          <p:spPr>
            <a:xfrm>
              <a:off x="0" y="-38100"/>
              <a:ext cx="3657600" cy="1062228"/>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Search</a:t>
              </a:r>
            </a:p>
          </p:txBody>
        </p:sp>
      </p:grpSp>
      <p:grpSp>
        <p:nvGrpSpPr>
          <p:cNvPr name="Group 37" id="37"/>
          <p:cNvGrpSpPr/>
          <p:nvPr/>
        </p:nvGrpSpPr>
        <p:grpSpPr>
          <a:xfrm rot="0">
            <a:off x="4046220" y="4690872"/>
            <a:ext cx="8092440" cy="768096"/>
            <a:chOff x="0" y="0"/>
            <a:chExt cx="10789920" cy="1024128"/>
          </a:xfrm>
        </p:grpSpPr>
        <p:sp>
          <p:nvSpPr>
            <p:cNvPr name="Freeform 38" id="38"/>
            <p:cNvSpPr/>
            <p:nvPr/>
          </p:nvSpPr>
          <p:spPr>
            <a:xfrm flipH="false" flipV="false" rot="0">
              <a:off x="0" y="0"/>
              <a:ext cx="10789920" cy="1024128"/>
            </a:xfrm>
            <a:custGeom>
              <a:avLst/>
              <a:gdLst/>
              <a:ahLst/>
              <a:cxnLst/>
              <a:rect r="r" b="b" t="t" l="l"/>
              <a:pathLst>
                <a:path h="1024128" w="10789920">
                  <a:moveTo>
                    <a:pt x="0" y="0"/>
                  </a:moveTo>
                  <a:lnTo>
                    <a:pt x="10789920" y="0"/>
                  </a:lnTo>
                  <a:lnTo>
                    <a:pt x="10789920" y="1024128"/>
                  </a:lnTo>
                  <a:lnTo>
                    <a:pt x="0" y="1024128"/>
                  </a:lnTo>
                  <a:close/>
                </a:path>
              </a:pathLst>
            </a:custGeom>
            <a:blipFill>
              <a:blip r:embed="rId3">
                <a:alphaModFix amt="0"/>
              </a:blip>
              <a:stretch>
                <a:fillRect l="0" t="-155288" r="0" b="-155288"/>
              </a:stretch>
            </a:blipFill>
          </p:spPr>
        </p:sp>
        <p:sp>
          <p:nvSpPr>
            <p:cNvPr name="TextBox 39" id="39"/>
            <p:cNvSpPr txBox="true"/>
            <p:nvPr/>
          </p:nvSpPr>
          <p:spPr>
            <a:xfrm>
              <a:off x="0" y="-38100"/>
              <a:ext cx="10789920" cy="1062228"/>
            </a:xfrm>
            <a:prstGeom prst="rect">
              <a:avLst/>
            </a:prstGeom>
          </p:spPr>
          <p:txBody>
            <a:bodyPr anchor="ctr" rtlCol="false" tIns="0" lIns="0" bIns="0" rIns="0"/>
            <a:lstStyle/>
            <a:p>
              <a:pPr algn="l">
                <a:lnSpc>
                  <a:spcPts val="2160"/>
                </a:lnSpc>
              </a:pPr>
              <a:r>
                <a:rPr lang="en-US" sz="1800">
                  <a:solidFill>
                    <a:srgbClr val="F1F5FF"/>
                  </a:solidFill>
                  <a:latin typeface="Calibri (MS)"/>
                  <a:ea typeface="Calibri (MS)"/>
                  <a:cs typeface="Calibri (MS)"/>
                  <a:sym typeface="Calibri (MS)"/>
                </a:rPr>
                <a:t>Tavily</a:t>
              </a:r>
            </a:p>
          </p:txBody>
        </p:sp>
      </p:grpSp>
      <p:grpSp>
        <p:nvGrpSpPr>
          <p:cNvPr name="Group 40" id="40"/>
          <p:cNvGrpSpPr/>
          <p:nvPr/>
        </p:nvGrpSpPr>
        <p:grpSpPr>
          <a:xfrm rot="0">
            <a:off x="960120" y="5568696"/>
            <a:ext cx="11109960" cy="768096"/>
            <a:chOff x="0" y="0"/>
            <a:chExt cx="14813280" cy="1024128"/>
          </a:xfrm>
        </p:grpSpPr>
        <p:sp>
          <p:nvSpPr>
            <p:cNvPr name="Freeform 41" id="41"/>
            <p:cNvSpPr/>
            <p:nvPr/>
          </p:nvSpPr>
          <p:spPr>
            <a:xfrm flipH="false" flipV="false" rot="0">
              <a:off x="0" y="0"/>
              <a:ext cx="14813280" cy="1024128"/>
            </a:xfrm>
            <a:custGeom>
              <a:avLst/>
              <a:gdLst/>
              <a:ahLst/>
              <a:cxnLst/>
              <a:rect r="r" b="b" t="t" l="l"/>
              <a:pathLst>
                <a:path h="1024128" w="14813280">
                  <a:moveTo>
                    <a:pt x="0" y="109728"/>
                  </a:moveTo>
                  <a:cubicBezTo>
                    <a:pt x="0" y="49149"/>
                    <a:pt x="49149" y="0"/>
                    <a:pt x="109728" y="0"/>
                  </a:cubicBezTo>
                  <a:lnTo>
                    <a:pt x="14703552" y="0"/>
                  </a:lnTo>
                  <a:cubicBezTo>
                    <a:pt x="14764131" y="0"/>
                    <a:pt x="14813280" y="49149"/>
                    <a:pt x="14813280" y="109728"/>
                  </a:cubicBezTo>
                  <a:lnTo>
                    <a:pt x="14813280" y="914400"/>
                  </a:lnTo>
                  <a:cubicBezTo>
                    <a:pt x="14813280" y="974979"/>
                    <a:pt x="14764131" y="1024128"/>
                    <a:pt x="14703552" y="1024128"/>
                  </a:cubicBezTo>
                  <a:lnTo>
                    <a:pt x="109728" y="1024128"/>
                  </a:lnTo>
                  <a:cubicBezTo>
                    <a:pt x="49149" y="1024128"/>
                    <a:pt x="0" y="974979"/>
                    <a:pt x="0" y="914400"/>
                  </a:cubicBezTo>
                  <a:close/>
                </a:path>
              </a:pathLst>
            </a:custGeom>
            <a:solidFill>
              <a:srgbClr val="5B21B6"/>
            </a:solidFill>
          </p:spPr>
        </p:sp>
      </p:grpSp>
      <p:grpSp>
        <p:nvGrpSpPr>
          <p:cNvPr name="Group 42" id="42"/>
          <p:cNvGrpSpPr/>
          <p:nvPr/>
        </p:nvGrpSpPr>
        <p:grpSpPr>
          <a:xfrm rot="0">
            <a:off x="1234440" y="5568696"/>
            <a:ext cx="2743200" cy="768096"/>
            <a:chOff x="0" y="0"/>
            <a:chExt cx="3657600" cy="1024128"/>
          </a:xfrm>
        </p:grpSpPr>
        <p:sp>
          <p:nvSpPr>
            <p:cNvPr name="Freeform 43" id="43"/>
            <p:cNvSpPr/>
            <p:nvPr/>
          </p:nvSpPr>
          <p:spPr>
            <a:xfrm flipH="false" flipV="false" rot="0">
              <a:off x="0" y="0"/>
              <a:ext cx="3657600" cy="1024128"/>
            </a:xfrm>
            <a:custGeom>
              <a:avLst/>
              <a:gdLst/>
              <a:ahLst/>
              <a:cxnLst/>
              <a:rect r="r" b="b" t="t" l="l"/>
              <a:pathLst>
                <a:path h="1024128" w="3657600">
                  <a:moveTo>
                    <a:pt x="0" y="0"/>
                  </a:moveTo>
                  <a:lnTo>
                    <a:pt x="3657600" y="0"/>
                  </a:lnTo>
                  <a:lnTo>
                    <a:pt x="3657600" y="1024128"/>
                  </a:lnTo>
                  <a:lnTo>
                    <a:pt x="0" y="1024128"/>
                  </a:lnTo>
                  <a:close/>
                </a:path>
              </a:pathLst>
            </a:custGeom>
            <a:blipFill>
              <a:blip r:embed="rId3">
                <a:alphaModFix amt="0"/>
              </a:blip>
              <a:stretch>
                <a:fillRect l="0" t="-19589" r="0" b="-19589"/>
              </a:stretch>
            </a:blipFill>
          </p:spPr>
        </p:sp>
        <p:sp>
          <p:nvSpPr>
            <p:cNvPr name="TextBox 44" id="44"/>
            <p:cNvSpPr txBox="true"/>
            <p:nvPr/>
          </p:nvSpPr>
          <p:spPr>
            <a:xfrm>
              <a:off x="0" y="-38100"/>
              <a:ext cx="3657600" cy="1062228"/>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Database</a:t>
              </a:r>
            </a:p>
          </p:txBody>
        </p:sp>
      </p:grpSp>
      <p:grpSp>
        <p:nvGrpSpPr>
          <p:cNvPr name="Group 45" id="45"/>
          <p:cNvGrpSpPr/>
          <p:nvPr/>
        </p:nvGrpSpPr>
        <p:grpSpPr>
          <a:xfrm rot="0">
            <a:off x="4046220" y="5568696"/>
            <a:ext cx="8092440" cy="768096"/>
            <a:chOff x="0" y="0"/>
            <a:chExt cx="10789920" cy="1024128"/>
          </a:xfrm>
        </p:grpSpPr>
        <p:sp>
          <p:nvSpPr>
            <p:cNvPr name="Freeform 46" id="46"/>
            <p:cNvSpPr/>
            <p:nvPr/>
          </p:nvSpPr>
          <p:spPr>
            <a:xfrm flipH="false" flipV="false" rot="0">
              <a:off x="0" y="0"/>
              <a:ext cx="10789920" cy="1024128"/>
            </a:xfrm>
            <a:custGeom>
              <a:avLst/>
              <a:gdLst/>
              <a:ahLst/>
              <a:cxnLst/>
              <a:rect r="r" b="b" t="t" l="l"/>
              <a:pathLst>
                <a:path h="1024128" w="10789920">
                  <a:moveTo>
                    <a:pt x="0" y="0"/>
                  </a:moveTo>
                  <a:lnTo>
                    <a:pt x="10789920" y="0"/>
                  </a:lnTo>
                  <a:lnTo>
                    <a:pt x="10789920" y="1024128"/>
                  </a:lnTo>
                  <a:lnTo>
                    <a:pt x="0" y="1024128"/>
                  </a:lnTo>
                  <a:close/>
                </a:path>
              </a:pathLst>
            </a:custGeom>
            <a:blipFill>
              <a:blip r:embed="rId3">
                <a:alphaModFix amt="0"/>
              </a:blip>
              <a:stretch>
                <a:fillRect l="0" t="-155288" r="0" b="-155288"/>
              </a:stretch>
            </a:blipFill>
          </p:spPr>
        </p:sp>
        <p:sp>
          <p:nvSpPr>
            <p:cNvPr name="TextBox 47" id="47"/>
            <p:cNvSpPr txBox="true"/>
            <p:nvPr/>
          </p:nvSpPr>
          <p:spPr>
            <a:xfrm>
              <a:off x="0" y="-38100"/>
              <a:ext cx="10789920" cy="1062228"/>
            </a:xfrm>
            <a:prstGeom prst="rect">
              <a:avLst/>
            </a:prstGeom>
          </p:spPr>
          <p:txBody>
            <a:bodyPr anchor="ctr" rtlCol="false" tIns="0" lIns="0" bIns="0" rIns="0"/>
            <a:lstStyle/>
            <a:p>
              <a:pPr algn="l">
                <a:lnSpc>
                  <a:spcPts val="2160"/>
                </a:lnSpc>
              </a:pPr>
              <a:r>
                <a:rPr lang="en-US" sz="1800">
                  <a:solidFill>
                    <a:srgbClr val="F1F5FF"/>
                  </a:solidFill>
                  <a:latin typeface="Calibri (MS)"/>
                  <a:ea typeface="Calibri (MS)"/>
                  <a:cs typeface="Calibri (MS)"/>
                  <a:sym typeface="Calibri (MS)"/>
                </a:rPr>
                <a:t>PostgreSQL · SQLAlchemy · Alembic</a:t>
              </a:r>
            </a:p>
          </p:txBody>
        </p:sp>
      </p:grpSp>
      <p:grpSp>
        <p:nvGrpSpPr>
          <p:cNvPr name="Group 48" id="48"/>
          <p:cNvGrpSpPr/>
          <p:nvPr/>
        </p:nvGrpSpPr>
        <p:grpSpPr>
          <a:xfrm rot="0">
            <a:off x="960120" y="6446520"/>
            <a:ext cx="11109960" cy="768096"/>
            <a:chOff x="0" y="0"/>
            <a:chExt cx="14813280" cy="1024128"/>
          </a:xfrm>
        </p:grpSpPr>
        <p:sp>
          <p:nvSpPr>
            <p:cNvPr name="Freeform 49" id="49"/>
            <p:cNvSpPr/>
            <p:nvPr/>
          </p:nvSpPr>
          <p:spPr>
            <a:xfrm flipH="false" flipV="false" rot="0">
              <a:off x="0" y="0"/>
              <a:ext cx="14813280" cy="1024128"/>
            </a:xfrm>
            <a:custGeom>
              <a:avLst/>
              <a:gdLst/>
              <a:ahLst/>
              <a:cxnLst/>
              <a:rect r="r" b="b" t="t" l="l"/>
              <a:pathLst>
                <a:path h="1024128" w="14813280">
                  <a:moveTo>
                    <a:pt x="0" y="109728"/>
                  </a:moveTo>
                  <a:cubicBezTo>
                    <a:pt x="0" y="49149"/>
                    <a:pt x="49149" y="0"/>
                    <a:pt x="109728" y="0"/>
                  </a:cubicBezTo>
                  <a:lnTo>
                    <a:pt x="14703552" y="0"/>
                  </a:lnTo>
                  <a:cubicBezTo>
                    <a:pt x="14764131" y="0"/>
                    <a:pt x="14813280" y="49149"/>
                    <a:pt x="14813280" y="109728"/>
                  </a:cubicBezTo>
                  <a:lnTo>
                    <a:pt x="14813280" y="914400"/>
                  </a:lnTo>
                  <a:cubicBezTo>
                    <a:pt x="14813280" y="974979"/>
                    <a:pt x="14764131" y="1024128"/>
                    <a:pt x="14703552" y="1024128"/>
                  </a:cubicBezTo>
                  <a:lnTo>
                    <a:pt x="109728" y="1024128"/>
                  </a:lnTo>
                  <a:cubicBezTo>
                    <a:pt x="49149" y="1024128"/>
                    <a:pt x="0" y="974979"/>
                    <a:pt x="0" y="914400"/>
                  </a:cubicBezTo>
                  <a:close/>
                </a:path>
              </a:pathLst>
            </a:custGeom>
            <a:solidFill>
              <a:srgbClr val="0369A1"/>
            </a:solidFill>
          </p:spPr>
        </p:sp>
      </p:grpSp>
      <p:grpSp>
        <p:nvGrpSpPr>
          <p:cNvPr name="Group 50" id="50"/>
          <p:cNvGrpSpPr/>
          <p:nvPr/>
        </p:nvGrpSpPr>
        <p:grpSpPr>
          <a:xfrm rot="0">
            <a:off x="1234440" y="6446520"/>
            <a:ext cx="2743200" cy="768096"/>
            <a:chOff x="0" y="0"/>
            <a:chExt cx="3657600" cy="1024128"/>
          </a:xfrm>
        </p:grpSpPr>
        <p:sp>
          <p:nvSpPr>
            <p:cNvPr name="Freeform 51" id="51"/>
            <p:cNvSpPr/>
            <p:nvPr/>
          </p:nvSpPr>
          <p:spPr>
            <a:xfrm flipH="false" flipV="false" rot="0">
              <a:off x="0" y="0"/>
              <a:ext cx="3657600" cy="1024128"/>
            </a:xfrm>
            <a:custGeom>
              <a:avLst/>
              <a:gdLst/>
              <a:ahLst/>
              <a:cxnLst/>
              <a:rect r="r" b="b" t="t" l="l"/>
              <a:pathLst>
                <a:path h="1024128" w="3657600">
                  <a:moveTo>
                    <a:pt x="0" y="0"/>
                  </a:moveTo>
                  <a:lnTo>
                    <a:pt x="3657600" y="0"/>
                  </a:lnTo>
                  <a:lnTo>
                    <a:pt x="3657600" y="1024128"/>
                  </a:lnTo>
                  <a:lnTo>
                    <a:pt x="0" y="1024128"/>
                  </a:lnTo>
                  <a:close/>
                </a:path>
              </a:pathLst>
            </a:custGeom>
            <a:blipFill>
              <a:blip r:embed="rId3">
                <a:alphaModFix amt="0"/>
              </a:blip>
              <a:stretch>
                <a:fillRect l="0" t="-19589" r="0" b="-19589"/>
              </a:stretch>
            </a:blipFill>
          </p:spPr>
        </p:sp>
        <p:sp>
          <p:nvSpPr>
            <p:cNvPr name="TextBox 52" id="52"/>
            <p:cNvSpPr txBox="true"/>
            <p:nvPr/>
          </p:nvSpPr>
          <p:spPr>
            <a:xfrm>
              <a:off x="0" y="-38100"/>
              <a:ext cx="3657600" cy="1062228"/>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Testing</a:t>
              </a:r>
            </a:p>
          </p:txBody>
        </p:sp>
      </p:grpSp>
      <p:grpSp>
        <p:nvGrpSpPr>
          <p:cNvPr name="Group 53" id="53"/>
          <p:cNvGrpSpPr/>
          <p:nvPr/>
        </p:nvGrpSpPr>
        <p:grpSpPr>
          <a:xfrm rot="0">
            <a:off x="4046220" y="6446520"/>
            <a:ext cx="8092440" cy="768096"/>
            <a:chOff x="0" y="0"/>
            <a:chExt cx="10789920" cy="1024128"/>
          </a:xfrm>
        </p:grpSpPr>
        <p:sp>
          <p:nvSpPr>
            <p:cNvPr name="Freeform 54" id="54"/>
            <p:cNvSpPr/>
            <p:nvPr/>
          </p:nvSpPr>
          <p:spPr>
            <a:xfrm flipH="false" flipV="false" rot="0">
              <a:off x="0" y="0"/>
              <a:ext cx="10789920" cy="1024128"/>
            </a:xfrm>
            <a:custGeom>
              <a:avLst/>
              <a:gdLst/>
              <a:ahLst/>
              <a:cxnLst/>
              <a:rect r="r" b="b" t="t" l="l"/>
              <a:pathLst>
                <a:path h="1024128" w="10789920">
                  <a:moveTo>
                    <a:pt x="0" y="0"/>
                  </a:moveTo>
                  <a:lnTo>
                    <a:pt x="10789920" y="0"/>
                  </a:lnTo>
                  <a:lnTo>
                    <a:pt x="10789920" y="1024128"/>
                  </a:lnTo>
                  <a:lnTo>
                    <a:pt x="0" y="1024128"/>
                  </a:lnTo>
                  <a:close/>
                </a:path>
              </a:pathLst>
            </a:custGeom>
            <a:blipFill>
              <a:blip r:embed="rId3">
                <a:alphaModFix amt="0"/>
              </a:blip>
              <a:stretch>
                <a:fillRect l="0" t="-155288" r="0" b="-155288"/>
              </a:stretch>
            </a:blipFill>
          </p:spPr>
        </p:sp>
        <p:sp>
          <p:nvSpPr>
            <p:cNvPr name="TextBox 55" id="55"/>
            <p:cNvSpPr txBox="true"/>
            <p:nvPr/>
          </p:nvSpPr>
          <p:spPr>
            <a:xfrm>
              <a:off x="0" y="-38100"/>
              <a:ext cx="10789920" cy="1062228"/>
            </a:xfrm>
            <a:prstGeom prst="rect">
              <a:avLst/>
            </a:prstGeom>
          </p:spPr>
          <p:txBody>
            <a:bodyPr anchor="ctr" rtlCol="false" tIns="0" lIns="0" bIns="0" rIns="0"/>
            <a:lstStyle/>
            <a:p>
              <a:pPr algn="l">
                <a:lnSpc>
                  <a:spcPts val="2160"/>
                </a:lnSpc>
              </a:pPr>
              <a:r>
                <a:rPr lang="en-US" sz="1800">
                  <a:solidFill>
                    <a:srgbClr val="F1F5FF"/>
                  </a:solidFill>
                  <a:latin typeface="Calibri (MS)"/>
                  <a:ea typeface="Calibri (MS)"/>
                  <a:cs typeface="Calibri (MS)"/>
                  <a:sym typeface="Calibri (MS)"/>
                </a:rPr>
                <a:t>pytest · httpx / TestClient</a:t>
              </a:r>
            </a:p>
          </p:txBody>
        </p:sp>
      </p:grpSp>
      <p:grpSp>
        <p:nvGrpSpPr>
          <p:cNvPr name="Group 56" id="56"/>
          <p:cNvGrpSpPr/>
          <p:nvPr/>
        </p:nvGrpSpPr>
        <p:grpSpPr>
          <a:xfrm rot="0">
            <a:off x="960120" y="7324344"/>
            <a:ext cx="11109960" cy="768096"/>
            <a:chOff x="0" y="0"/>
            <a:chExt cx="14813280" cy="1024128"/>
          </a:xfrm>
        </p:grpSpPr>
        <p:sp>
          <p:nvSpPr>
            <p:cNvPr name="Freeform 57" id="57"/>
            <p:cNvSpPr/>
            <p:nvPr/>
          </p:nvSpPr>
          <p:spPr>
            <a:xfrm flipH="false" flipV="false" rot="0">
              <a:off x="0" y="0"/>
              <a:ext cx="14813280" cy="1024128"/>
            </a:xfrm>
            <a:custGeom>
              <a:avLst/>
              <a:gdLst/>
              <a:ahLst/>
              <a:cxnLst/>
              <a:rect r="r" b="b" t="t" l="l"/>
              <a:pathLst>
                <a:path h="1024128" w="14813280">
                  <a:moveTo>
                    <a:pt x="0" y="109728"/>
                  </a:moveTo>
                  <a:cubicBezTo>
                    <a:pt x="0" y="49149"/>
                    <a:pt x="49149" y="0"/>
                    <a:pt x="109728" y="0"/>
                  </a:cubicBezTo>
                  <a:lnTo>
                    <a:pt x="14703552" y="0"/>
                  </a:lnTo>
                  <a:cubicBezTo>
                    <a:pt x="14764131" y="0"/>
                    <a:pt x="14813280" y="49149"/>
                    <a:pt x="14813280" y="109728"/>
                  </a:cubicBezTo>
                  <a:lnTo>
                    <a:pt x="14813280" y="914400"/>
                  </a:lnTo>
                  <a:cubicBezTo>
                    <a:pt x="14813280" y="974979"/>
                    <a:pt x="14764131" y="1024128"/>
                    <a:pt x="14703552" y="1024128"/>
                  </a:cubicBezTo>
                  <a:lnTo>
                    <a:pt x="109728" y="1024128"/>
                  </a:lnTo>
                  <a:cubicBezTo>
                    <a:pt x="49149" y="1024128"/>
                    <a:pt x="0" y="974979"/>
                    <a:pt x="0" y="914400"/>
                  </a:cubicBezTo>
                  <a:close/>
                </a:path>
              </a:pathLst>
            </a:custGeom>
            <a:solidFill>
              <a:srgbClr val="16213E"/>
            </a:solidFill>
          </p:spPr>
        </p:sp>
      </p:grpSp>
      <p:grpSp>
        <p:nvGrpSpPr>
          <p:cNvPr name="Group 58" id="58"/>
          <p:cNvGrpSpPr/>
          <p:nvPr/>
        </p:nvGrpSpPr>
        <p:grpSpPr>
          <a:xfrm rot="0">
            <a:off x="1234440" y="7324344"/>
            <a:ext cx="2743200" cy="768096"/>
            <a:chOff x="0" y="0"/>
            <a:chExt cx="3657600" cy="1024128"/>
          </a:xfrm>
        </p:grpSpPr>
        <p:sp>
          <p:nvSpPr>
            <p:cNvPr name="Freeform 59" id="59"/>
            <p:cNvSpPr/>
            <p:nvPr/>
          </p:nvSpPr>
          <p:spPr>
            <a:xfrm flipH="false" flipV="false" rot="0">
              <a:off x="0" y="0"/>
              <a:ext cx="3657600" cy="1024128"/>
            </a:xfrm>
            <a:custGeom>
              <a:avLst/>
              <a:gdLst/>
              <a:ahLst/>
              <a:cxnLst/>
              <a:rect r="r" b="b" t="t" l="l"/>
              <a:pathLst>
                <a:path h="1024128" w="3657600">
                  <a:moveTo>
                    <a:pt x="0" y="0"/>
                  </a:moveTo>
                  <a:lnTo>
                    <a:pt x="3657600" y="0"/>
                  </a:lnTo>
                  <a:lnTo>
                    <a:pt x="3657600" y="1024128"/>
                  </a:lnTo>
                  <a:lnTo>
                    <a:pt x="0" y="1024128"/>
                  </a:lnTo>
                  <a:close/>
                </a:path>
              </a:pathLst>
            </a:custGeom>
            <a:blipFill>
              <a:blip r:embed="rId3">
                <a:alphaModFix amt="0"/>
              </a:blip>
              <a:stretch>
                <a:fillRect l="0" t="-19589" r="0" b="-19589"/>
              </a:stretch>
            </a:blipFill>
          </p:spPr>
        </p:sp>
        <p:sp>
          <p:nvSpPr>
            <p:cNvPr name="TextBox 60" id="60"/>
            <p:cNvSpPr txBox="true"/>
            <p:nvPr/>
          </p:nvSpPr>
          <p:spPr>
            <a:xfrm>
              <a:off x="0" y="-38100"/>
              <a:ext cx="3657600" cy="1062228"/>
            </a:xfrm>
            <a:prstGeom prst="rect">
              <a:avLst/>
            </a:prstGeom>
          </p:spPr>
          <p:txBody>
            <a:bodyPr anchor="ctr" rtlCol="false" tIns="0" lIns="0" bIns="0" rIns="0"/>
            <a:lstStyle/>
            <a:p>
              <a:pPr algn="l">
                <a:lnSpc>
                  <a:spcPts val="2250"/>
                </a:lnSpc>
              </a:pPr>
              <a:r>
                <a:rPr lang="en-US" sz="1875" b="true">
                  <a:solidFill>
                    <a:srgbClr val="FFFFFF"/>
                  </a:solidFill>
                  <a:latin typeface="Calibri (MS) Bold"/>
                  <a:ea typeface="Calibri (MS) Bold"/>
                  <a:cs typeface="Calibri (MS) Bold"/>
                  <a:sym typeface="Calibri (MS) Bold"/>
                </a:rPr>
                <a:t>Deployment</a:t>
              </a:r>
            </a:p>
          </p:txBody>
        </p:sp>
      </p:grpSp>
      <p:grpSp>
        <p:nvGrpSpPr>
          <p:cNvPr name="Group 61" id="61"/>
          <p:cNvGrpSpPr/>
          <p:nvPr/>
        </p:nvGrpSpPr>
        <p:grpSpPr>
          <a:xfrm rot="0">
            <a:off x="4046220" y="7324344"/>
            <a:ext cx="8092440" cy="768096"/>
            <a:chOff x="0" y="0"/>
            <a:chExt cx="10789920" cy="1024128"/>
          </a:xfrm>
        </p:grpSpPr>
        <p:sp>
          <p:nvSpPr>
            <p:cNvPr name="Freeform 62" id="62"/>
            <p:cNvSpPr/>
            <p:nvPr/>
          </p:nvSpPr>
          <p:spPr>
            <a:xfrm flipH="false" flipV="false" rot="0">
              <a:off x="0" y="0"/>
              <a:ext cx="10789920" cy="1024128"/>
            </a:xfrm>
            <a:custGeom>
              <a:avLst/>
              <a:gdLst/>
              <a:ahLst/>
              <a:cxnLst/>
              <a:rect r="r" b="b" t="t" l="l"/>
              <a:pathLst>
                <a:path h="1024128" w="10789920">
                  <a:moveTo>
                    <a:pt x="0" y="0"/>
                  </a:moveTo>
                  <a:lnTo>
                    <a:pt x="10789920" y="0"/>
                  </a:lnTo>
                  <a:lnTo>
                    <a:pt x="10789920" y="1024128"/>
                  </a:lnTo>
                  <a:lnTo>
                    <a:pt x="0" y="1024128"/>
                  </a:lnTo>
                  <a:close/>
                </a:path>
              </a:pathLst>
            </a:custGeom>
            <a:blipFill>
              <a:blip r:embed="rId3">
                <a:alphaModFix amt="0"/>
              </a:blip>
              <a:stretch>
                <a:fillRect l="0" t="-155288" r="0" b="-155288"/>
              </a:stretch>
            </a:blipFill>
          </p:spPr>
        </p:sp>
        <p:sp>
          <p:nvSpPr>
            <p:cNvPr name="TextBox 63" id="63"/>
            <p:cNvSpPr txBox="true"/>
            <p:nvPr/>
          </p:nvSpPr>
          <p:spPr>
            <a:xfrm>
              <a:off x="0" y="-38100"/>
              <a:ext cx="10789920" cy="1062228"/>
            </a:xfrm>
            <a:prstGeom prst="rect">
              <a:avLst/>
            </a:prstGeom>
          </p:spPr>
          <p:txBody>
            <a:bodyPr anchor="ctr" rtlCol="false" tIns="0" lIns="0" bIns="0" rIns="0"/>
            <a:lstStyle/>
            <a:p>
              <a:pPr algn="l">
                <a:lnSpc>
                  <a:spcPts val="2160"/>
                </a:lnSpc>
              </a:pPr>
              <a:r>
                <a:rPr lang="en-US" sz="1800">
                  <a:solidFill>
                    <a:srgbClr val="F1F5FF"/>
                  </a:solidFill>
                  <a:latin typeface="Calibri (MS)"/>
                  <a:ea typeface="Calibri (MS)"/>
                  <a:cs typeface="Calibri (MS)"/>
                  <a:sym typeface="Calibri (MS)"/>
                </a:rPr>
                <a:t>Docker · Docker Compose</a:t>
              </a:r>
            </a:p>
          </p:txBody>
        </p:sp>
      </p:grpSp>
      <p:grpSp>
        <p:nvGrpSpPr>
          <p:cNvPr name="Group 64" id="64"/>
          <p:cNvGrpSpPr/>
          <p:nvPr/>
        </p:nvGrpSpPr>
        <p:grpSpPr>
          <a:xfrm rot="0">
            <a:off x="12481560" y="2057400"/>
            <a:ext cx="4869180" cy="6172200"/>
            <a:chOff x="0" y="0"/>
            <a:chExt cx="6492240" cy="8229600"/>
          </a:xfrm>
        </p:grpSpPr>
        <p:sp>
          <p:nvSpPr>
            <p:cNvPr name="Freeform 65" id="65"/>
            <p:cNvSpPr/>
            <p:nvPr/>
          </p:nvSpPr>
          <p:spPr>
            <a:xfrm flipH="false" flipV="false" rot="0">
              <a:off x="0" y="0"/>
              <a:ext cx="6492240" cy="8229600"/>
            </a:xfrm>
            <a:custGeom>
              <a:avLst/>
              <a:gdLst/>
              <a:ahLst/>
              <a:cxnLst/>
              <a:rect r="r" b="b" t="t" l="l"/>
              <a:pathLst>
                <a:path h="8229600" w="6492240">
                  <a:moveTo>
                    <a:pt x="0" y="146304"/>
                  </a:moveTo>
                  <a:cubicBezTo>
                    <a:pt x="0" y="65532"/>
                    <a:pt x="65532" y="0"/>
                    <a:pt x="146304" y="0"/>
                  </a:cubicBezTo>
                  <a:lnTo>
                    <a:pt x="6345936" y="0"/>
                  </a:lnTo>
                  <a:cubicBezTo>
                    <a:pt x="6426708" y="0"/>
                    <a:pt x="6492240" y="65532"/>
                    <a:pt x="6492240" y="146304"/>
                  </a:cubicBezTo>
                  <a:lnTo>
                    <a:pt x="6492240" y="8083296"/>
                  </a:lnTo>
                  <a:cubicBezTo>
                    <a:pt x="6492240" y="8164068"/>
                    <a:pt x="6426708" y="8229600"/>
                    <a:pt x="6345936" y="8229600"/>
                  </a:cubicBezTo>
                  <a:lnTo>
                    <a:pt x="146304" y="8229600"/>
                  </a:lnTo>
                  <a:cubicBezTo>
                    <a:pt x="65532" y="8229600"/>
                    <a:pt x="0" y="8164068"/>
                    <a:pt x="0" y="8083296"/>
                  </a:cubicBezTo>
                  <a:close/>
                </a:path>
              </a:pathLst>
            </a:custGeom>
            <a:solidFill>
              <a:srgbClr val="FDF1E1"/>
            </a:solidFill>
          </p:spPr>
        </p:sp>
      </p:grpSp>
      <p:grpSp>
        <p:nvGrpSpPr>
          <p:cNvPr name="Group 66" id="66"/>
          <p:cNvGrpSpPr/>
          <p:nvPr/>
        </p:nvGrpSpPr>
        <p:grpSpPr>
          <a:xfrm rot="0">
            <a:off x="12824460" y="2304288"/>
            <a:ext cx="4251960" cy="411480"/>
            <a:chOff x="0" y="0"/>
            <a:chExt cx="5669280" cy="548640"/>
          </a:xfrm>
        </p:grpSpPr>
        <p:sp>
          <p:nvSpPr>
            <p:cNvPr name="Freeform 67" id="67"/>
            <p:cNvSpPr/>
            <p:nvPr/>
          </p:nvSpPr>
          <p:spPr>
            <a:xfrm flipH="false" flipV="false" rot="0">
              <a:off x="0" y="0"/>
              <a:ext cx="5669280" cy="548640"/>
            </a:xfrm>
            <a:custGeom>
              <a:avLst/>
              <a:gdLst/>
              <a:ahLst/>
              <a:cxnLst/>
              <a:rect r="r" b="b" t="t" l="l"/>
              <a:pathLst>
                <a:path h="548640" w="5669280">
                  <a:moveTo>
                    <a:pt x="0" y="0"/>
                  </a:moveTo>
                  <a:lnTo>
                    <a:pt x="5669280" y="0"/>
                  </a:lnTo>
                  <a:lnTo>
                    <a:pt x="5669280" y="548640"/>
                  </a:lnTo>
                  <a:lnTo>
                    <a:pt x="0" y="548640"/>
                  </a:lnTo>
                  <a:close/>
                </a:path>
              </a:pathLst>
            </a:custGeom>
            <a:blipFill>
              <a:blip r:embed="rId3">
                <a:alphaModFix amt="0"/>
              </a:blip>
              <a:stretch>
                <a:fillRect l="0" t="-151345" r="0" b="-151345"/>
              </a:stretch>
            </a:blipFill>
          </p:spPr>
        </p:sp>
        <p:sp>
          <p:nvSpPr>
            <p:cNvPr name="TextBox 68" id="68"/>
            <p:cNvSpPr txBox="true"/>
            <p:nvPr/>
          </p:nvSpPr>
          <p:spPr>
            <a:xfrm>
              <a:off x="0" y="-38100"/>
              <a:ext cx="5669280" cy="586740"/>
            </a:xfrm>
            <a:prstGeom prst="rect">
              <a:avLst/>
            </a:prstGeom>
          </p:spPr>
          <p:txBody>
            <a:bodyPr anchor="ctr" rtlCol="false" tIns="0" lIns="0" bIns="0" rIns="0"/>
            <a:lstStyle/>
            <a:p>
              <a:pPr algn="l">
                <a:lnSpc>
                  <a:spcPts val="2070"/>
                </a:lnSpc>
              </a:pPr>
              <a:r>
                <a:rPr lang="en-US" b="true" sz="1725" spc="150">
                  <a:solidFill>
                    <a:srgbClr val="92400E"/>
                  </a:solidFill>
                  <a:latin typeface="Calibri (MS) Bold"/>
                  <a:ea typeface="Calibri (MS) Bold"/>
                  <a:cs typeface="Calibri (MS) Bold"/>
                  <a:sym typeface="Calibri (MS) Bold"/>
                </a:rPr>
                <a:t>PLANNED / FUTURE</a:t>
              </a:r>
            </a:p>
          </p:txBody>
        </p:sp>
      </p:grpSp>
      <p:grpSp>
        <p:nvGrpSpPr>
          <p:cNvPr name="Group 69" id="69"/>
          <p:cNvGrpSpPr/>
          <p:nvPr/>
        </p:nvGrpSpPr>
        <p:grpSpPr>
          <a:xfrm rot="0">
            <a:off x="12824460" y="2880360"/>
            <a:ext cx="4251960" cy="617220"/>
            <a:chOff x="0" y="0"/>
            <a:chExt cx="5669280" cy="822960"/>
          </a:xfrm>
        </p:grpSpPr>
        <p:sp>
          <p:nvSpPr>
            <p:cNvPr name="Freeform 70" id="70"/>
            <p:cNvSpPr/>
            <p:nvPr/>
          </p:nvSpPr>
          <p:spPr>
            <a:xfrm flipH="false" flipV="false" rot="0">
              <a:off x="0" y="0"/>
              <a:ext cx="5669280" cy="822960"/>
            </a:xfrm>
            <a:custGeom>
              <a:avLst/>
              <a:gdLst/>
              <a:ahLst/>
              <a:cxnLst/>
              <a:rect r="r" b="b" t="t" l="l"/>
              <a:pathLst>
                <a:path h="822960" w="5669280">
                  <a:moveTo>
                    <a:pt x="0" y="0"/>
                  </a:moveTo>
                  <a:lnTo>
                    <a:pt x="5669280" y="0"/>
                  </a:lnTo>
                  <a:lnTo>
                    <a:pt x="5669280" y="822960"/>
                  </a:lnTo>
                  <a:lnTo>
                    <a:pt x="0" y="822960"/>
                  </a:lnTo>
                  <a:close/>
                </a:path>
              </a:pathLst>
            </a:custGeom>
            <a:blipFill>
              <a:blip r:embed="rId3">
                <a:alphaModFix amt="0"/>
              </a:blip>
              <a:stretch>
                <a:fillRect l="0" t="-84230" r="0" b="-84230"/>
              </a:stretch>
            </a:blipFill>
          </p:spPr>
        </p:sp>
        <p:sp>
          <p:nvSpPr>
            <p:cNvPr name="TextBox 71" id="71"/>
            <p:cNvSpPr txBox="true"/>
            <p:nvPr/>
          </p:nvSpPr>
          <p:spPr>
            <a:xfrm>
              <a:off x="0" y="-38100"/>
              <a:ext cx="5669280" cy="861060"/>
            </a:xfrm>
            <a:prstGeom prst="rect">
              <a:avLst/>
            </a:prstGeom>
          </p:spPr>
          <p:txBody>
            <a:bodyPr anchor="ctr" rtlCol="false" tIns="0" lIns="0" bIns="0" rIns="0"/>
            <a:lstStyle/>
            <a:p>
              <a:pPr algn="l">
                <a:lnSpc>
                  <a:spcPts val="2250"/>
                </a:lnSpc>
              </a:pPr>
              <a:r>
                <a:rPr lang="en-US" sz="1875">
                  <a:solidFill>
                    <a:srgbClr val="7C2D12"/>
                  </a:solidFill>
                  <a:latin typeface="Calibri (MS)"/>
                  <a:ea typeface="Calibri (MS)"/>
                  <a:cs typeface="Calibri (MS)"/>
                  <a:sym typeface="Calibri (MS)"/>
                </a:rPr>
                <a:t>•  MLflow (experiment tracking)</a:t>
              </a:r>
            </a:p>
          </p:txBody>
        </p:sp>
      </p:grpSp>
      <p:grpSp>
        <p:nvGrpSpPr>
          <p:cNvPr name="Group 72" id="72"/>
          <p:cNvGrpSpPr/>
          <p:nvPr/>
        </p:nvGrpSpPr>
        <p:grpSpPr>
          <a:xfrm rot="0">
            <a:off x="12824460" y="3566160"/>
            <a:ext cx="4251960" cy="617220"/>
            <a:chOff x="0" y="0"/>
            <a:chExt cx="5669280" cy="822960"/>
          </a:xfrm>
        </p:grpSpPr>
        <p:sp>
          <p:nvSpPr>
            <p:cNvPr name="Freeform 73" id="73"/>
            <p:cNvSpPr/>
            <p:nvPr/>
          </p:nvSpPr>
          <p:spPr>
            <a:xfrm flipH="false" flipV="false" rot="0">
              <a:off x="0" y="0"/>
              <a:ext cx="5669280" cy="822960"/>
            </a:xfrm>
            <a:custGeom>
              <a:avLst/>
              <a:gdLst/>
              <a:ahLst/>
              <a:cxnLst/>
              <a:rect r="r" b="b" t="t" l="l"/>
              <a:pathLst>
                <a:path h="822960" w="5669280">
                  <a:moveTo>
                    <a:pt x="0" y="0"/>
                  </a:moveTo>
                  <a:lnTo>
                    <a:pt x="5669280" y="0"/>
                  </a:lnTo>
                  <a:lnTo>
                    <a:pt x="5669280" y="822960"/>
                  </a:lnTo>
                  <a:lnTo>
                    <a:pt x="0" y="822960"/>
                  </a:lnTo>
                  <a:close/>
                </a:path>
              </a:pathLst>
            </a:custGeom>
            <a:blipFill>
              <a:blip r:embed="rId3">
                <a:alphaModFix amt="0"/>
              </a:blip>
              <a:stretch>
                <a:fillRect l="0" t="-84230" r="0" b="-84230"/>
              </a:stretch>
            </a:blipFill>
          </p:spPr>
        </p:sp>
        <p:sp>
          <p:nvSpPr>
            <p:cNvPr name="TextBox 74" id="74"/>
            <p:cNvSpPr txBox="true"/>
            <p:nvPr/>
          </p:nvSpPr>
          <p:spPr>
            <a:xfrm>
              <a:off x="0" y="-38100"/>
              <a:ext cx="5669280" cy="861060"/>
            </a:xfrm>
            <a:prstGeom prst="rect">
              <a:avLst/>
            </a:prstGeom>
          </p:spPr>
          <p:txBody>
            <a:bodyPr anchor="ctr" rtlCol="false" tIns="0" lIns="0" bIns="0" rIns="0"/>
            <a:lstStyle/>
            <a:p>
              <a:pPr algn="l">
                <a:lnSpc>
                  <a:spcPts val="2250"/>
                </a:lnSpc>
              </a:pPr>
              <a:r>
                <a:rPr lang="en-US" sz="1875">
                  <a:solidFill>
                    <a:srgbClr val="7C2D12"/>
                  </a:solidFill>
                  <a:latin typeface="Calibri (MS)"/>
                  <a:ea typeface="Calibri (MS)"/>
                  <a:cs typeface="Calibri (MS)"/>
                  <a:sym typeface="Calibri (MS)"/>
                </a:rPr>
                <a:t>•  Streamlit (interactive UI)</a:t>
              </a:r>
            </a:p>
          </p:txBody>
        </p:sp>
      </p:grpSp>
      <p:grpSp>
        <p:nvGrpSpPr>
          <p:cNvPr name="Group 75" id="75"/>
          <p:cNvGrpSpPr/>
          <p:nvPr/>
        </p:nvGrpSpPr>
        <p:grpSpPr>
          <a:xfrm rot="0">
            <a:off x="12824460" y="4251960"/>
            <a:ext cx="4251960" cy="617220"/>
            <a:chOff x="0" y="0"/>
            <a:chExt cx="5669280" cy="822960"/>
          </a:xfrm>
        </p:grpSpPr>
        <p:sp>
          <p:nvSpPr>
            <p:cNvPr name="Freeform 76" id="76"/>
            <p:cNvSpPr/>
            <p:nvPr/>
          </p:nvSpPr>
          <p:spPr>
            <a:xfrm flipH="false" flipV="false" rot="0">
              <a:off x="0" y="0"/>
              <a:ext cx="5669280" cy="822960"/>
            </a:xfrm>
            <a:custGeom>
              <a:avLst/>
              <a:gdLst/>
              <a:ahLst/>
              <a:cxnLst/>
              <a:rect r="r" b="b" t="t" l="l"/>
              <a:pathLst>
                <a:path h="822960" w="5669280">
                  <a:moveTo>
                    <a:pt x="0" y="0"/>
                  </a:moveTo>
                  <a:lnTo>
                    <a:pt x="5669280" y="0"/>
                  </a:lnTo>
                  <a:lnTo>
                    <a:pt x="5669280" y="822960"/>
                  </a:lnTo>
                  <a:lnTo>
                    <a:pt x="0" y="822960"/>
                  </a:lnTo>
                  <a:close/>
                </a:path>
              </a:pathLst>
            </a:custGeom>
            <a:blipFill>
              <a:blip r:embed="rId3">
                <a:alphaModFix amt="0"/>
              </a:blip>
              <a:stretch>
                <a:fillRect l="0" t="-84230" r="0" b="-84230"/>
              </a:stretch>
            </a:blipFill>
          </p:spPr>
        </p:sp>
        <p:sp>
          <p:nvSpPr>
            <p:cNvPr name="TextBox 77" id="77"/>
            <p:cNvSpPr txBox="true"/>
            <p:nvPr/>
          </p:nvSpPr>
          <p:spPr>
            <a:xfrm>
              <a:off x="0" y="-38100"/>
              <a:ext cx="5669280" cy="861060"/>
            </a:xfrm>
            <a:prstGeom prst="rect">
              <a:avLst/>
            </a:prstGeom>
          </p:spPr>
          <p:txBody>
            <a:bodyPr anchor="ctr" rtlCol="false" tIns="0" lIns="0" bIns="0" rIns="0"/>
            <a:lstStyle/>
            <a:p>
              <a:pPr algn="l">
                <a:lnSpc>
                  <a:spcPts val="2250"/>
                </a:lnSpc>
              </a:pPr>
              <a:r>
                <a:rPr lang="en-US" sz="1875">
                  <a:solidFill>
                    <a:srgbClr val="7C2D12"/>
                  </a:solidFill>
                  <a:latin typeface="Calibri (MS)"/>
                  <a:ea typeface="Calibri (MS)"/>
                  <a:cs typeface="Calibri (MS)"/>
                  <a:sym typeface="Calibri (MS)"/>
                </a:rPr>
                <a:t>•  CI/CD automation</a:t>
              </a:r>
            </a:p>
          </p:txBody>
        </p:sp>
      </p:grpSp>
      <p:grpSp>
        <p:nvGrpSpPr>
          <p:cNvPr name="Group 78" id="78"/>
          <p:cNvGrpSpPr/>
          <p:nvPr/>
        </p:nvGrpSpPr>
        <p:grpSpPr>
          <a:xfrm rot="0">
            <a:off x="12824460" y="5143500"/>
            <a:ext cx="4251960" cy="1371600"/>
            <a:chOff x="0" y="0"/>
            <a:chExt cx="5669280" cy="1828800"/>
          </a:xfrm>
        </p:grpSpPr>
        <p:sp>
          <p:nvSpPr>
            <p:cNvPr name="Freeform 79" id="79"/>
            <p:cNvSpPr/>
            <p:nvPr/>
          </p:nvSpPr>
          <p:spPr>
            <a:xfrm flipH="false" flipV="false" rot="0">
              <a:off x="0" y="0"/>
              <a:ext cx="5669280" cy="1828800"/>
            </a:xfrm>
            <a:custGeom>
              <a:avLst/>
              <a:gdLst/>
              <a:ahLst/>
              <a:cxnLst/>
              <a:rect r="r" b="b" t="t" l="l"/>
              <a:pathLst>
                <a:path h="1828800" w="5669280">
                  <a:moveTo>
                    <a:pt x="0" y="0"/>
                  </a:moveTo>
                  <a:lnTo>
                    <a:pt x="5669280" y="0"/>
                  </a:lnTo>
                  <a:lnTo>
                    <a:pt x="5669280" y="1828800"/>
                  </a:lnTo>
                  <a:lnTo>
                    <a:pt x="0" y="1828800"/>
                  </a:lnTo>
                  <a:close/>
                </a:path>
              </a:pathLst>
            </a:custGeom>
            <a:blipFill>
              <a:blip r:embed="rId3">
                <a:alphaModFix amt="0"/>
              </a:blip>
              <a:stretch>
                <a:fillRect l="0" t="-10403" r="0" b="-10403"/>
              </a:stretch>
            </a:blipFill>
          </p:spPr>
        </p:sp>
        <p:sp>
          <p:nvSpPr>
            <p:cNvPr name="TextBox 80" id="80"/>
            <p:cNvSpPr txBox="true"/>
            <p:nvPr/>
          </p:nvSpPr>
          <p:spPr>
            <a:xfrm>
              <a:off x="0" y="-19050"/>
              <a:ext cx="5669280" cy="1847850"/>
            </a:xfrm>
            <a:prstGeom prst="rect">
              <a:avLst/>
            </a:prstGeom>
          </p:spPr>
          <p:txBody>
            <a:bodyPr anchor="ctr" rtlCol="false" tIns="0" lIns="0" bIns="0" rIns="0"/>
            <a:lstStyle/>
            <a:p>
              <a:pPr algn="l">
                <a:lnSpc>
                  <a:spcPts val="1889"/>
                </a:lnSpc>
              </a:pPr>
              <a:r>
                <a:rPr lang="en-US" sz="1575" i="true">
                  <a:solidFill>
                    <a:srgbClr val="92400E"/>
                  </a:solidFill>
                  <a:latin typeface="Calibri (MS) Italics"/>
                  <a:ea typeface="Calibri (MS) Italics"/>
                  <a:cs typeface="Calibri (MS) Italics"/>
                  <a:sym typeface="Calibri (MS) Italics"/>
                </a:rPr>
                <a:t>Not yet implemented in the current repository — reserved folders / named in docs only.</a:t>
              </a:r>
            </a:p>
          </p:txBody>
        </p:sp>
      </p:grpSp>
      <p:grpSp>
        <p:nvGrpSpPr>
          <p:cNvPr name="Group 81" id="81"/>
          <p:cNvGrpSpPr/>
          <p:nvPr/>
        </p:nvGrpSpPr>
        <p:grpSpPr>
          <a:xfrm rot="0">
            <a:off x="685800" y="9793224"/>
            <a:ext cx="10972800" cy="411480"/>
            <a:chOff x="0" y="0"/>
            <a:chExt cx="14630400" cy="548640"/>
          </a:xfrm>
        </p:grpSpPr>
        <p:sp>
          <p:nvSpPr>
            <p:cNvPr name="Freeform 82" id="8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83" id="8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84" id="84"/>
          <p:cNvGrpSpPr/>
          <p:nvPr/>
        </p:nvGrpSpPr>
        <p:grpSpPr>
          <a:xfrm rot="0">
            <a:off x="17282160" y="9793224"/>
            <a:ext cx="548640" cy="411480"/>
            <a:chOff x="0" y="0"/>
            <a:chExt cx="731520" cy="548640"/>
          </a:xfrm>
        </p:grpSpPr>
        <p:sp>
          <p:nvSpPr>
            <p:cNvPr name="Freeform 85" id="85"/>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86" id="86"/>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12</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6 · IMPLEMENTATION</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Implementation Status</a:t>
              </a:r>
            </a:p>
          </p:txBody>
        </p:sp>
      </p:grpSp>
      <p:grpSp>
        <p:nvGrpSpPr>
          <p:cNvPr name="Group 8" id="8"/>
          <p:cNvGrpSpPr/>
          <p:nvPr/>
        </p:nvGrpSpPr>
        <p:grpSpPr>
          <a:xfrm rot="0">
            <a:off x="960120" y="2057400"/>
            <a:ext cx="8023860" cy="6172200"/>
            <a:chOff x="0" y="0"/>
            <a:chExt cx="10698480" cy="8229600"/>
          </a:xfrm>
        </p:grpSpPr>
        <p:sp>
          <p:nvSpPr>
            <p:cNvPr name="Freeform 9" id="9"/>
            <p:cNvSpPr/>
            <p:nvPr/>
          </p:nvSpPr>
          <p:spPr>
            <a:xfrm flipH="false" flipV="false" rot="0">
              <a:off x="0" y="0"/>
              <a:ext cx="10698480" cy="8229600"/>
            </a:xfrm>
            <a:custGeom>
              <a:avLst/>
              <a:gdLst/>
              <a:ahLst/>
              <a:cxnLst/>
              <a:rect r="r" b="b" t="t" l="l"/>
              <a:pathLst>
                <a:path h="8229600" w="10698480">
                  <a:moveTo>
                    <a:pt x="0" y="146304"/>
                  </a:moveTo>
                  <a:cubicBezTo>
                    <a:pt x="0" y="65532"/>
                    <a:pt x="65532" y="0"/>
                    <a:pt x="146304" y="0"/>
                  </a:cubicBezTo>
                  <a:lnTo>
                    <a:pt x="10552176" y="0"/>
                  </a:lnTo>
                  <a:cubicBezTo>
                    <a:pt x="10632948" y="0"/>
                    <a:pt x="10698480" y="65532"/>
                    <a:pt x="10698480" y="146304"/>
                  </a:cubicBezTo>
                  <a:lnTo>
                    <a:pt x="10698480" y="8083296"/>
                  </a:lnTo>
                  <a:cubicBezTo>
                    <a:pt x="10698480" y="8164068"/>
                    <a:pt x="10632948" y="8229600"/>
                    <a:pt x="10552176" y="8229600"/>
                  </a:cubicBezTo>
                  <a:lnTo>
                    <a:pt x="146304" y="8229600"/>
                  </a:lnTo>
                  <a:cubicBezTo>
                    <a:pt x="65532" y="8229600"/>
                    <a:pt x="0" y="8164068"/>
                    <a:pt x="0" y="8083296"/>
                  </a:cubicBezTo>
                  <a:close/>
                </a:path>
              </a:pathLst>
            </a:custGeom>
            <a:solidFill>
              <a:srgbClr val="E7F7EE"/>
            </a:solidFill>
          </p:spPr>
        </p:sp>
      </p:grpSp>
      <p:grpSp>
        <p:nvGrpSpPr>
          <p:cNvPr name="Group 10" id="10"/>
          <p:cNvGrpSpPr/>
          <p:nvPr/>
        </p:nvGrpSpPr>
        <p:grpSpPr>
          <a:xfrm rot="0">
            <a:off x="1303020" y="2304288"/>
            <a:ext cx="6858000" cy="480060"/>
            <a:chOff x="0" y="0"/>
            <a:chExt cx="9144000" cy="640080"/>
          </a:xfrm>
        </p:grpSpPr>
        <p:sp>
          <p:nvSpPr>
            <p:cNvPr name="Freeform 11" id="11"/>
            <p:cNvSpPr/>
            <p:nvPr/>
          </p:nvSpPr>
          <p:spPr>
            <a:xfrm flipH="false" flipV="false" rot="0">
              <a:off x="0" y="0"/>
              <a:ext cx="9144000" cy="640080"/>
            </a:xfrm>
            <a:custGeom>
              <a:avLst/>
              <a:gdLst/>
              <a:ahLst/>
              <a:cxnLst/>
              <a:rect r="r" b="b" t="t" l="l"/>
              <a:pathLst>
                <a:path h="640080" w="9144000">
                  <a:moveTo>
                    <a:pt x="0" y="0"/>
                  </a:moveTo>
                  <a:lnTo>
                    <a:pt x="9144000" y="0"/>
                  </a:lnTo>
                  <a:lnTo>
                    <a:pt x="9144000" y="640080"/>
                  </a:lnTo>
                  <a:lnTo>
                    <a:pt x="0" y="640080"/>
                  </a:lnTo>
                  <a:close/>
                </a:path>
              </a:pathLst>
            </a:custGeom>
            <a:blipFill>
              <a:blip r:embed="rId3">
                <a:alphaModFix amt="0"/>
              </a:blip>
              <a:stretch>
                <a:fillRect l="0" t="-228357" r="0" b="-228357"/>
              </a:stretch>
            </a:blipFill>
          </p:spPr>
        </p:sp>
        <p:sp>
          <p:nvSpPr>
            <p:cNvPr name="TextBox 12" id="12"/>
            <p:cNvSpPr txBox="true"/>
            <p:nvPr/>
          </p:nvSpPr>
          <p:spPr>
            <a:xfrm>
              <a:off x="0" y="-47625"/>
              <a:ext cx="9144000" cy="687705"/>
            </a:xfrm>
            <a:prstGeom prst="rect">
              <a:avLst/>
            </a:prstGeom>
          </p:spPr>
          <p:txBody>
            <a:bodyPr anchor="ctr" rtlCol="false" tIns="0" lIns="0" bIns="0" rIns="0"/>
            <a:lstStyle/>
            <a:p>
              <a:pPr algn="l">
                <a:lnSpc>
                  <a:spcPts val="2520"/>
                </a:lnSpc>
              </a:pPr>
              <a:r>
                <a:rPr lang="en-US" b="true" sz="2100" spc="150">
                  <a:solidFill>
                    <a:srgbClr val="16A34A"/>
                  </a:solidFill>
                  <a:latin typeface="Calibri (MS) Bold"/>
                  <a:ea typeface="Calibri (MS) Bold"/>
                  <a:cs typeface="Calibri (MS) Bold"/>
                  <a:sym typeface="Calibri (MS) Bold"/>
                </a:rPr>
                <a:t>IMPLEMENTED</a:t>
              </a:r>
            </a:p>
          </p:txBody>
        </p:sp>
      </p:grpSp>
      <p:grpSp>
        <p:nvGrpSpPr>
          <p:cNvPr name="Group 13" id="13"/>
          <p:cNvGrpSpPr/>
          <p:nvPr/>
        </p:nvGrpSpPr>
        <p:grpSpPr>
          <a:xfrm rot="0">
            <a:off x="1303020" y="2880360"/>
            <a:ext cx="411480" cy="480060"/>
            <a:chOff x="0" y="0"/>
            <a:chExt cx="548640" cy="640080"/>
          </a:xfrm>
        </p:grpSpPr>
        <p:sp>
          <p:nvSpPr>
            <p:cNvPr name="Freeform 14" id="14"/>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15" id="15"/>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16A34A"/>
                  </a:solidFill>
                  <a:latin typeface="Calibri (MS) Bold"/>
                  <a:ea typeface="Calibri (MS) Bold"/>
                  <a:cs typeface="Calibri (MS) Bold"/>
                  <a:sym typeface="Calibri (MS) Bold"/>
                </a:rPr>
                <a:t>✓</a:t>
              </a:r>
            </a:p>
          </p:txBody>
        </p:sp>
      </p:grpSp>
      <p:grpSp>
        <p:nvGrpSpPr>
          <p:cNvPr name="Group 16" id="16"/>
          <p:cNvGrpSpPr/>
          <p:nvPr/>
        </p:nvGrpSpPr>
        <p:grpSpPr>
          <a:xfrm rot="0">
            <a:off x="1783080" y="2880360"/>
            <a:ext cx="6995160" cy="480060"/>
            <a:chOff x="0" y="0"/>
            <a:chExt cx="9326880" cy="640080"/>
          </a:xfrm>
        </p:grpSpPr>
        <p:sp>
          <p:nvSpPr>
            <p:cNvPr name="Freeform 17" id="17"/>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18" id="18"/>
            <p:cNvSpPr txBox="true"/>
            <p:nvPr/>
          </p:nvSpPr>
          <p:spPr>
            <a:xfrm>
              <a:off x="0" y="-38100"/>
              <a:ext cx="9326880" cy="678180"/>
            </a:xfrm>
            <a:prstGeom prst="rect">
              <a:avLst/>
            </a:prstGeom>
          </p:spPr>
          <p:txBody>
            <a:bodyPr anchor="ctr" rtlCol="false" tIns="0" lIns="0" bIns="0" rIns="0"/>
            <a:lstStyle/>
            <a:p>
              <a:pPr algn="l">
                <a:lnSpc>
                  <a:spcPts val="2160"/>
                </a:lnSpc>
              </a:pPr>
              <a:r>
                <a:rPr lang="en-US" sz="1800">
                  <a:solidFill>
                    <a:srgbClr val="14532D"/>
                  </a:solidFill>
                  <a:latin typeface="Calibri (MS)"/>
                  <a:ea typeface="Calibri (MS)"/>
                  <a:cs typeface="Calibri (MS)"/>
                  <a:sym typeface="Calibri (MS)"/>
                </a:rPr>
                <a:t>FastAPI backend &amp; routing</a:t>
              </a:r>
            </a:p>
          </p:txBody>
        </p:sp>
      </p:grpSp>
      <p:grpSp>
        <p:nvGrpSpPr>
          <p:cNvPr name="Group 19" id="19"/>
          <p:cNvGrpSpPr/>
          <p:nvPr/>
        </p:nvGrpSpPr>
        <p:grpSpPr>
          <a:xfrm rot="0">
            <a:off x="1303020" y="3456432"/>
            <a:ext cx="411480" cy="480060"/>
            <a:chOff x="0" y="0"/>
            <a:chExt cx="548640" cy="640080"/>
          </a:xfrm>
        </p:grpSpPr>
        <p:sp>
          <p:nvSpPr>
            <p:cNvPr name="Freeform 20" id="20"/>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21" id="21"/>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16A34A"/>
                  </a:solidFill>
                  <a:latin typeface="Calibri (MS) Bold"/>
                  <a:ea typeface="Calibri (MS) Bold"/>
                  <a:cs typeface="Calibri (MS) Bold"/>
                  <a:sym typeface="Calibri (MS) Bold"/>
                </a:rPr>
                <a:t>✓</a:t>
              </a:r>
            </a:p>
          </p:txBody>
        </p:sp>
      </p:grpSp>
      <p:grpSp>
        <p:nvGrpSpPr>
          <p:cNvPr name="Group 22" id="22"/>
          <p:cNvGrpSpPr/>
          <p:nvPr/>
        </p:nvGrpSpPr>
        <p:grpSpPr>
          <a:xfrm rot="0">
            <a:off x="1783080" y="3456432"/>
            <a:ext cx="6995160" cy="480060"/>
            <a:chOff x="0" y="0"/>
            <a:chExt cx="9326880" cy="640080"/>
          </a:xfrm>
        </p:grpSpPr>
        <p:sp>
          <p:nvSpPr>
            <p:cNvPr name="Freeform 23" id="23"/>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24" id="24"/>
            <p:cNvSpPr txBox="true"/>
            <p:nvPr/>
          </p:nvSpPr>
          <p:spPr>
            <a:xfrm>
              <a:off x="0" y="-38100"/>
              <a:ext cx="9326880" cy="678180"/>
            </a:xfrm>
            <a:prstGeom prst="rect">
              <a:avLst/>
            </a:prstGeom>
          </p:spPr>
          <p:txBody>
            <a:bodyPr anchor="ctr" rtlCol="false" tIns="0" lIns="0" bIns="0" rIns="0"/>
            <a:lstStyle/>
            <a:p>
              <a:pPr algn="l">
                <a:lnSpc>
                  <a:spcPts val="2160"/>
                </a:lnSpc>
              </a:pPr>
              <a:r>
                <a:rPr lang="en-US" sz="1800">
                  <a:solidFill>
                    <a:srgbClr val="14532D"/>
                  </a:solidFill>
                  <a:latin typeface="Calibri (MS)"/>
                  <a:ea typeface="Calibri (MS)"/>
                  <a:cs typeface="Calibri (MS)"/>
                  <a:sym typeface="Calibri (MS)"/>
                </a:rPr>
                <a:t>Background job architecture</a:t>
              </a:r>
            </a:p>
          </p:txBody>
        </p:sp>
      </p:grpSp>
      <p:grpSp>
        <p:nvGrpSpPr>
          <p:cNvPr name="Group 25" id="25"/>
          <p:cNvGrpSpPr/>
          <p:nvPr/>
        </p:nvGrpSpPr>
        <p:grpSpPr>
          <a:xfrm rot="0">
            <a:off x="1303020" y="4032504"/>
            <a:ext cx="411480" cy="480060"/>
            <a:chOff x="0" y="0"/>
            <a:chExt cx="548640" cy="640080"/>
          </a:xfrm>
        </p:grpSpPr>
        <p:sp>
          <p:nvSpPr>
            <p:cNvPr name="Freeform 26" id="26"/>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27" id="27"/>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16A34A"/>
                  </a:solidFill>
                  <a:latin typeface="Calibri (MS) Bold"/>
                  <a:ea typeface="Calibri (MS) Bold"/>
                  <a:cs typeface="Calibri (MS) Bold"/>
                  <a:sym typeface="Calibri (MS) Bold"/>
                </a:rPr>
                <a:t>✓</a:t>
              </a:r>
            </a:p>
          </p:txBody>
        </p:sp>
      </p:grpSp>
      <p:grpSp>
        <p:nvGrpSpPr>
          <p:cNvPr name="Group 28" id="28"/>
          <p:cNvGrpSpPr/>
          <p:nvPr/>
        </p:nvGrpSpPr>
        <p:grpSpPr>
          <a:xfrm rot="0">
            <a:off x="1783080" y="4032504"/>
            <a:ext cx="6995160" cy="480060"/>
            <a:chOff x="0" y="0"/>
            <a:chExt cx="9326880" cy="640080"/>
          </a:xfrm>
        </p:grpSpPr>
        <p:sp>
          <p:nvSpPr>
            <p:cNvPr name="Freeform 29" id="29"/>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30" id="30"/>
            <p:cNvSpPr txBox="true"/>
            <p:nvPr/>
          </p:nvSpPr>
          <p:spPr>
            <a:xfrm>
              <a:off x="0" y="-38100"/>
              <a:ext cx="9326880" cy="678180"/>
            </a:xfrm>
            <a:prstGeom prst="rect">
              <a:avLst/>
            </a:prstGeom>
          </p:spPr>
          <p:txBody>
            <a:bodyPr anchor="ctr" rtlCol="false" tIns="0" lIns="0" bIns="0" rIns="0"/>
            <a:lstStyle/>
            <a:p>
              <a:pPr algn="l">
                <a:lnSpc>
                  <a:spcPts val="2160"/>
                </a:lnSpc>
              </a:pPr>
              <a:r>
                <a:rPr lang="en-US" sz="1800">
                  <a:solidFill>
                    <a:srgbClr val="14532D"/>
                  </a:solidFill>
                  <a:latin typeface="Calibri (MS)"/>
                  <a:ea typeface="Calibri (MS)"/>
                  <a:cs typeface="Calibri (MS)"/>
                  <a:sym typeface="Calibri (MS)"/>
                </a:rPr>
                <a:t>LangGraph agent pipeline</a:t>
              </a:r>
            </a:p>
          </p:txBody>
        </p:sp>
      </p:grpSp>
      <p:grpSp>
        <p:nvGrpSpPr>
          <p:cNvPr name="Group 31" id="31"/>
          <p:cNvGrpSpPr/>
          <p:nvPr/>
        </p:nvGrpSpPr>
        <p:grpSpPr>
          <a:xfrm rot="0">
            <a:off x="1303020" y="4608576"/>
            <a:ext cx="411480" cy="480060"/>
            <a:chOff x="0" y="0"/>
            <a:chExt cx="548640" cy="640080"/>
          </a:xfrm>
        </p:grpSpPr>
        <p:sp>
          <p:nvSpPr>
            <p:cNvPr name="Freeform 32" id="32"/>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33" id="33"/>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16A34A"/>
                  </a:solidFill>
                  <a:latin typeface="Calibri (MS) Bold"/>
                  <a:ea typeface="Calibri (MS) Bold"/>
                  <a:cs typeface="Calibri (MS) Bold"/>
                  <a:sym typeface="Calibri (MS) Bold"/>
                </a:rPr>
                <a:t>✓</a:t>
              </a:r>
            </a:p>
          </p:txBody>
        </p:sp>
      </p:grpSp>
      <p:grpSp>
        <p:nvGrpSpPr>
          <p:cNvPr name="Group 34" id="34"/>
          <p:cNvGrpSpPr/>
          <p:nvPr/>
        </p:nvGrpSpPr>
        <p:grpSpPr>
          <a:xfrm rot="0">
            <a:off x="1783080" y="4608576"/>
            <a:ext cx="6995160" cy="480060"/>
            <a:chOff x="0" y="0"/>
            <a:chExt cx="9326880" cy="640080"/>
          </a:xfrm>
        </p:grpSpPr>
        <p:sp>
          <p:nvSpPr>
            <p:cNvPr name="Freeform 35" id="35"/>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36" id="36"/>
            <p:cNvSpPr txBox="true"/>
            <p:nvPr/>
          </p:nvSpPr>
          <p:spPr>
            <a:xfrm>
              <a:off x="0" y="-38100"/>
              <a:ext cx="9326880" cy="678180"/>
            </a:xfrm>
            <a:prstGeom prst="rect">
              <a:avLst/>
            </a:prstGeom>
          </p:spPr>
          <p:txBody>
            <a:bodyPr anchor="ctr" rtlCol="false" tIns="0" lIns="0" bIns="0" rIns="0"/>
            <a:lstStyle/>
            <a:p>
              <a:pPr algn="l">
                <a:lnSpc>
                  <a:spcPts val="2160"/>
                </a:lnSpc>
              </a:pPr>
              <a:r>
                <a:rPr lang="en-US" sz="1800">
                  <a:solidFill>
                    <a:srgbClr val="14532D"/>
                  </a:solidFill>
                  <a:latin typeface="Calibri (MS)"/>
                  <a:ea typeface="Calibri (MS)"/>
                  <a:cs typeface="Calibri (MS)"/>
                  <a:sym typeface="Calibri (MS)"/>
                </a:rPr>
                <a:t>OpenRouter integration</a:t>
              </a:r>
            </a:p>
          </p:txBody>
        </p:sp>
      </p:grpSp>
      <p:grpSp>
        <p:nvGrpSpPr>
          <p:cNvPr name="Group 37" id="37"/>
          <p:cNvGrpSpPr/>
          <p:nvPr/>
        </p:nvGrpSpPr>
        <p:grpSpPr>
          <a:xfrm rot="0">
            <a:off x="1303020" y="5184648"/>
            <a:ext cx="411480" cy="480060"/>
            <a:chOff x="0" y="0"/>
            <a:chExt cx="548640" cy="640080"/>
          </a:xfrm>
        </p:grpSpPr>
        <p:sp>
          <p:nvSpPr>
            <p:cNvPr name="Freeform 38" id="38"/>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39" id="39"/>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16A34A"/>
                  </a:solidFill>
                  <a:latin typeface="Calibri (MS) Bold"/>
                  <a:ea typeface="Calibri (MS) Bold"/>
                  <a:cs typeface="Calibri (MS) Bold"/>
                  <a:sym typeface="Calibri (MS) Bold"/>
                </a:rPr>
                <a:t>✓</a:t>
              </a:r>
            </a:p>
          </p:txBody>
        </p:sp>
      </p:grpSp>
      <p:grpSp>
        <p:nvGrpSpPr>
          <p:cNvPr name="Group 40" id="40"/>
          <p:cNvGrpSpPr/>
          <p:nvPr/>
        </p:nvGrpSpPr>
        <p:grpSpPr>
          <a:xfrm rot="0">
            <a:off x="1783080" y="5184648"/>
            <a:ext cx="6995160" cy="480060"/>
            <a:chOff x="0" y="0"/>
            <a:chExt cx="9326880" cy="640080"/>
          </a:xfrm>
        </p:grpSpPr>
        <p:sp>
          <p:nvSpPr>
            <p:cNvPr name="Freeform 41" id="41"/>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42" id="42"/>
            <p:cNvSpPr txBox="true"/>
            <p:nvPr/>
          </p:nvSpPr>
          <p:spPr>
            <a:xfrm>
              <a:off x="0" y="-38100"/>
              <a:ext cx="9326880" cy="678180"/>
            </a:xfrm>
            <a:prstGeom prst="rect">
              <a:avLst/>
            </a:prstGeom>
          </p:spPr>
          <p:txBody>
            <a:bodyPr anchor="ctr" rtlCol="false" tIns="0" lIns="0" bIns="0" rIns="0"/>
            <a:lstStyle/>
            <a:p>
              <a:pPr algn="l">
                <a:lnSpc>
                  <a:spcPts val="2160"/>
                </a:lnSpc>
              </a:pPr>
              <a:r>
                <a:rPr lang="en-US" sz="1800">
                  <a:solidFill>
                    <a:srgbClr val="14532D"/>
                  </a:solidFill>
                  <a:latin typeface="Calibri (MS)"/>
                  <a:ea typeface="Calibri (MS)"/>
                  <a:cs typeface="Calibri (MS)"/>
                  <a:sym typeface="Calibri (MS)"/>
                </a:rPr>
                <a:t>Tavily integration</a:t>
              </a:r>
            </a:p>
          </p:txBody>
        </p:sp>
      </p:grpSp>
      <p:grpSp>
        <p:nvGrpSpPr>
          <p:cNvPr name="Group 43" id="43"/>
          <p:cNvGrpSpPr/>
          <p:nvPr/>
        </p:nvGrpSpPr>
        <p:grpSpPr>
          <a:xfrm rot="0">
            <a:off x="1303020" y="5760720"/>
            <a:ext cx="411480" cy="480060"/>
            <a:chOff x="0" y="0"/>
            <a:chExt cx="548640" cy="640080"/>
          </a:xfrm>
        </p:grpSpPr>
        <p:sp>
          <p:nvSpPr>
            <p:cNvPr name="Freeform 44" id="44"/>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45" id="45"/>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16A34A"/>
                  </a:solidFill>
                  <a:latin typeface="Calibri (MS) Bold"/>
                  <a:ea typeface="Calibri (MS) Bold"/>
                  <a:cs typeface="Calibri (MS) Bold"/>
                  <a:sym typeface="Calibri (MS) Bold"/>
                </a:rPr>
                <a:t>✓</a:t>
              </a:r>
            </a:p>
          </p:txBody>
        </p:sp>
      </p:grpSp>
      <p:grpSp>
        <p:nvGrpSpPr>
          <p:cNvPr name="Group 46" id="46"/>
          <p:cNvGrpSpPr/>
          <p:nvPr/>
        </p:nvGrpSpPr>
        <p:grpSpPr>
          <a:xfrm rot="0">
            <a:off x="1783080" y="5760720"/>
            <a:ext cx="6995160" cy="480060"/>
            <a:chOff x="0" y="0"/>
            <a:chExt cx="9326880" cy="640080"/>
          </a:xfrm>
        </p:grpSpPr>
        <p:sp>
          <p:nvSpPr>
            <p:cNvPr name="Freeform 47" id="47"/>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48" id="48"/>
            <p:cNvSpPr txBox="true"/>
            <p:nvPr/>
          </p:nvSpPr>
          <p:spPr>
            <a:xfrm>
              <a:off x="0" y="-38100"/>
              <a:ext cx="9326880" cy="678180"/>
            </a:xfrm>
            <a:prstGeom prst="rect">
              <a:avLst/>
            </a:prstGeom>
          </p:spPr>
          <p:txBody>
            <a:bodyPr anchor="ctr" rtlCol="false" tIns="0" lIns="0" bIns="0" rIns="0"/>
            <a:lstStyle/>
            <a:p>
              <a:pPr algn="l">
                <a:lnSpc>
                  <a:spcPts val="2160"/>
                </a:lnSpc>
              </a:pPr>
              <a:r>
                <a:rPr lang="en-US" sz="1800">
                  <a:solidFill>
                    <a:srgbClr val="14532D"/>
                  </a:solidFill>
                  <a:latin typeface="Calibri (MS)"/>
                  <a:ea typeface="Calibri (MS)"/>
                  <a:cs typeface="Calibri (MS)"/>
                  <a:sym typeface="Calibri (MS)"/>
                </a:rPr>
                <a:t>Job store / database models</a:t>
              </a:r>
            </a:p>
          </p:txBody>
        </p:sp>
      </p:grpSp>
      <p:grpSp>
        <p:nvGrpSpPr>
          <p:cNvPr name="Group 49" id="49"/>
          <p:cNvGrpSpPr/>
          <p:nvPr/>
        </p:nvGrpSpPr>
        <p:grpSpPr>
          <a:xfrm rot="0">
            <a:off x="1303020" y="6336792"/>
            <a:ext cx="411480" cy="480060"/>
            <a:chOff x="0" y="0"/>
            <a:chExt cx="548640" cy="640080"/>
          </a:xfrm>
        </p:grpSpPr>
        <p:sp>
          <p:nvSpPr>
            <p:cNvPr name="Freeform 50" id="50"/>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51" id="51"/>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16A34A"/>
                  </a:solidFill>
                  <a:latin typeface="Calibri (MS) Bold"/>
                  <a:ea typeface="Calibri (MS) Bold"/>
                  <a:cs typeface="Calibri (MS) Bold"/>
                  <a:sym typeface="Calibri (MS) Bold"/>
                </a:rPr>
                <a:t>✓</a:t>
              </a:r>
            </a:p>
          </p:txBody>
        </p:sp>
      </p:grpSp>
      <p:grpSp>
        <p:nvGrpSpPr>
          <p:cNvPr name="Group 52" id="52"/>
          <p:cNvGrpSpPr/>
          <p:nvPr/>
        </p:nvGrpSpPr>
        <p:grpSpPr>
          <a:xfrm rot="0">
            <a:off x="1783080" y="6336792"/>
            <a:ext cx="6995160" cy="480060"/>
            <a:chOff x="0" y="0"/>
            <a:chExt cx="9326880" cy="640080"/>
          </a:xfrm>
        </p:grpSpPr>
        <p:sp>
          <p:nvSpPr>
            <p:cNvPr name="Freeform 53" id="53"/>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54" id="54"/>
            <p:cNvSpPr txBox="true"/>
            <p:nvPr/>
          </p:nvSpPr>
          <p:spPr>
            <a:xfrm>
              <a:off x="0" y="-38100"/>
              <a:ext cx="9326880" cy="678180"/>
            </a:xfrm>
            <a:prstGeom prst="rect">
              <a:avLst/>
            </a:prstGeom>
          </p:spPr>
          <p:txBody>
            <a:bodyPr anchor="ctr" rtlCol="false" tIns="0" lIns="0" bIns="0" rIns="0"/>
            <a:lstStyle/>
            <a:p>
              <a:pPr algn="l">
                <a:lnSpc>
                  <a:spcPts val="2160"/>
                </a:lnSpc>
              </a:pPr>
              <a:r>
                <a:rPr lang="en-US" sz="1800">
                  <a:solidFill>
                    <a:srgbClr val="14532D"/>
                  </a:solidFill>
                  <a:latin typeface="Calibri (MS)"/>
                  <a:ea typeface="Calibri (MS)"/>
                  <a:cs typeface="Calibri (MS)"/>
                  <a:sym typeface="Calibri (MS)"/>
                </a:rPr>
                <a:t>Docker / Docker Compose</a:t>
              </a:r>
            </a:p>
          </p:txBody>
        </p:sp>
      </p:grpSp>
      <p:grpSp>
        <p:nvGrpSpPr>
          <p:cNvPr name="Group 55" id="55"/>
          <p:cNvGrpSpPr/>
          <p:nvPr/>
        </p:nvGrpSpPr>
        <p:grpSpPr>
          <a:xfrm rot="0">
            <a:off x="1303020" y="6912864"/>
            <a:ext cx="411480" cy="480060"/>
            <a:chOff x="0" y="0"/>
            <a:chExt cx="548640" cy="640080"/>
          </a:xfrm>
        </p:grpSpPr>
        <p:sp>
          <p:nvSpPr>
            <p:cNvPr name="Freeform 56" id="56"/>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57" id="57"/>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16A34A"/>
                  </a:solidFill>
                  <a:latin typeface="Calibri (MS) Bold"/>
                  <a:ea typeface="Calibri (MS) Bold"/>
                  <a:cs typeface="Calibri (MS) Bold"/>
                  <a:sym typeface="Calibri (MS) Bold"/>
                </a:rPr>
                <a:t>✓</a:t>
              </a:r>
            </a:p>
          </p:txBody>
        </p:sp>
      </p:grpSp>
      <p:grpSp>
        <p:nvGrpSpPr>
          <p:cNvPr name="Group 58" id="58"/>
          <p:cNvGrpSpPr/>
          <p:nvPr/>
        </p:nvGrpSpPr>
        <p:grpSpPr>
          <a:xfrm rot="0">
            <a:off x="1783080" y="6912864"/>
            <a:ext cx="6995160" cy="480060"/>
            <a:chOff x="0" y="0"/>
            <a:chExt cx="9326880" cy="640080"/>
          </a:xfrm>
        </p:grpSpPr>
        <p:sp>
          <p:nvSpPr>
            <p:cNvPr name="Freeform 59" id="59"/>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60" id="60"/>
            <p:cNvSpPr txBox="true"/>
            <p:nvPr/>
          </p:nvSpPr>
          <p:spPr>
            <a:xfrm>
              <a:off x="0" y="-38100"/>
              <a:ext cx="9326880" cy="678180"/>
            </a:xfrm>
            <a:prstGeom prst="rect">
              <a:avLst/>
            </a:prstGeom>
          </p:spPr>
          <p:txBody>
            <a:bodyPr anchor="ctr" rtlCol="false" tIns="0" lIns="0" bIns="0" rIns="0"/>
            <a:lstStyle/>
            <a:p>
              <a:pPr algn="l">
                <a:lnSpc>
                  <a:spcPts val="2160"/>
                </a:lnSpc>
              </a:pPr>
              <a:r>
                <a:rPr lang="en-US" sz="1800">
                  <a:solidFill>
                    <a:srgbClr val="14532D"/>
                  </a:solidFill>
                  <a:latin typeface="Calibri (MS)"/>
                  <a:ea typeface="Calibri (MS)"/>
                  <a:cs typeface="Calibri (MS)"/>
                  <a:sym typeface="Calibri (MS)"/>
                </a:rPr>
                <a:t>API tests (pytest)</a:t>
              </a:r>
            </a:p>
          </p:txBody>
        </p:sp>
      </p:grpSp>
      <p:grpSp>
        <p:nvGrpSpPr>
          <p:cNvPr name="Group 61" id="61"/>
          <p:cNvGrpSpPr/>
          <p:nvPr/>
        </p:nvGrpSpPr>
        <p:grpSpPr>
          <a:xfrm rot="0">
            <a:off x="1303020" y="7488936"/>
            <a:ext cx="411480" cy="480060"/>
            <a:chOff x="0" y="0"/>
            <a:chExt cx="548640" cy="640080"/>
          </a:xfrm>
        </p:grpSpPr>
        <p:sp>
          <p:nvSpPr>
            <p:cNvPr name="Freeform 62" id="62"/>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63" id="63"/>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16A34A"/>
                  </a:solidFill>
                  <a:latin typeface="Calibri (MS) Bold"/>
                  <a:ea typeface="Calibri (MS) Bold"/>
                  <a:cs typeface="Calibri (MS) Bold"/>
                  <a:sym typeface="Calibri (MS) Bold"/>
                </a:rPr>
                <a:t>✓</a:t>
              </a:r>
            </a:p>
          </p:txBody>
        </p:sp>
      </p:grpSp>
      <p:grpSp>
        <p:nvGrpSpPr>
          <p:cNvPr name="Group 64" id="64"/>
          <p:cNvGrpSpPr/>
          <p:nvPr/>
        </p:nvGrpSpPr>
        <p:grpSpPr>
          <a:xfrm rot="0">
            <a:off x="1783080" y="7488936"/>
            <a:ext cx="6995160" cy="480060"/>
            <a:chOff x="0" y="0"/>
            <a:chExt cx="9326880" cy="640080"/>
          </a:xfrm>
        </p:grpSpPr>
        <p:sp>
          <p:nvSpPr>
            <p:cNvPr name="Freeform 65" id="65"/>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66" id="66"/>
            <p:cNvSpPr txBox="true"/>
            <p:nvPr/>
          </p:nvSpPr>
          <p:spPr>
            <a:xfrm>
              <a:off x="0" y="-38100"/>
              <a:ext cx="9326880" cy="678180"/>
            </a:xfrm>
            <a:prstGeom prst="rect">
              <a:avLst/>
            </a:prstGeom>
          </p:spPr>
          <p:txBody>
            <a:bodyPr anchor="ctr" rtlCol="false" tIns="0" lIns="0" bIns="0" rIns="0"/>
            <a:lstStyle/>
            <a:p>
              <a:pPr algn="l">
                <a:lnSpc>
                  <a:spcPts val="2160"/>
                </a:lnSpc>
              </a:pPr>
              <a:r>
                <a:rPr lang="en-US" sz="1800">
                  <a:solidFill>
                    <a:srgbClr val="14532D"/>
                  </a:solidFill>
                  <a:latin typeface="Calibri (MS)"/>
                  <a:ea typeface="Calibri (MS)"/>
                  <a:cs typeface="Calibri (MS)"/>
                  <a:sym typeface="Calibri (MS)"/>
                </a:rPr>
                <a:t>Saved output samples</a:t>
              </a:r>
            </a:p>
          </p:txBody>
        </p:sp>
      </p:grpSp>
      <p:grpSp>
        <p:nvGrpSpPr>
          <p:cNvPr name="Group 67" id="67"/>
          <p:cNvGrpSpPr/>
          <p:nvPr/>
        </p:nvGrpSpPr>
        <p:grpSpPr>
          <a:xfrm rot="0">
            <a:off x="9258300" y="2057400"/>
            <a:ext cx="8092440" cy="6172200"/>
            <a:chOff x="0" y="0"/>
            <a:chExt cx="10789920" cy="8229600"/>
          </a:xfrm>
        </p:grpSpPr>
        <p:sp>
          <p:nvSpPr>
            <p:cNvPr name="Freeform 68" id="68"/>
            <p:cNvSpPr/>
            <p:nvPr/>
          </p:nvSpPr>
          <p:spPr>
            <a:xfrm flipH="false" flipV="false" rot="0">
              <a:off x="0" y="0"/>
              <a:ext cx="10789920" cy="8229600"/>
            </a:xfrm>
            <a:custGeom>
              <a:avLst/>
              <a:gdLst/>
              <a:ahLst/>
              <a:cxnLst/>
              <a:rect r="r" b="b" t="t" l="l"/>
              <a:pathLst>
                <a:path h="8229600" w="10789920">
                  <a:moveTo>
                    <a:pt x="0" y="146304"/>
                  </a:moveTo>
                  <a:cubicBezTo>
                    <a:pt x="0" y="65532"/>
                    <a:pt x="65532" y="0"/>
                    <a:pt x="146304" y="0"/>
                  </a:cubicBezTo>
                  <a:lnTo>
                    <a:pt x="10643616" y="0"/>
                  </a:lnTo>
                  <a:cubicBezTo>
                    <a:pt x="10724388" y="0"/>
                    <a:pt x="10789920" y="65532"/>
                    <a:pt x="10789920" y="146304"/>
                  </a:cubicBezTo>
                  <a:lnTo>
                    <a:pt x="10789920" y="8083296"/>
                  </a:lnTo>
                  <a:cubicBezTo>
                    <a:pt x="10789920" y="8164068"/>
                    <a:pt x="10724388" y="8229600"/>
                    <a:pt x="10643616" y="8229600"/>
                  </a:cubicBezTo>
                  <a:lnTo>
                    <a:pt x="146304" y="8229600"/>
                  </a:lnTo>
                  <a:cubicBezTo>
                    <a:pt x="65532" y="8229600"/>
                    <a:pt x="0" y="8164068"/>
                    <a:pt x="0" y="8083296"/>
                  </a:cubicBezTo>
                  <a:close/>
                </a:path>
              </a:pathLst>
            </a:custGeom>
            <a:solidFill>
              <a:srgbClr val="FDF1E1"/>
            </a:solidFill>
          </p:spPr>
        </p:sp>
      </p:grpSp>
      <p:grpSp>
        <p:nvGrpSpPr>
          <p:cNvPr name="Group 69" id="69"/>
          <p:cNvGrpSpPr/>
          <p:nvPr/>
        </p:nvGrpSpPr>
        <p:grpSpPr>
          <a:xfrm rot="0">
            <a:off x="9601200" y="2304288"/>
            <a:ext cx="7269480" cy="480060"/>
            <a:chOff x="0" y="0"/>
            <a:chExt cx="9692640" cy="640080"/>
          </a:xfrm>
        </p:grpSpPr>
        <p:sp>
          <p:nvSpPr>
            <p:cNvPr name="Freeform 70" id="70"/>
            <p:cNvSpPr/>
            <p:nvPr/>
          </p:nvSpPr>
          <p:spPr>
            <a:xfrm flipH="false" flipV="false" rot="0">
              <a:off x="0" y="0"/>
              <a:ext cx="9692640" cy="640080"/>
            </a:xfrm>
            <a:custGeom>
              <a:avLst/>
              <a:gdLst/>
              <a:ahLst/>
              <a:cxnLst/>
              <a:rect r="r" b="b" t="t" l="l"/>
              <a:pathLst>
                <a:path h="640080" w="9692640">
                  <a:moveTo>
                    <a:pt x="0" y="0"/>
                  </a:moveTo>
                  <a:lnTo>
                    <a:pt x="9692640" y="0"/>
                  </a:lnTo>
                  <a:lnTo>
                    <a:pt x="9692640" y="640080"/>
                  </a:lnTo>
                  <a:lnTo>
                    <a:pt x="0" y="640080"/>
                  </a:lnTo>
                  <a:close/>
                </a:path>
              </a:pathLst>
            </a:custGeom>
            <a:blipFill>
              <a:blip r:embed="rId3">
                <a:alphaModFix amt="0"/>
              </a:blip>
              <a:stretch>
                <a:fillRect l="0" t="-245059" r="0" b="-245059"/>
              </a:stretch>
            </a:blipFill>
          </p:spPr>
        </p:sp>
        <p:sp>
          <p:nvSpPr>
            <p:cNvPr name="TextBox 71" id="71"/>
            <p:cNvSpPr txBox="true"/>
            <p:nvPr/>
          </p:nvSpPr>
          <p:spPr>
            <a:xfrm>
              <a:off x="0" y="-47625"/>
              <a:ext cx="9692640" cy="687705"/>
            </a:xfrm>
            <a:prstGeom prst="rect">
              <a:avLst/>
            </a:prstGeom>
          </p:spPr>
          <p:txBody>
            <a:bodyPr anchor="ctr" rtlCol="false" tIns="0" lIns="0" bIns="0" rIns="0"/>
            <a:lstStyle/>
            <a:p>
              <a:pPr algn="l">
                <a:lnSpc>
                  <a:spcPts val="2520"/>
                </a:lnSpc>
              </a:pPr>
              <a:r>
                <a:rPr lang="en-US" b="true" sz="2100" spc="150">
                  <a:solidFill>
                    <a:srgbClr val="D97706"/>
                  </a:solidFill>
                  <a:latin typeface="Calibri (MS) Bold"/>
                  <a:ea typeface="Calibri (MS) Bold"/>
                  <a:cs typeface="Calibri (MS) Bold"/>
                  <a:sym typeface="Calibri (MS) Bold"/>
                </a:rPr>
                <a:t>PLANNED / FUTURE WORK</a:t>
              </a:r>
            </a:p>
          </p:txBody>
        </p:sp>
      </p:grpSp>
      <p:grpSp>
        <p:nvGrpSpPr>
          <p:cNvPr name="Group 72" id="72"/>
          <p:cNvGrpSpPr/>
          <p:nvPr/>
        </p:nvGrpSpPr>
        <p:grpSpPr>
          <a:xfrm rot="0">
            <a:off x="9601200" y="2880360"/>
            <a:ext cx="411480" cy="480060"/>
            <a:chOff x="0" y="0"/>
            <a:chExt cx="548640" cy="640080"/>
          </a:xfrm>
        </p:grpSpPr>
        <p:sp>
          <p:nvSpPr>
            <p:cNvPr name="Freeform 73" id="73"/>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74" id="74"/>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D97706"/>
                  </a:solidFill>
                  <a:latin typeface="Calibri (MS) Bold"/>
                  <a:ea typeface="Calibri (MS) Bold"/>
                  <a:cs typeface="Calibri (MS) Bold"/>
                  <a:sym typeface="Calibri (MS) Bold"/>
                </a:rPr>
                <a:t>○</a:t>
              </a:r>
            </a:p>
          </p:txBody>
        </p:sp>
      </p:grpSp>
      <p:grpSp>
        <p:nvGrpSpPr>
          <p:cNvPr name="Group 75" id="75"/>
          <p:cNvGrpSpPr/>
          <p:nvPr/>
        </p:nvGrpSpPr>
        <p:grpSpPr>
          <a:xfrm rot="0">
            <a:off x="10081260" y="2880360"/>
            <a:ext cx="7063740" cy="822960"/>
            <a:chOff x="0" y="0"/>
            <a:chExt cx="9418320" cy="1097280"/>
          </a:xfrm>
        </p:grpSpPr>
        <p:sp>
          <p:nvSpPr>
            <p:cNvPr name="Freeform 76" id="76"/>
            <p:cNvSpPr/>
            <p:nvPr/>
          </p:nvSpPr>
          <p:spPr>
            <a:xfrm flipH="false" flipV="false" rot="0">
              <a:off x="0" y="0"/>
              <a:ext cx="9418320" cy="1097280"/>
            </a:xfrm>
            <a:custGeom>
              <a:avLst/>
              <a:gdLst/>
              <a:ahLst/>
              <a:cxnLst/>
              <a:rect r="r" b="b" t="t" l="l"/>
              <a:pathLst>
                <a:path h="1097280" w="9418320">
                  <a:moveTo>
                    <a:pt x="0" y="0"/>
                  </a:moveTo>
                  <a:lnTo>
                    <a:pt x="9418320" y="0"/>
                  </a:lnTo>
                  <a:lnTo>
                    <a:pt x="9418320" y="1097280"/>
                  </a:lnTo>
                  <a:lnTo>
                    <a:pt x="0" y="1097280"/>
                  </a:lnTo>
                  <a:close/>
                </a:path>
              </a:pathLst>
            </a:custGeom>
            <a:blipFill>
              <a:blip r:embed="rId3">
                <a:alphaModFix amt="0"/>
              </a:blip>
              <a:stretch>
                <a:fillRect l="0" t="-117246" r="0" b="-117246"/>
              </a:stretch>
            </a:blipFill>
          </p:spPr>
        </p:sp>
        <p:sp>
          <p:nvSpPr>
            <p:cNvPr name="TextBox 77" id="77"/>
            <p:cNvSpPr txBox="true"/>
            <p:nvPr/>
          </p:nvSpPr>
          <p:spPr>
            <a:xfrm>
              <a:off x="0" y="-38100"/>
              <a:ext cx="9418320" cy="1135380"/>
            </a:xfrm>
            <a:prstGeom prst="rect">
              <a:avLst/>
            </a:prstGeom>
          </p:spPr>
          <p:txBody>
            <a:bodyPr anchor="ctr" rtlCol="false" tIns="0" lIns="0" bIns="0" rIns="0"/>
            <a:lstStyle/>
            <a:p>
              <a:pPr algn="l">
                <a:lnSpc>
                  <a:spcPts val="2160"/>
                </a:lnSpc>
              </a:pPr>
              <a:r>
                <a:rPr lang="en-US" sz="1800">
                  <a:solidFill>
                    <a:srgbClr val="7C2D12"/>
                  </a:solidFill>
                  <a:latin typeface="Calibri (MS)"/>
                  <a:ea typeface="Calibri (MS)"/>
                  <a:cs typeface="Calibri (MS)"/>
                  <a:sym typeface="Calibri (MS)"/>
                </a:rPr>
                <a:t>Streamlit UI</a:t>
              </a:r>
            </a:p>
          </p:txBody>
        </p:sp>
      </p:grpSp>
      <p:grpSp>
        <p:nvGrpSpPr>
          <p:cNvPr name="Group 78" id="78"/>
          <p:cNvGrpSpPr/>
          <p:nvPr/>
        </p:nvGrpSpPr>
        <p:grpSpPr>
          <a:xfrm rot="0">
            <a:off x="9601200" y="3456432"/>
            <a:ext cx="411480" cy="480060"/>
            <a:chOff x="0" y="0"/>
            <a:chExt cx="548640" cy="640080"/>
          </a:xfrm>
        </p:grpSpPr>
        <p:sp>
          <p:nvSpPr>
            <p:cNvPr name="Freeform 79" id="79"/>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80" id="80"/>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D97706"/>
                  </a:solidFill>
                  <a:latin typeface="Calibri (MS) Bold"/>
                  <a:ea typeface="Calibri (MS) Bold"/>
                  <a:cs typeface="Calibri (MS) Bold"/>
                  <a:sym typeface="Calibri (MS) Bold"/>
                </a:rPr>
                <a:t>○</a:t>
              </a:r>
            </a:p>
          </p:txBody>
        </p:sp>
      </p:grpSp>
      <p:grpSp>
        <p:nvGrpSpPr>
          <p:cNvPr name="Group 81" id="81"/>
          <p:cNvGrpSpPr/>
          <p:nvPr/>
        </p:nvGrpSpPr>
        <p:grpSpPr>
          <a:xfrm rot="0">
            <a:off x="10081260" y="3456432"/>
            <a:ext cx="7063740" cy="822960"/>
            <a:chOff x="0" y="0"/>
            <a:chExt cx="9418320" cy="1097280"/>
          </a:xfrm>
        </p:grpSpPr>
        <p:sp>
          <p:nvSpPr>
            <p:cNvPr name="Freeform 82" id="82"/>
            <p:cNvSpPr/>
            <p:nvPr/>
          </p:nvSpPr>
          <p:spPr>
            <a:xfrm flipH="false" flipV="false" rot="0">
              <a:off x="0" y="0"/>
              <a:ext cx="9418320" cy="1097280"/>
            </a:xfrm>
            <a:custGeom>
              <a:avLst/>
              <a:gdLst/>
              <a:ahLst/>
              <a:cxnLst/>
              <a:rect r="r" b="b" t="t" l="l"/>
              <a:pathLst>
                <a:path h="1097280" w="9418320">
                  <a:moveTo>
                    <a:pt x="0" y="0"/>
                  </a:moveTo>
                  <a:lnTo>
                    <a:pt x="9418320" y="0"/>
                  </a:lnTo>
                  <a:lnTo>
                    <a:pt x="9418320" y="1097280"/>
                  </a:lnTo>
                  <a:lnTo>
                    <a:pt x="0" y="1097280"/>
                  </a:lnTo>
                  <a:close/>
                </a:path>
              </a:pathLst>
            </a:custGeom>
            <a:blipFill>
              <a:blip r:embed="rId3">
                <a:alphaModFix amt="0"/>
              </a:blip>
              <a:stretch>
                <a:fillRect l="0" t="-117246" r="0" b="-117246"/>
              </a:stretch>
            </a:blipFill>
          </p:spPr>
        </p:sp>
        <p:sp>
          <p:nvSpPr>
            <p:cNvPr name="TextBox 83" id="83"/>
            <p:cNvSpPr txBox="true"/>
            <p:nvPr/>
          </p:nvSpPr>
          <p:spPr>
            <a:xfrm>
              <a:off x="0" y="-38100"/>
              <a:ext cx="9418320" cy="1135380"/>
            </a:xfrm>
            <a:prstGeom prst="rect">
              <a:avLst/>
            </a:prstGeom>
          </p:spPr>
          <p:txBody>
            <a:bodyPr anchor="ctr" rtlCol="false" tIns="0" lIns="0" bIns="0" rIns="0"/>
            <a:lstStyle/>
            <a:p>
              <a:pPr algn="l">
                <a:lnSpc>
                  <a:spcPts val="2160"/>
                </a:lnSpc>
              </a:pPr>
              <a:r>
                <a:rPr lang="en-US" sz="1800">
                  <a:solidFill>
                    <a:srgbClr val="7C2D12"/>
                  </a:solidFill>
                  <a:latin typeface="Calibri (MS)"/>
                  <a:ea typeface="Calibri (MS)"/>
                  <a:cs typeface="Calibri (MS)"/>
                  <a:sym typeface="Calibri (MS)"/>
                </a:rPr>
                <a:t>MLflow tracking</a:t>
              </a:r>
            </a:p>
          </p:txBody>
        </p:sp>
      </p:grpSp>
      <p:grpSp>
        <p:nvGrpSpPr>
          <p:cNvPr name="Group 84" id="84"/>
          <p:cNvGrpSpPr/>
          <p:nvPr/>
        </p:nvGrpSpPr>
        <p:grpSpPr>
          <a:xfrm rot="0">
            <a:off x="9601200" y="4032504"/>
            <a:ext cx="411480" cy="480060"/>
            <a:chOff x="0" y="0"/>
            <a:chExt cx="548640" cy="640080"/>
          </a:xfrm>
        </p:grpSpPr>
        <p:sp>
          <p:nvSpPr>
            <p:cNvPr name="Freeform 85" id="85"/>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86" id="86"/>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D97706"/>
                  </a:solidFill>
                  <a:latin typeface="Calibri (MS) Bold"/>
                  <a:ea typeface="Calibri (MS) Bold"/>
                  <a:cs typeface="Calibri (MS) Bold"/>
                  <a:sym typeface="Calibri (MS) Bold"/>
                </a:rPr>
                <a:t>○</a:t>
              </a:r>
            </a:p>
          </p:txBody>
        </p:sp>
      </p:grpSp>
      <p:grpSp>
        <p:nvGrpSpPr>
          <p:cNvPr name="Group 87" id="87"/>
          <p:cNvGrpSpPr/>
          <p:nvPr/>
        </p:nvGrpSpPr>
        <p:grpSpPr>
          <a:xfrm rot="0">
            <a:off x="10081260" y="4032504"/>
            <a:ext cx="7063740" cy="822960"/>
            <a:chOff x="0" y="0"/>
            <a:chExt cx="9418320" cy="1097280"/>
          </a:xfrm>
        </p:grpSpPr>
        <p:sp>
          <p:nvSpPr>
            <p:cNvPr name="Freeform 88" id="88"/>
            <p:cNvSpPr/>
            <p:nvPr/>
          </p:nvSpPr>
          <p:spPr>
            <a:xfrm flipH="false" flipV="false" rot="0">
              <a:off x="0" y="0"/>
              <a:ext cx="9418320" cy="1097280"/>
            </a:xfrm>
            <a:custGeom>
              <a:avLst/>
              <a:gdLst/>
              <a:ahLst/>
              <a:cxnLst/>
              <a:rect r="r" b="b" t="t" l="l"/>
              <a:pathLst>
                <a:path h="1097280" w="9418320">
                  <a:moveTo>
                    <a:pt x="0" y="0"/>
                  </a:moveTo>
                  <a:lnTo>
                    <a:pt x="9418320" y="0"/>
                  </a:lnTo>
                  <a:lnTo>
                    <a:pt x="9418320" y="1097280"/>
                  </a:lnTo>
                  <a:lnTo>
                    <a:pt x="0" y="1097280"/>
                  </a:lnTo>
                  <a:close/>
                </a:path>
              </a:pathLst>
            </a:custGeom>
            <a:blipFill>
              <a:blip r:embed="rId3">
                <a:alphaModFix amt="0"/>
              </a:blip>
              <a:stretch>
                <a:fillRect l="0" t="-117246" r="0" b="-117246"/>
              </a:stretch>
            </a:blipFill>
          </p:spPr>
        </p:sp>
        <p:sp>
          <p:nvSpPr>
            <p:cNvPr name="TextBox 89" id="89"/>
            <p:cNvSpPr txBox="true"/>
            <p:nvPr/>
          </p:nvSpPr>
          <p:spPr>
            <a:xfrm>
              <a:off x="0" y="-38100"/>
              <a:ext cx="9418320" cy="1135380"/>
            </a:xfrm>
            <a:prstGeom prst="rect">
              <a:avLst/>
            </a:prstGeom>
          </p:spPr>
          <p:txBody>
            <a:bodyPr anchor="ctr" rtlCol="false" tIns="0" lIns="0" bIns="0" rIns="0"/>
            <a:lstStyle/>
            <a:p>
              <a:pPr algn="l">
                <a:lnSpc>
                  <a:spcPts val="2160"/>
                </a:lnSpc>
              </a:pPr>
              <a:r>
                <a:rPr lang="en-US" sz="1800">
                  <a:solidFill>
                    <a:srgbClr val="7C2D12"/>
                  </a:solidFill>
                  <a:latin typeface="Calibri (MS)"/>
                  <a:ea typeface="Calibri (MS)"/>
                  <a:cs typeface="Calibri (MS)"/>
                  <a:sym typeface="Calibri (MS)"/>
                </a:rPr>
                <a:t>CI/CD automation</a:t>
              </a:r>
            </a:p>
          </p:txBody>
        </p:sp>
      </p:grpSp>
      <p:grpSp>
        <p:nvGrpSpPr>
          <p:cNvPr name="Group 90" id="90"/>
          <p:cNvGrpSpPr/>
          <p:nvPr/>
        </p:nvGrpSpPr>
        <p:grpSpPr>
          <a:xfrm rot="0">
            <a:off x="9601200" y="4608576"/>
            <a:ext cx="411480" cy="480060"/>
            <a:chOff x="0" y="0"/>
            <a:chExt cx="548640" cy="640080"/>
          </a:xfrm>
        </p:grpSpPr>
        <p:sp>
          <p:nvSpPr>
            <p:cNvPr name="Freeform 91" id="91"/>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92" id="92"/>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D97706"/>
                  </a:solidFill>
                  <a:latin typeface="Calibri (MS) Bold"/>
                  <a:ea typeface="Calibri (MS) Bold"/>
                  <a:cs typeface="Calibri (MS) Bold"/>
                  <a:sym typeface="Calibri (MS) Bold"/>
                </a:rPr>
                <a:t>○</a:t>
              </a:r>
            </a:p>
          </p:txBody>
        </p:sp>
      </p:grpSp>
      <p:grpSp>
        <p:nvGrpSpPr>
          <p:cNvPr name="Group 93" id="93"/>
          <p:cNvGrpSpPr/>
          <p:nvPr/>
        </p:nvGrpSpPr>
        <p:grpSpPr>
          <a:xfrm rot="0">
            <a:off x="10081260" y="4608576"/>
            <a:ext cx="7063740" cy="822960"/>
            <a:chOff x="0" y="0"/>
            <a:chExt cx="9418320" cy="1097280"/>
          </a:xfrm>
        </p:grpSpPr>
        <p:sp>
          <p:nvSpPr>
            <p:cNvPr name="Freeform 94" id="94"/>
            <p:cNvSpPr/>
            <p:nvPr/>
          </p:nvSpPr>
          <p:spPr>
            <a:xfrm flipH="false" flipV="false" rot="0">
              <a:off x="0" y="0"/>
              <a:ext cx="9418320" cy="1097280"/>
            </a:xfrm>
            <a:custGeom>
              <a:avLst/>
              <a:gdLst/>
              <a:ahLst/>
              <a:cxnLst/>
              <a:rect r="r" b="b" t="t" l="l"/>
              <a:pathLst>
                <a:path h="1097280" w="9418320">
                  <a:moveTo>
                    <a:pt x="0" y="0"/>
                  </a:moveTo>
                  <a:lnTo>
                    <a:pt x="9418320" y="0"/>
                  </a:lnTo>
                  <a:lnTo>
                    <a:pt x="9418320" y="1097280"/>
                  </a:lnTo>
                  <a:lnTo>
                    <a:pt x="0" y="1097280"/>
                  </a:lnTo>
                  <a:close/>
                </a:path>
              </a:pathLst>
            </a:custGeom>
            <a:blipFill>
              <a:blip r:embed="rId3">
                <a:alphaModFix amt="0"/>
              </a:blip>
              <a:stretch>
                <a:fillRect l="0" t="-117246" r="0" b="-117246"/>
              </a:stretch>
            </a:blipFill>
          </p:spPr>
        </p:sp>
        <p:sp>
          <p:nvSpPr>
            <p:cNvPr name="TextBox 95" id="95"/>
            <p:cNvSpPr txBox="true"/>
            <p:nvPr/>
          </p:nvSpPr>
          <p:spPr>
            <a:xfrm>
              <a:off x="0" y="-38100"/>
              <a:ext cx="9418320" cy="1135380"/>
            </a:xfrm>
            <a:prstGeom prst="rect">
              <a:avLst/>
            </a:prstGeom>
          </p:spPr>
          <p:txBody>
            <a:bodyPr anchor="ctr" rtlCol="false" tIns="0" lIns="0" bIns="0" rIns="0"/>
            <a:lstStyle/>
            <a:p>
              <a:pPr algn="l">
                <a:lnSpc>
                  <a:spcPts val="2160"/>
                </a:lnSpc>
              </a:pPr>
              <a:r>
                <a:rPr lang="en-US" sz="1800">
                  <a:solidFill>
                    <a:srgbClr val="7C2D12"/>
                  </a:solidFill>
                  <a:latin typeface="Calibri (MS)"/>
                  <a:ea typeface="Calibri (MS)"/>
                  <a:cs typeface="Calibri (MS)"/>
                  <a:sym typeface="Calibri (MS)"/>
                </a:rPr>
                <a:t>Formal human evaluation</a:t>
              </a:r>
            </a:p>
          </p:txBody>
        </p:sp>
      </p:grpSp>
      <p:grpSp>
        <p:nvGrpSpPr>
          <p:cNvPr name="Group 96" id="96"/>
          <p:cNvGrpSpPr/>
          <p:nvPr/>
        </p:nvGrpSpPr>
        <p:grpSpPr>
          <a:xfrm rot="0">
            <a:off x="9601200" y="5184648"/>
            <a:ext cx="411480" cy="480060"/>
            <a:chOff x="0" y="0"/>
            <a:chExt cx="548640" cy="640080"/>
          </a:xfrm>
        </p:grpSpPr>
        <p:sp>
          <p:nvSpPr>
            <p:cNvPr name="Freeform 97" id="97"/>
            <p:cNvSpPr/>
            <p:nvPr/>
          </p:nvSpPr>
          <p:spPr>
            <a:xfrm flipH="false" flipV="false" rot="0">
              <a:off x="0" y="0"/>
              <a:ext cx="548640" cy="640080"/>
            </a:xfrm>
            <a:custGeom>
              <a:avLst/>
              <a:gdLst/>
              <a:ahLst/>
              <a:cxnLst/>
              <a:rect r="r" b="b" t="t" l="l"/>
              <a:pathLst>
                <a:path h="640080" w="548640">
                  <a:moveTo>
                    <a:pt x="0" y="0"/>
                  </a:moveTo>
                  <a:lnTo>
                    <a:pt x="548640" y="0"/>
                  </a:lnTo>
                  <a:lnTo>
                    <a:pt x="548640" y="640080"/>
                  </a:lnTo>
                  <a:lnTo>
                    <a:pt x="0" y="640080"/>
                  </a:lnTo>
                  <a:close/>
                </a:path>
              </a:pathLst>
            </a:custGeom>
            <a:blipFill>
              <a:blip r:embed="rId3">
                <a:alphaModFix amt="0"/>
              </a:blip>
              <a:stretch>
                <a:fillRect l="-99687" t="0" r="-99687" b="0"/>
              </a:stretch>
            </a:blipFill>
          </p:spPr>
        </p:sp>
        <p:sp>
          <p:nvSpPr>
            <p:cNvPr name="TextBox 98" id="98"/>
            <p:cNvSpPr txBox="true"/>
            <p:nvPr/>
          </p:nvSpPr>
          <p:spPr>
            <a:xfrm>
              <a:off x="0" y="-38100"/>
              <a:ext cx="548640" cy="678180"/>
            </a:xfrm>
            <a:prstGeom prst="rect">
              <a:avLst/>
            </a:prstGeom>
          </p:spPr>
          <p:txBody>
            <a:bodyPr anchor="ctr" rtlCol="false" tIns="0" lIns="0" bIns="0" rIns="0"/>
            <a:lstStyle/>
            <a:p>
              <a:pPr algn="l">
                <a:lnSpc>
                  <a:spcPts val="2160"/>
                </a:lnSpc>
              </a:pPr>
              <a:r>
                <a:rPr lang="en-US" sz="1800" b="true">
                  <a:solidFill>
                    <a:srgbClr val="D97706"/>
                  </a:solidFill>
                  <a:latin typeface="Calibri (MS) Bold"/>
                  <a:ea typeface="Calibri (MS) Bold"/>
                  <a:cs typeface="Calibri (MS) Bold"/>
                  <a:sym typeface="Calibri (MS) Bold"/>
                </a:rPr>
                <a:t>○</a:t>
              </a:r>
            </a:p>
          </p:txBody>
        </p:sp>
      </p:grpSp>
      <p:grpSp>
        <p:nvGrpSpPr>
          <p:cNvPr name="Group 99" id="99"/>
          <p:cNvGrpSpPr/>
          <p:nvPr/>
        </p:nvGrpSpPr>
        <p:grpSpPr>
          <a:xfrm rot="0">
            <a:off x="10081260" y="5184648"/>
            <a:ext cx="7063740" cy="822960"/>
            <a:chOff x="0" y="0"/>
            <a:chExt cx="9418320" cy="1097280"/>
          </a:xfrm>
        </p:grpSpPr>
        <p:sp>
          <p:nvSpPr>
            <p:cNvPr name="Freeform 100" id="100"/>
            <p:cNvSpPr/>
            <p:nvPr/>
          </p:nvSpPr>
          <p:spPr>
            <a:xfrm flipH="false" flipV="false" rot="0">
              <a:off x="0" y="0"/>
              <a:ext cx="9418320" cy="1097280"/>
            </a:xfrm>
            <a:custGeom>
              <a:avLst/>
              <a:gdLst/>
              <a:ahLst/>
              <a:cxnLst/>
              <a:rect r="r" b="b" t="t" l="l"/>
              <a:pathLst>
                <a:path h="1097280" w="9418320">
                  <a:moveTo>
                    <a:pt x="0" y="0"/>
                  </a:moveTo>
                  <a:lnTo>
                    <a:pt x="9418320" y="0"/>
                  </a:lnTo>
                  <a:lnTo>
                    <a:pt x="9418320" y="1097280"/>
                  </a:lnTo>
                  <a:lnTo>
                    <a:pt x="0" y="1097280"/>
                  </a:lnTo>
                  <a:close/>
                </a:path>
              </a:pathLst>
            </a:custGeom>
            <a:blipFill>
              <a:blip r:embed="rId3">
                <a:alphaModFix amt="0"/>
              </a:blip>
              <a:stretch>
                <a:fillRect l="0" t="-117246" r="0" b="-117246"/>
              </a:stretch>
            </a:blipFill>
          </p:spPr>
        </p:sp>
        <p:sp>
          <p:nvSpPr>
            <p:cNvPr name="TextBox 101" id="101"/>
            <p:cNvSpPr txBox="true"/>
            <p:nvPr/>
          </p:nvSpPr>
          <p:spPr>
            <a:xfrm>
              <a:off x="0" y="-38100"/>
              <a:ext cx="9418320" cy="1135380"/>
            </a:xfrm>
            <a:prstGeom prst="rect">
              <a:avLst/>
            </a:prstGeom>
          </p:spPr>
          <p:txBody>
            <a:bodyPr anchor="ctr" rtlCol="false" tIns="0" lIns="0" bIns="0" rIns="0"/>
            <a:lstStyle/>
            <a:p>
              <a:pPr algn="l">
                <a:lnSpc>
                  <a:spcPts val="2160"/>
                </a:lnSpc>
              </a:pPr>
              <a:r>
                <a:rPr lang="en-US" sz="1800">
                  <a:solidFill>
                    <a:srgbClr val="7C2D12"/>
                  </a:solidFill>
                  <a:latin typeface="Calibri (MS)"/>
                  <a:ea typeface="Calibri (MS)"/>
                  <a:cs typeface="Calibri (MS)"/>
                  <a:sym typeface="Calibri (MS)"/>
                </a:rPr>
                <a:t>Local fine-tuning / GAN comparison (superseded by agentic approach)</a:t>
              </a:r>
            </a:p>
          </p:txBody>
        </p:sp>
      </p:grpSp>
      <p:grpSp>
        <p:nvGrpSpPr>
          <p:cNvPr name="Group 102" id="102"/>
          <p:cNvGrpSpPr/>
          <p:nvPr/>
        </p:nvGrpSpPr>
        <p:grpSpPr>
          <a:xfrm rot="0">
            <a:off x="685800" y="9793224"/>
            <a:ext cx="10972800" cy="411480"/>
            <a:chOff x="0" y="0"/>
            <a:chExt cx="14630400" cy="548640"/>
          </a:xfrm>
        </p:grpSpPr>
        <p:sp>
          <p:nvSpPr>
            <p:cNvPr name="Freeform 103" id="10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04" id="10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105" id="105"/>
          <p:cNvGrpSpPr/>
          <p:nvPr/>
        </p:nvGrpSpPr>
        <p:grpSpPr>
          <a:xfrm rot="0">
            <a:off x="17282160" y="9793224"/>
            <a:ext cx="548640" cy="411480"/>
            <a:chOff x="0" y="0"/>
            <a:chExt cx="731520" cy="548640"/>
          </a:xfrm>
        </p:grpSpPr>
        <p:sp>
          <p:nvSpPr>
            <p:cNvPr name="Freeform 106" id="106"/>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07" id="107"/>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13</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7 · TESTING AND RESULTS</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Testing and Quality Assurance</a:t>
              </a:r>
            </a:p>
          </p:txBody>
        </p:sp>
      </p:grpSp>
      <p:grpSp>
        <p:nvGrpSpPr>
          <p:cNvPr name="Group 8" id="8"/>
          <p:cNvGrpSpPr/>
          <p:nvPr/>
        </p:nvGrpSpPr>
        <p:grpSpPr>
          <a:xfrm rot="0">
            <a:off x="960120" y="2194560"/>
            <a:ext cx="576072" cy="576072"/>
            <a:chOff x="0" y="0"/>
            <a:chExt cx="768096" cy="768096"/>
          </a:xfrm>
        </p:grpSpPr>
        <p:sp>
          <p:nvSpPr>
            <p:cNvPr name="Freeform 9" id="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7F7EE"/>
            </a:solidFill>
          </p:spPr>
        </p:sp>
      </p:grpSp>
      <p:grpSp>
        <p:nvGrpSpPr>
          <p:cNvPr name="Group 10" id="10"/>
          <p:cNvGrpSpPr/>
          <p:nvPr/>
        </p:nvGrpSpPr>
        <p:grpSpPr>
          <a:xfrm rot="0">
            <a:off x="1029252" y="2263692"/>
            <a:ext cx="437817" cy="437817"/>
            <a:chOff x="0" y="0"/>
            <a:chExt cx="583756" cy="583756"/>
          </a:xfrm>
        </p:grpSpPr>
        <p:sp>
          <p:nvSpPr>
            <p:cNvPr name="Freeform 11" id="11" descr="/home/claude/pptx/icons/testing.png"/>
            <p:cNvSpPr/>
            <p:nvPr/>
          </p:nvSpPr>
          <p:spPr>
            <a:xfrm flipH="false" flipV="false" rot="0">
              <a:off x="0" y="0"/>
              <a:ext cx="583692" cy="583692"/>
            </a:xfrm>
            <a:custGeom>
              <a:avLst/>
              <a:gdLst/>
              <a:ahLst/>
              <a:cxnLst/>
              <a:rect r="r" b="b" t="t" l="l"/>
              <a:pathLst>
                <a:path h="583692" w="583692">
                  <a:moveTo>
                    <a:pt x="0" y="0"/>
                  </a:moveTo>
                  <a:lnTo>
                    <a:pt x="583692" y="0"/>
                  </a:lnTo>
                  <a:lnTo>
                    <a:pt x="583692" y="583692"/>
                  </a:lnTo>
                  <a:lnTo>
                    <a:pt x="0" y="583692"/>
                  </a:lnTo>
                  <a:lnTo>
                    <a:pt x="0" y="0"/>
                  </a:lnTo>
                  <a:close/>
                </a:path>
              </a:pathLst>
            </a:custGeom>
            <a:blipFill>
              <a:blip r:embed="rId4"/>
              <a:stretch>
                <a:fillRect l="0" t="0" r="-10" b="-10"/>
              </a:stretch>
            </a:blipFill>
          </p:spPr>
        </p:sp>
      </p:grpSp>
      <p:grpSp>
        <p:nvGrpSpPr>
          <p:cNvPr name="Group 12" id="12"/>
          <p:cNvGrpSpPr/>
          <p:nvPr/>
        </p:nvGrpSpPr>
        <p:grpSpPr>
          <a:xfrm rot="0">
            <a:off x="1783080" y="2167128"/>
            <a:ext cx="7680960" cy="685800"/>
            <a:chOff x="0" y="0"/>
            <a:chExt cx="10241280" cy="914400"/>
          </a:xfrm>
        </p:grpSpPr>
        <p:sp>
          <p:nvSpPr>
            <p:cNvPr name="Freeform 13" id="13"/>
            <p:cNvSpPr/>
            <p:nvPr/>
          </p:nvSpPr>
          <p:spPr>
            <a:xfrm flipH="false" flipV="false" rot="0">
              <a:off x="0" y="0"/>
              <a:ext cx="10241280" cy="914400"/>
            </a:xfrm>
            <a:custGeom>
              <a:avLst/>
              <a:gdLst/>
              <a:ahLst/>
              <a:cxnLst/>
              <a:rect r="r" b="b" t="t" l="l"/>
              <a:pathLst>
                <a:path h="914400" w="10241280">
                  <a:moveTo>
                    <a:pt x="0" y="0"/>
                  </a:moveTo>
                  <a:lnTo>
                    <a:pt x="10241280" y="0"/>
                  </a:lnTo>
                  <a:lnTo>
                    <a:pt x="10241280" y="914400"/>
                  </a:lnTo>
                  <a:lnTo>
                    <a:pt x="0" y="914400"/>
                  </a:lnTo>
                  <a:close/>
                </a:path>
              </a:pathLst>
            </a:custGeom>
            <a:blipFill>
              <a:blip r:embed="rId3">
                <a:alphaModFix amt="0"/>
              </a:blip>
              <a:stretch>
                <a:fillRect l="0" t="-168232" r="0" b="-168232"/>
              </a:stretch>
            </a:blipFill>
          </p:spPr>
        </p:sp>
        <p:sp>
          <p:nvSpPr>
            <p:cNvPr name="TextBox 14" id="14"/>
            <p:cNvSpPr txBox="true"/>
            <p:nvPr/>
          </p:nvSpPr>
          <p:spPr>
            <a:xfrm>
              <a:off x="0" y="-38100"/>
              <a:ext cx="10241280" cy="952500"/>
            </a:xfrm>
            <a:prstGeom prst="rect">
              <a:avLst/>
            </a:prstGeom>
          </p:spPr>
          <p:txBody>
            <a:bodyPr anchor="ctr" rtlCol="false" tIns="0" lIns="0" bIns="0" rIns="0"/>
            <a:lstStyle/>
            <a:p>
              <a:pPr algn="l">
                <a:lnSpc>
                  <a:spcPts val="2250"/>
                </a:lnSpc>
              </a:pPr>
              <a:r>
                <a:rPr lang="en-US" sz="1875">
                  <a:solidFill>
                    <a:srgbClr val="17213B"/>
                  </a:solidFill>
                  <a:latin typeface="Calibri (MS)"/>
                  <a:ea typeface="Calibri (MS)"/>
                  <a:cs typeface="Calibri (MS)"/>
                  <a:sym typeface="Calibri (MS)"/>
                </a:rPr>
                <a:t>Health endpoint test — verifies readiness and status fields</a:t>
              </a:r>
            </a:p>
          </p:txBody>
        </p:sp>
      </p:grpSp>
      <p:grpSp>
        <p:nvGrpSpPr>
          <p:cNvPr name="Group 15" id="15"/>
          <p:cNvGrpSpPr/>
          <p:nvPr/>
        </p:nvGrpSpPr>
        <p:grpSpPr>
          <a:xfrm rot="0">
            <a:off x="960120" y="3099816"/>
            <a:ext cx="576072" cy="576072"/>
            <a:chOff x="0" y="0"/>
            <a:chExt cx="768096" cy="768096"/>
          </a:xfrm>
        </p:grpSpPr>
        <p:sp>
          <p:nvSpPr>
            <p:cNvPr name="Freeform 16" id="1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7F7EE"/>
            </a:solidFill>
          </p:spPr>
        </p:sp>
      </p:grpSp>
      <p:grpSp>
        <p:nvGrpSpPr>
          <p:cNvPr name="Group 17" id="17"/>
          <p:cNvGrpSpPr/>
          <p:nvPr/>
        </p:nvGrpSpPr>
        <p:grpSpPr>
          <a:xfrm rot="0">
            <a:off x="1029252" y="3168948"/>
            <a:ext cx="437817" cy="437817"/>
            <a:chOff x="0" y="0"/>
            <a:chExt cx="583756" cy="583756"/>
          </a:xfrm>
        </p:grpSpPr>
        <p:sp>
          <p:nvSpPr>
            <p:cNvPr name="Freeform 18" id="18" descr="/home/claude/pptx/icons/testing.png"/>
            <p:cNvSpPr/>
            <p:nvPr/>
          </p:nvSpPr>
          <p:spPr>
            <a:xfrm flipH="false" flipV="false" rot="0">
              <a:off x="0" y="0"/>
              <a:ext cx="583692" cy="583692"/>
            </a:xfrm>
            <a:custGeom>
              <a:avLst/>
              <a:gdLst/>
              <a:ahLst/>
              <a:cxnLst/>
              <a:rect r="r" b="b" t="t" l="l"/>
              <a:pathLst>
                <a:path h="583692" w="583692">
                  <a:moveTo>
                    <a:pt x="0" y="0"/>
                  </a:moveTo>
                  <a:lnTo>
                    <a:pt x="583692" y="0"/>
                  </a:lnTo>
                  <a:lnTo>
                    <a:pt x="583692" y="583692"/>
                  </a:lnTo>
                  <a:lnTo>
                    <a:pt x="0" y="583692"/>
                  </a:lnTo>
                  <a:lnTo>
                    <a:pt x="0" y="0"/>
                  </a:lnTo>
                  <a:close/>
                </a:path>
              </a:pathLst>
            </a:custGeom>
            <a:blipFill>
              <a:blip r:embed="rId4"/>
              <a:stretch>
                <a:fillRect l="0" t="0" r="-10" b="-10"/>
              </a:stretch>
            </a:blipFill>
          </p:spPr>
        </p:sp>
      </p:grpSp>
      <p:grpSp>
        <p:nvGrpSpPr>
          <p:cNvPr name="Group 19" id="19"/>
          <p:cNvGrpSpPr/>
          <p:nvPr/>
        </p:nvGrpSpPr>
        <p:grpSpPr>
          <a:xfrm rot="0">
            <a:off x="1783080" y="3072384"/>
            <a:ext cx="7680960" cy="685800"/>
            <a:chOff x="0" y="0"/>
            <a:chExt cx="10241280" cy="914400"/>
          </a:xfrm>
        </p:grpSpPr>
        <p:sp>
          <p:nvSpPr>
            <p:cNvPr name="Freeform 20" id="20"/>
            <p:cNvSpPr/>
            <p:nvPr/>
          </p:nvSpPr>
          <p:spPr>
            <a:xfrm flipH="false" flipV="false" rot="0">
              <a:off x="0" y="0"/>
              <a:ext cx="10241280" cy="914400"/>
            </a:xfrm>
            <a:custGeom>
              <a:avLst/>
              <a:gdLst/>
              <a:ahLst/>
              <a:cxnLst/>
              <a:rect r="r" b="b" t="t" l="l"/>
              <a:pathLst>
                <a:path h="914400" w="10241280">
                  <a:moveTo>
                    <a:pt x="0" y="0"/>
                  </a:moveTo>
                  <a:lnTo>
                    <a:pt x="10241280" y="0"/>
                  </a:lnTo>
                  <a:lnTo>
                    <a:pt x="10241280" y="914400"/>
                  </a:lnTo>
                  <a:lnTo>
                    <a:pt x="0" y="914400"/>
                  </a:lnTo>
                  <a:close/>
                </a:path>
              </a:pathLst>
            </a:custGeom>
            <a:blipFill>
              <a:blip r:embed="rId3">
                <a:alphaModFix amt="0"/>
              </a:blip>
              <a:stretch>
                <a:fillRect l="0" t="-168232" r="0" b="-168232"/>
              </a:stretch>
            </a:blipFill>
          </p:spPr>
        </p:sp>
        <p:sp>
          <p:nvSpPr>
            <p:cNvPr name="TextBox 21" id="21"/>
            <p:cNvSpPr txBox="true"/>
            <p:nvPr/>
          </p:nvSpPr>
          <p:spPr>
            <a:xfrm>
              <a:off x="0" y="-38100"/>
              <a:ext cx="10241280" cy="952500"/>
            </a:xfrm>
            <a:prstGeom prst="rect">
              <a:avLst/>
            </a:prstGeom>
          </p:spPr>
          <p:txBody>
            <a:bodyPr anchor="ctr" rtlCol="false" tIns="0" lIns="0" bIns="0" rIns="0"/>
            <a:lstStyle/>
            <a:p>
              <a:pPr algn="l">
                <a:lnSpc>
                  <a:spcPts val="2250"/>
                </a:lnSpc>
              </a:pPr>
              <a:r>
                <a:rPr lang="en-US" sz="1875">
                  <a:solidFill>
                    <a:srgbClr val="17213B"/>
                  </a:solidFill>
                  <a:latin typeface="Calibri (MS)"/>
                  <a:ea typeface="Calibri (MS)"/>
                  <a:cs typeface="Calibri (MS)"/>
                  <a:sym typeface="Calibri (MS)"/>
                </a:rPr>
                <a:t>Generate endpoint test — valid minimal request returns 202 + job_id</a:t>
              </a:r>
            </a:p>
          </p:txBody>
        </p:sp>
      </p:grpSp>
      <p:grpSp>
        <p:nvGrpSpPr>
          <p:cNvPr name="Group 22" id="22"/>
          <p:cNvGrpSpPr/>
          <p:nvPr/>
        </p:nvGrpSpPr>
        <p:grpSpPr>
          <a:xfrm rot="0">
            <a:off x="960120" y="4005072"/>
            <a:ext cx="576072" cy="576072"/>
            <a:chOff x="0" y="0"/>
            <a:chExt cx="768096" cy="768096"/>
          </a:xfrm>
        </p:grpSpPr>
        <p:sp>
          <p:nvSpPr>
            <p:cNvPr name="Freeform 23" id="2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7F7EE"/>
            </a:solidFill>
          </p:spPr>
        </p:sp>
      </p:grpSp>
      <p:grpSp>
        <p:nvGrpSpPr>
          <p:cNvPr name="Group 24" id="24"/>
          <p:cNvGrpSpPr/>
          <p:nvPr/>
        </p:nvGrpSpPr>
        <p:grpSpPr>
          <a:xfrm rot="0">
            <a:off x="1029252" y="4074204"/>
            <a:ext cx="437817" cy="437817"/>
            <a:chOff x="0" y="0"/>
            <a:chExt cx="583756" cy="583756"/>
          </a:xfrm>
        </p:grpSpPr>
        <p:sp>
          <p:nvSpPr>
            <p:cNvPr name="Freeform 25" id="25" descr="/home/claude/pptx/icons/testing.png"/>
            <p:cNvSpPr/>
            <p:nvPr/>
          </p:nvSpPr>
          <p:spPr>
            <a:xfrm flipH="false" flipV="false" rot="0">
              <a:off x="0" y="0"/>
              <a:ext cx="583692" cy="583692"/>
            </a:xfrm>
            <a:custGeom>
              <a:avLst/>
              <a:gdLst/>
              <a:ahLst/>
              <a:cxnLst/>
              <a:rect r="r" b="b" t="t" l="l"/>
              <a:pathLst>
                <a:path h="583692" w="583692">
                  <a:moveTo>
                    <a:pt x="0" y="0"/>
                  </a:moveTo>
                  <a:lnTo>
                    <a:pt x="583692" y="0"/>
                  </a:lnTo>
                  <a:lnTo>
                    <a:pt x="583692" y="583692"/>
                  </a:lnTo>
                  <a:lnTo>
                    <a:pt x="0" y="583692"/>
                  </a:lnTo>
                  <a:lnTo>
                    <a:pt x="0" y="0"/>
                  </a:lnTo>
                  <a:close/>
                </a:path>
              </a:pathLst>
            </a:custGeom>
            <a:blipFill>
              <a:blip r:embed="rId4"/>
              <a:stretch>
                <a:fillRect l="0" t="0" r="-10" b="-10"/>
              </a:stretch>
            </a:blipFill>
          </p:spPr>
        </p:sp>
      </p:grpSp>
      <p:grpSp>
        <p:nvGrpSpPr>
          <p:cNvPr name="Group 26" id="26"/>
          <p:cNvGrpSpPr/>
          <p:nvPr/>
        </p:nvGrpSpPr>
        <p:grpSpPr>
          <a:xfrm rot="0">
            <a:off x="1783080" y="3977640"/>
            <a:ext cx="7680960" cy="685800"/>
            <a:chOff x="0" y="0"/>
            <a:chExt cx="10241280" cy="914400"/>
          </a:xfrm>
        </p:grpSpPr>
        <p:sp>
          <p:nvSpPr>
            <p:cNvPr name="Freeform 27" id="27"/>
            <p:cNvSpPr/>
            <p:nvPr/>
          </p:nvSpPr>
          <p:spPr>
            <a:xfrm flipH="false" flipV="false" rot="0">
              <a:off x="0" y="0"/>
              <a:ext cx="10241280" cy="914400"/>
            </a:xfrm>
            <a:custGeom>
              <a:avLst/>
              <a:gdLst/>
              <a:ahLst/>
              <a:cxnLst/>
              <a:rect r="r" b="b" t="t" l="l"/>
              <a:pathLst>
                <a:path h="914400" w="10241280">
                  <a:moveTo>
                    <a:pt x="0" y="0"/>
                  </a:moveTo>
                  <a:lnTo>
                    <a:pt x="10241280" y="0"/>
                  </a:lnTo>
                  <a:lnTo>
                    <a:pt x="10241280" y="914400"/>
                  </a:lnTo>
                  <a:lnTo>
                    <a:pt x="0" y="914400"/>
                  </a:lnTo>
                  <a:close/>
                </a:path>
              </a:pathLst>
            </a:custGeom>
            <a:blipFill>
              <a:blip r:embed="rId3">
                <a:alphaModFix amt="0"/>
              </a:blip>
              <a:stretch>
                <a:fillRect l="0" t="-168232" r="0" b="-168232"/>
              </a:stretch>
            </a:blipFill>
          </p:spPr>
        </p:sp>
        <p:sp>
          <p:nvSpPr>
            <p:cNvPr name="TextBox 28" id="28"/>
            <p:cNvSpPr txBox="true"/>
            <p:nvPr/>
          </p:nvSpPr>
          <p:spPr>
            <a:xfrm>
              <a:off x="0" y="-38100"/>
              <a:ext cx="10241280" cy="952500"/>
            </a:xfrm>
            <a:prstGeom prst="rect">
              <a:avLst/>
            </a:prstGeom>
          </p:spPr>
          <p:txBody>
            <a:bodyPr anchor="ctr" rtlCol="false" tIns="0" lIns="0" bIns="0" rIns="0"/>
            <a:lstStyle/>
            <a:p>
              <a:pPr algn="l">
                <a:lnSpc>
                  <a:spcPts val="2250"/>
                </a:lnSpc>
              </a:pPr>
              <a:r>
                <a:rPr lang="en-US" sz="1875">
                  <a:solidFill>
                    <a:srgbClr val="17213B"/>
                  </a:solidFill>
                  <a:latin typeface="Calibri (MS)"/>
                  <a:ea typeface="Calibri (MS)"/>
                  <a:cs typeface="Calibri (MS)"/>
                  <a:sym typeface="Calibri (MS)"/>
                </a:rPr>
                <a:t>Missing required field validation (topic / content_type)</a:t>
              </a:r>
            </a:p>
          </p:txBody>
        </p:sp>
      </p:grpSp>
      <p:grpSp>
        <p:nvGrpSpPr>
          <p:cNvPr name="Group 29" id="29"/>
          <p:cNvGrpSpPr/>
          <p:nvPr/>
        </p:nvGrpSpPr>
        <p:grpSpPr>
          <a:xfrm rot="0">
            <a:off x="960120" y="4910328"/>
            <a:ext cx="576072" cy="576072"/>
            <a:chOff x="0" y="0"/>
            <a:chExt cx="768096" cy="768096"/>
          </a:xfrm>
        </p:grpSpPr>
        <p:sp>
          <p:nvSpPr>
            <p:cNvPr name="Freeform 30" id="3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7F7EE"/>
            </a:solidFill>
          </p:spPr>
        </p:sp>
      </p:grpSp>
      <p:grpSp>
        <p:nvGrpSpPr>
          <p:cNvPr name="Group 31" id="31"/>
          <p:cNvGrpSpPr/>
          <p:nvPr/>
        </p:nvGrpSpPr>
        <p:grpSpPr>
          <a:xfrm rot="0">
            <a:off x="1029252" y="4979460"/>
            <a:ext cx="437817" cy="437817"/>
            <a:chOff x="0" y="0"/>
            <a:chExt cx="583756" cy="583756"/>
          </a:xfrm>
        </p:grpSpPr>
        <p:sp>
          <p:nvSpPr>
            <p:cNvPr name="Freeform 32" id="32" descr="/home/claude/pptx/icons/testing.png"/>
            <p:cNvSpPr/>
            <p:nvPr/>
          </p:nvSpPr>
          <p:spPr>
            <a:xfrm flipH="false" flipV="false" rot="0">
              <a:off x="0" y="0"/>
              <a:ext cx="583692" cy="583692"/>
            </a:xfrm>
            <a:custGeom>
              <a:avLst/>
              <a:gdLst/>
              <a:ahLst/>
              <a:cxnLst/>
              <a:rect r="r" b="b" t="t" l="l"/>
              <a:pathLst>
                <a:path h="583692" w="583692">
                  <a:moveTo>
                    <a:pt x="0" y="0"/>
                  </a:moveTo>
                  <a:lnTo>
                    <a:pt x="583692" y="0"/>
                  </a:lnTo>
                  <a:lnTo>
                    <a:pt x="583692" y="583692"/>
                  </a:lnTo>
                  <a:lnTo>
                    <a:pt x="0" y="583692"/>
                  </a:lnTo>
                  <a:lnTo>
                    <a:pt x="0" y="0"/>
                  </a:lnTo>
                  <a:close/>
                </a:path>
              </a:pathLst>
            </a:custGeom>
            <a:blipFill>
              <a:blip r:embed="rId4"/>
              <a:stretch>
                <a:fillRect l="0" t="0" r="-10" b="-10"/>
              </a:stretch>
            </a:blipFill>
          </p:spPr>
        </p:sp>
      </p:grpSp>
      <p:grpSp>
        <p:nvGrpSpPr>
          <p:cNvPr name="Group 33" id="33"/>
          <p:cNvGrpSpPr/>
          <p:nvPr/>
        </p:nvGrpSpPr>
        <p:grpSpPr>
          <a:xfrm rot="0">
            <a:off x="1783080" y="4882896"/>
            <a:ext cx="7680960" cy="685800"/>
            <a:chOff x="0" y="0"/>
            <a:chExt cx="10241280" cy="914400"/>
          </a:xfrm>
        </p:grpSpPr>
        <p:sp>
          <p:nvSpPr>
            <p:cNvPr name="Freeform 34" id="34"/>
            <p:cNvSpPr/>
            <p:nvPr/>
          </p:nvSpPr>
          <p:spPr>
            <a:xfrm flipH="false" flipV="false" rot="0">
              <a:off x="0" y="0"/>
              <a:ext cx="10241280" cy="914400"/>
            </a:xfrm>
            <a:custGeom>
              <a:avLst/>
              <a:gdLst/>
              <a:ahLst/>
              <a:cxnLst/>
              <a:rect r="r" b="b" t="t" l="l"/>
              <a:pathLst>
                <a:path h="914400" w="10241280">
                  <a:moveTo>
                    <a:pt x="0" y="0"/>
                  </a:moveTo>
                  <a:lnTo>
                    <a:pt x="10241280" y="0"/>
                  </a:lnTo>
                  <a:lnTo>
                    <a:pt x="10241280" y="914400"/>
                  </a:lnTo>
                  <a:lnTo>
                    <a:pt x="0" y="914400"/>
                  </a:lnTo>
                  <a:close/>
                </a:path>
              </a:pathLst>
            </a:custGeom>
            <a:blipFill>
              <a:blip r:embed="rId3">
                <a:alphaModFix amt="0"/>
              </a:blip>
              <a:stretch>
                <a:fillRect l="0" t="-168232" r="0" b="-168232"/>
              </a:stretch>
            </a:blipFill>
          </p:spPr>
        </p:sp>
        <p:sp>
          <p:nvSpPr>
            <p:cNvPr name="TextBox 35" id="35"/>
            <p:cNvSpPr txBox="true"/>
            <p:nvPr/>
          </p:nvSpPr>
          <p:spPr>
            <a:xfrm>
              <a:off x="0" y="-38100"/>
              <a:ext cx="10241280" cy="952500"/>
            </a:xfrm>
            <a:prstGeom prst="rect">
              <a:avLst/>
            </a:prstGeom>
          </p:spPr>
          <p:txBody>
            <a:bodyPr anchor="ctr" rtlCol="false" tIns="0" lIns="0" bIns="0" rIns="0"/>
            <a:lstStyle/>
            <a:p>
              <a:pPr algn="l">
                <a:lnSpc>
                  <a:spcPts val="2250"/>
                </a:lnSpc>
              </a:pPr>
              <a:r>
                <a:rPr lang="en-US" sz="1875">
                  <a:solidFill>
                    <a:srgbClr val="17213B"/>
                  </a:solidFill>
                  <a:latin typeface="Calibri (MS)"/>
                  <a:ea typeface="Calibri (MS)"/>
                  <a:cs typeface="Calibri (MS)"/>
                  <a:sym typeface="Calibri (MS)"/>
                </a:rPr>
                <a:t>Invalid max_tokens validation (above allowed ceiling)</a:t>
              </a:r>
            </a:p>
          </p:txBody>
        </p:sp>
      </p:grpSp>
      <p:grpSp>
        <p:nvGrpSpPr>
          <p:cNvPr name="Group 36" id="36"/>
          <p:cNvGrpSpPr/>
          <p:nvPr/>
        </p:nvGrpSpPr>
        <p:grpSpPr>
          <a:xfrm rot="0">
            <a:off x="960120" y="6021324"/>
            <a:ext cx="8229600" cy="685800"/>
            <a:chOff x="0" y="0"/>
            <a:chExt cx="10972800" cy="914400"/>
          </a:xfrm>
        </p:grpSpPr>
        <p:sp>
          <p:nvSpPr>
            <p:cNvPr name="Freeform 37" id="37"/>
            <p:cNvSpPr/>
            <p:nvPr/>
          </p:nvSpPr>
          <p:spPr>
            <a:xfrm flipH="false" flipV="false" rot="0">
              <a:off x="0" y="0"/>
              <a:ext cx="10972800" cy="914400"/>
            </a:xfrm>
            <a:custGeom>
              <a:avLst/>
              <a:gdLst/>
              <a:ahLst/>
              <a:cxnLst/>
              <a:rect r="r" b="b" t="t" l="l"/>
              <a:pathLst>
                <a:path h="914400" w="10972800">
                  <a:moveTo>
                    <a:pt x="0" y="0"/>
                  </a:moveTo>
                  <a:lnTo>
                    <a:pt x="10972800" y="0"/>
                  </a:lnTo>
                  <a:lnTo>
                    <a:pt x="10972800" y="914400"/>
                  </a:lnTo>
                  <a:lnTo>
                    <a:pt x="0" y="914400"/>
                  </a:lnTo>
                  <a:close/>
                </a:path>
              </a:pathLst>
            </a:custGeom>
            <a:blipFill>
              <a:blip r:embed="rId3">
                <a:alphaModFix amt="0"/>
              </a:blip>
              <a:stretch>
                <a:fillRect l="0" t="-183820" r="0" b="-183820"/>
              </a:stretch>
            </a:blipFill>
          </p:spPr>
        </p:sp>
        <p:sp>
          <p:nvSpPr>
            <p:cNvPr name="TextBox 38" id="38"/>
            <p:cNvSpPr txBox="true"/>
            <p:nvPr/>
          </p:nvSpPr>
          <p:spPr>
            <a:xfrm>
              <a:off x="0" y="-38100"/>
              <a:ext cx="10972800" cy="952500"/>
            </a:xfrm>
            <a:prstGeom prst="rect">
              <a:avLst/>
            </a:prstGeom>
          </p:spPr>
          <p:txBody>
            <a:bodyPr anchor="ctr" rtlCol="false" tIns="0" lIns="0" bIns="0" rIns="0"/>
            <a:lstStyle/>
            <a:p>
              <a:pPr algn="l">
                <a:lnSpc>
                  <a:spcPts val="2070"/>
                </a:lnSpc>
              </a:pPr>
              <a:r>
                <a:rPr lang="en-US" sz="1725" i="true">
                  <a:solidFill>
                    <a:srgbClr val="64748B"/>
                  </a:solidFill>
                  <a:latin typeface="Calibri (MS) Italics"/>
                  <a:ea typeface="Calibri (MS) Italics"/>
                  <a:cs typeface="Calibri (MS) Italics"/>
                  <a:sym typeface="Calibri (MS) Italics"/>
                </a:rPr>
                <a:t>All API-layer tests run automatically with pytest and FastAPI's TestClient.</a:t>
              </a:r>
            </a:p>
          </p:txBody>
        </p:sp>
      </p:grpSp>
      <p:pic>
        <p:nvPicPr>
          <p:cNvPr name="Picture 39" id="39"/>
          <p:cNvPicPr>
            <a:picLocks noChangeAspect="true"/>
          </p:cNvPicPr>
          <p:nvPr/>
        </p:nvPicPr>
        <p:blipFill>
          <a:blip r:embed="rId5"/>
          <a:stretch>
            <a:fillRect/>
          </a:stretch>
        </p:blipFill>
        <p:spPr>
          <a:xfrm rot="0">
            <a:off x="9052560" y="1303020"/>
            <a:ext cx="9052560" cy="7818120"/>
          </a:xfrm>
          <a:prstGeom prst="rect">
            <a:avLst/>
          </a:prstGeom>
        </p:spPr>
      </p:pic>
      <p:grpSp>
        <p:nvGrpSpPr>
          <p:cNvPr name="Group 40" id="40"/>
          <p:cNvGrpSpPr/>
          <p:nvPr/>
        </p:nvGrpSpPr>
        <p:grpSpPr>
          <a:xfrm rot="0">
            <a:off x="685800" y="9793224"/>
            <a:ext cx="10972800" cy="411480"/>
            <a:chOff x="0" y="0"/>
            <a:chExt cx="14630400" cy="548640"/>
          </a:xfrm>
        </p:grpSpPr>
        <p:sp>
          <p:nvSpPr>
            <p:cNvPr name="Freeform 41" id="4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2" id="42"/>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43" id="43"/>
          <p:cNvGrpSpPr/>
          <p:nvPr/>
        </p:nvGrpSpPr>
        <p:grpSpPr>
          <a:xfrm rot="0">
            <a:off x="17282160" y="9793224"/>
            <a:ext cx="548640" cy="411480"/>
            <a:chOff x="0" y="0"/>
            <a:chExt cx="731520" cy="548640"/>
          </a:xfrm>
        </p:grpSpPr>
        <p:sp>
          <p:nvSpPr>
            <p:cNvPr name="Freeform 44" id="44"/>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45" id="45"/>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14</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7 · TESTING AND RESULTS</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Results and Evaluation</a:t>
              </a:r>
            </a:p>
          </p:txBody>
        </p:sp>
      </p:grpSp>
      <p:grpSp>
        <p:nvGrpSpPr>
          <p:cNvPr name="Group 8" id="8"/>
          <p:cNvGrpSpPr/>
          <p:nvPr/>
        </p:nvGrpSpPr>
        <p:grpSpPr>
          <a:xfrm rot="0">
            <a:off x="960120" y="1755648"/>
            <a:ext cx="15773400" cy="480060"/>
            <a:chOff x="0" y="0"/>
            <a:chExt cx="21031200" cy="640080"/>
          </a:xfrm>
        </p:grpSpPr>
        <p:sp>
          <p:nvSpPr>
            <p:cNvPr name="Freeform 9" id="9"/>
            <p:cNvSpPr/>
            <p:nvPr/>
          </p:nvSpPr>
          <p:spPr>
            <a:xfrm flipH="false" flipV="false" rot="0">
              <a:off x="0" y="0"/>
              <a:ext cx="21031200" cy="640080"/>
            </a:xfrm>
            <a:custGeom>
              <a:avLst/>
              <a:gdLst/>
              <a:ahLst/>
              <a:cxnLst/>
              <a:rect r="r" b="b" t="t" l="l"/>
              <a:pathLst>
                <a:path h="640080" w="21031200">
                  <a:moveTo>
                    <a:pt x="0" y="0"/>
                  </a:moveTo>
                  <a:lnTo>
                    <a:pt x="21031200" y="0"/>
                  </a:lnTo>
                  <a:lnTo>
                    <a:pt x="21031200" y="640080"/>
                  </a:lnTo>
                  <a:lnTo>
                    <a:pt x="0" y="640080"/>
                  </a:lnTo>
                  <a:close/>
                </a:path>
              </a:pathLst>
            </a:custGeom>
            <a:blipFill>
              <a:blip r:embed="rId3">
                <a:alphaModFix amt="0"/>
              </a:blip>
              <a:stretch>
                <a:fillRect l="0" t="-590222" r="0" b="-590222"/>
              </a:stretch>
            </a:blipFill>
          </p:spPr>
        </p:sp>
        <p:sp>
          <p:nvSpPr>
            <p:cNvPr name="TextBox 10" id="10"/>
            <p:cNvSpPr txBox="true"/>
            <p:nvPr/>
          </p:nvSpPr>
          <p:spPr>
            <a:xfrm>
              <a:off x="0" y="-47625"/>
              <a:ext cx="21031200" cy="687705"/>
            </a:xfrm>
            <a:prstGeom prst="rect">
              <a:avLst/>
            </a:prstGeom>
          </p:spPr>
          <p:txBody>
            <a:bodyPr anchor="ctr" rtlCol="false" tIns="0" lIns="0" bIns="0" rIns="0"/>
            <a:lstStyle/>
            <a:p>
              <a:pPr algn="l">
                <a:lnSpc>
                  <a:spcPts val="2340"/>
                </a:lnSpc>
              </a:pPr>
              <a:r>
                <a:rPr lang="en-US" sz="1950" i="true">
                  <a:solidFill>
                    <a:srgbClr val="64748B"/>
                  </a:solidFill>
                  <a:latin typeface="Calibri (MS) Italics"/>
                  <a:ea typeface="Calibri (MS) Italics"/>
                  <a:cs typeface="Calibri (MS) Italics"/>
                  <a:sym typeface="Calibri (MS) Italics"/>
                </a:rPr>
                <a:t>Actual critique-agent scores recorded from saved runs in data/outputs/.</a:t>
              </a:r>
            </a:p>
          </p:txBody>
        </p:sp>
      </p:grpSp>
      <p:graphicFrame>
        <p:nvGraphicFramePr>
          <p:cNvPr name="Table 11" id="11"/>
          <p:cNvGraphicFramePr>
            <a:graphicFrameLocks noGrp="true"/>
          </p:cNvGraphicFramePr>
          <p:nvPr/>
        </p:nvGraphicFramePr>
        <p:xfrm>
          <a:off x="960120" y="2537460"/>
          <a:ext cx="9448800" cy="4457700"/>
        </p:xfrm>
        <a:graphic>
          <a:graphicData uri="http://schemas.openxmlformats.org/drawingml/2006/table">
            <a:tbl>
              <a:tblPr/>
              <a:tblGrid>
                <a:gridCol w="3692439"/>
                <a:gridCol w="2878180"/>
                <a:gridCol w="2878180"/>
              </a:tblGrid>
              <a:tr h="74295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Content Type</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16213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Overall Score</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16213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Final Status</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16213E"/>
                    </a:solidFill>
                  </a:tcPr>
                </a:tc>
              </a:tr>
              <a:tr h="742950">
                <a:tc>
                  <a:txBody>
                    <a:bodyPr anchor="t" rtlCol="false"/>
                    <a:lstStyle/>
                    <a:p>
                      <a:pPr algn="l">
                        <a:lnSpc>
                          <a:spcPts val="2340"/>
                        </a:lnSpc>
                        <a:defRPr/>
                      </a:pPr>
                      <a:r>
                        <a:rPr lang="en-US" sz="1950">
                          <a:solidFill>
                            <a:srgbClr val="000000"/>
                          </a:solidFill>
                          <a:latin typeface="Calibri (MS)"/>
                          <a:ea typeface="Calibri (MS)"/>
                          <a:cs typeface="Calibri (MS)"/>
                          <a:sym typeface="Calibri (MS)"/>
                        </a:rPr>
                        <a:t>Blog</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340"/>
                        </a:lnSpc>
                        <a:defRPr/>
                      </a:pPr>
                      <a:r>
                        <a:rPr lang="en-US" sz="1950" b="true">
                          <a:solidFill>
                            <a:srgbClr val="000000"/>
                          </a:solidFill>
                          <a:latin typeface="Calibri (MS) Bold"/>
                          <a:ea typeface="Calibri (MS) Bold"/>
                          <a:cs typeface="Calibri (MS) Bold"/>
                          <a:sym typeface="Calibri (MS) Bold"/>
                        </a:rPr>
                        <a:t>8.4 / 10</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070"/>
                        </a:lnSpc>
                        <a:defRPr/>
                      </a:pPr>
                      <a:r>
                        <a:rPr lang="en-US" sz="1725" b="true">
                          <a:solidFill>
                            <a:srgbClr val="16A34A"/>
                          </a:solidFill>
                          <a:latin typeface="Calibri (MS) Bold"/>
                          <a:ea typeface="Calibri (MS) Bold"/>
                          <a:cs typeface="Calibri (MS) Bold"/>
                          <a:sym typeface="Calibri (MS) Bold"/>
                        </a:rPr>
                        <a:t>PASS</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E7F7EE"/>
                    </a:solidFill>
                  </a:tcPr>
                </a:tc>
              </a:tr>
              <a:tr h="742950">
                <a:tc>
                  <a:txBody>
                    <a:bodyPr anchor="t" rtlCol="false"/>
                    <a:lstStyle/>
                    <a:p>
                      <a:pPr algn="l">
                        <a:lnSpc>
                          <a:spcPts val="2340"/>
                        </a:lnSpc>
                        <a:defRPr/>
                      </a:pPr>
                      <a:r>
                        <a:rPr lang="en-US" sz="1950">
                          <a:solidFill>
                            <a:srgbClr val="000000"/>
                          </a:solidFill>
                          <a:latin typeface="Calibri (MS)"/>
                          <a:ea typeface="Calibri (MS)"/>
                          <a:cs typeface="Calibri (MS)"/>
                          <a:sym typeface="Calibri (MS)"/>
                        </a:rPr>
                        <a:t>LinkedIn</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340"/>
                        </a:lnSpc>
                        <a:defRPr/>
                      </a:pPr>
                      <a:r>
                        <a:rPr lang="en-US" sz="1950" b="true">
                          <a:solidFill>
                            <a:srgbClr val="000000"/>
                          </a:solidFill>
                          <a:latin typeface="Calibri (MS) Bold"/>
                          <a:ea typeface="Calibri (MS) Bold"/>
                          <a:cs typeface="Calibri (MS) Bold"/>
                          <a:sym typeface="Calibri (MS) Bold"/>
                        </a:rPr>
                        <a:t>8.6 / 10</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070"/>
                        </a:lnSpc>
                        <a:defRPr/>
                      </a:pPr>
                      <a:r>
                        <a:rPr lang="en-US" sz="1725" b="true">
                          <a:solidFill>
                            <a:srgbClr val="16A34A"/>
                          </a:solidFill>
                          <a:latin typeface="Calibri (MS) Bold"/>
                          <a:ea typeface="Calibri (MS) Bold"/>
                          <a:cs typeface="Calibri (MS) Bold"/>
                          <a:sym typeface="Calibri (MS) Bold"/>
                        </a:rPr>
                        <a:t>PASS</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E7F7EE"/>
                    </a:solidFill>
                  </a:tcPr>
                </a:tc>
              </a:tr>
              <a:tr h="742950">
                <a:tc>
                  <a:txBody>
                    <a:bodyPr anchor="t" rtlCol="false"/>
                    <a:lstStyle/>
                    <a:p>
                      <a:pPr algn="l">
                        <a:lnSpc>
                          <a:spcPts val="2340"/>
                        </a:lnSpc>
                        <a:defRPr/>
                      </a:pPr>
                      <a:r>
                        <a:rPr lang="en-US" sz="1950">
                          <a:solidFill>
                            <a:srgbClr val="000000"/>
                          </a:solidFill>
                          <a:latin typeface="Calibri (MS)"/>
                          <a:ea typeface="Calibri (MS)"/>
                          <a:cs typeface="Calibri (MS)"/>
                          <a:sym typeface="Calibri (MS)"/>
                        </a:rPr>
                        <a:t>Tweet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340"/>
                        </a:lnSpc>
                        <a:defRPr/>
                      </a:pPr>
                      <a:r>
                        <a:rPr lang="en-US" sz="1950" b="true">
                          <a:solidFill>
                            <a:srgbClr val="000000"/>
                          </a:solidFill>
                          <a:latin typeface="Calibri (MS) Bold"/>
                          <a:ea typeface="Calibri (MS) Bold"/>
                          <a:cs typeface="Calibri (MS) Bold"/>
                          <a:sym typeface="Calibri (MS) Bold"/>
                        </a:rPr>
                        <a:t>7.6 / 10</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070"/>
                        </a:lnSpc>
                        <a:defRPr/>
                      </a:pPr>
                      <a:r>
                        <a:rPr lang="en-US" sz="1725" b="true">
                          <a:solidFill>
                            <a:srgbClr val="D97706"/>
                          </a:solidFill>
                          <a:latin typeface="Calibri (MS) Bold"/>
                          <a:ea typeface="Calibri (MS) Bold"/>
                          <a:cs typeface="Calibri (MS) Bold"/>
                          <a:sym typeface="Calibri (MS) Bold"/>
                        </a:rPr>
                        <a:t>REVISION LIMIT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FDF1E1"/>
                    </a:solidFill>
                  </a:tcPr>
                </a:tc>
              </a:tr>
              <a:tr h="742950">
                <a:tc>
                  <a:txBody>
                    <a:bodyPr anchor="t" rtlCol="false"/>
                    <a:lstStyle/>
                    <a:p>
                      <a:pPr algn="l">
                        <a:lnSpc>
                          <a:spcPts val="2340"/>
                        </a:lnSpc>
                        <a:defRPr/>
                      </a:pPr>
                      <a:r>
                        <a:rPr lang="en-US" sz="1950">
                          <a:solidFill>
                            <a:srgbClr val="000000"/>
                          </a:solidFill>
                          <a:latin typeface="Calibri (MS)"/>
                          <a:ea typeface="Calibri (MS)"/>
                          <a:cs typeface="Calibri (MS)"/>
                          <a:sym typeface="Calibri (MS)"/>
                        </a:rPr>
                        <a:t>Instagram</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340"/>
                        </a:lnSpc>
                        <a:defRPr/>
                      </a:pPr>
                      <a:r>
                        <a:rPr lang="en-US" sz="1950" b="true">
                          <a:solidFill>
                            <a:srgbClr val="000000"/>
                          </a:solidFill>
                          <a:latin typeface="Calibri (MS) Bold"/>
                          <a:ea typeface="Calibri (MS) Bold"/>
                          <a:cs typeface="Calibri (MS) Bold"/>
                          <a:sym typeface="Calibri (MS) Bold"/>
                        </a:rPr>
                        <a:t>8.0 / 10</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070"/>
                        </a:lnSpc>
                        <a:defRPr/>
                      </a:pPr>
                      <a:r>
                        <a:rPr lang="en-US" sz="1725" b="true">
                          <a:solidFill>
                            <a:srgbClr val="16A34A"/>
                          </a:solidFill>
                          <a:latin typeface="Calibri (MS) Bold"/>
                          <a:ea typeface="Calibri (MS) Bold"/>
                          <a:cs typeface="Calibri (MS) Bold"/>
                          <a:sym typeface="Calibri (MS) Bold"/>
                        </a:rPr>
                        <a:t>PASS</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E7F7EE"/>
                    </a:solidFill>
                  </a:tcPr>
                </a:tc>
              </a:tr>
              <a:tr h="742950">
                <a:tc>
                  <a:txBody>
                    <a:bodyPr anchor="t" rtlCol="false"/>
                    <a:lstStyle/>
                    <a:p>
                      <a:pPr algn="l">
                        <a:lnSpc>
                          <a:spcPts val="2340"/>
                        </a:lnSpc>
                        <a:defRPr/>
                      </a:pPr>
                      <a:r>
                        <a:rPr lang="en-US" sz="1950">
                          <a:solidFill>
                            <a:srgbClr val="000000"/>
                          </a:solidFill>
                          <a:latin typeface="Calibri (MS)"/>
                          <a:ea typeface="Calibri (MS)"/>
                          <a:cs typeface="Calibri (MS)"/>
                          <a:sym typeface="Calibri (MS)"/>
                        </a:rPr>
                        <a:t>Short Story</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340"/>
                        </a:lnSpc>
                        <a:defRPr/>
                      </a:pPr>
                      <a:r>
                        <a:rPr lang="en-US" sz="1950" b="true">
                          <a:solidFill>
                            <a:srgbClr val="000000"/>
                          </a:solidFill>
                          <a:latin typeface="Calibri (MS) Bold"/>
                          <a:ea typeface="Calibri (MS) Bold"/>
                          <a:cs typeface="Calibri (MS) Bold"/>
                          <a:sym typeface="Calibri (MS) Bold"/>
                        </a:rPr>
                        <a:t>6.2 / 10</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tcPr>
                </a:tc>
                <a:tc>
                  <a:txBody>
                    <a:bodyPr anchor="t" rtlCol="false"/>
                    <a:lstStyle/>
                    <a:p>
                      <a:pPr algn="ctr">
                        <a:lnSpc>
                          <a:spcPts val="2070"/>
                        </a:lnSpc>
                        <a:defRPr/>
                      </a:pPr>
                      <a:r>
                        <a:rPr lang="en-US" sz="1725" b="true">
                          <a:solidFill>
                            <a:srgbClr val="D97706"/>
                          </a:solidFill>
                          <a:latin typeface="Calibri (MS) Bold"/>
                          <a:ea typeface="Calibri (MS) Bold"/>
                          <a:cs typeface="Calibri (MS) Bold"/>
                          <a:sym typeface="Calibri (MS) Bold"/>
                        </a:rPr>
                        <a:t>REVISION LIMIT</a:t>
                      </a:r>
                      <a:endParaRPr lang="en-US" sz="1100"/>
                    </a:p>
                  </a:txBody>
                  <a:tcPr marL="91440" marR="91440" marT="91440" marB="91440" anchor="ctr">
                    <a:lnL cmpd="sng" algn="ctr" cap="flat" w="9525">
                      <a:solidFill>
                        <a:srgbClr val="E2E8F0"/>
                      </a:solidFill>
                      <a:prstDash val="solid"/>
                      <a:round/>
                      <a:headEnd type="none" w="med" len="med"/>
                      <a:tailEnd type="none" w="med" len="med"/>
                    </a:lnL>
                    <a:lnR cmpd="sng" algn="ctr" cap="flat" w="9525">
                      <a:solidFill>
                        <a:srgbClr val="E2E8F0"/>
                      </a:solidFill>
                      <a:prstDash val="solid"/>
                      <a:round/>
                      <a:headEnd type="none" w="med" len="med"/>
                      <a:tailEnd type="none" w="med" len="med"/>
                    </a:lnR>
                    <a:lnT cmpd="sng" algn="ctr" cap="flat" w="9525">
                      <a:solidFill>
                        <a:srgbClr val="E2E8F0"/>
                      </a:solidFill>
                      <a:prstDash val="solid"/>
                      <a:round/>
                      <a:headEnd type="none" w="med" len="med"/>
                      <a:tailEnd type="none" w="med" len="med"/>
                    </a:lnT>
                    <a:lnB cmpd="sng" algn="ctr" cap="flat" w="9525">
                      <a:solidFill>
                        <a:srgbClr val="E2E8F0"/>
                      </a:solidFill>
                      <a:prstDash val="solid"/>
                      <a:round/>
                      <a:headEnd type="none" w="med" len="med"/>
                      <a:tailEnd type="none" w="med" len="med"/>
                    </a:lnB>
                    <a:solidFill>
                      <a:srgbClr val="FDF1E1"/>
                    </a:solidFill>
                  </a:tcPr>
                </a:tc>
              </a:tr>
            </a:tbl>
          </a:graphicData>
        </a:graphic>
      </p:graphicFrame>
      <p:grpSp>
        <p:nvGrpSpPr>
          <p:cNvPr name="Group 12" id="12"/>
          <p:cNvGrpSpPr/>
          <p:nvPr/>
        </p:nvGrpSpPr>
        <p:grpSpPr>
          <a:xfrm rot="0">
            <a:off x="10904220" y="2537460"/>
            <a:ext cx="6446520" cy="5760720"/>
            <a:chOff x="0" y="0"/>
            <a:chExt cx="8595360" cy="7680960"/>
          </a:xfrm>
        </p:grpSpPr>
        <p:sp>
          <p:nvSpPr>
            <p:cNvPr name="Freeform 13" id="13"/>
            <p:cNvSpPr/>
            <p:nvPr/>
          </p:nvSpPr>
          <p:spPr>
            <a:xfrm flipH="false" flipV="false" rot="0">
              <a:off x="0" y="0"/>
              <a:ext cx="8595361" cy="7680961"/>
            </a:xfrm>
            <a:custGeom>
              <a:avLst/>
              <a:gdLst/>
              <a:ahLst/>
              <a:cxnLst/>
              <a:rect r="r" b="b" t="t" l="l"/>
              <a:pathLst>
                <a:path h="7680961" w="8595361">
                  <a:moveTo>
                    <a:pt x="0" y="146304"/>
                  </a:moveTo>
                  <a:cubicBezTo>
                    <a:pt x="0" y="65532"/>
                    <a:pt x="65532" y="0"/>
                    <a:pt x="146304" y="0"/>
                  </a:cubicBezTo>
                  <a:lnTo>
                    <a:pt x="8449056" y="0"/>
                  </a:lnTo>
                  <a:cubicBezTo>
                    <a:pt x="8529828" y="0"/>
                    <a:pt x="8595361" y="65532"/>
                    <a:pt x="8595361" y="146304"/>
                  </a:cubicBezTo>
                  <a:lnTo>
                    <a:pt x="8595361" y="7534656"/>
                  </a:lnTo>
                  <a:cubicBezTo>
                    <a:pt x="8595361" y="7615428"/>
                    <a:pt x="8529828" y="7680961"/>
                    <a:pt x="8449056" y="7680961"/>
                  </a:cubicBezTo>
                  <a:lnTo>
                    <a:pt x="146304" y="7680961"/>
                  </a:lnTo>
                  <a:cubicBezTo>
                    <a:pt x="65532" y="7680960"/>
                    <a:pt x="0" y="7615428"/>
                    <a:pt x="0" y="7534656"/>
                  </a:cubicBezTo>
                  <a:close/>
                </a:path>
              </a:pathLst>
            </a:custGeom>
            <a:solidFill>
              <a:srgbClr val="1C2A4A"/>
            </a:solidFill>
          </p:spPr>
        </p:sp>
      </p:grpSp>
      <p:grpSp>
        <p:nvGrpSpPr>
          <p:cNvPr name="Group 14" id="14"/>
          <p:cNvGrpSpPr/>
          <p:nvPr/>
        </p:nvGrpSpPr>
        <p:grpSpPr>
          <a:xfrm rot="0">
            <a:off x="11247120" y="2811780"/>
            <a:ext cx="5760720" cy="480060"/>
            <a:chOff x="0" y="0"/>
            <a:chExt cx="7680960" cy="640080"/>
          </a:xfrm>
        </p:grpSpPr>
        <p:sp>
          <p:nvSpPr>
            <p:cNvPr name="Freeform 15" id="15"/>
            <p:cNvSpPr/>
            <p:nvPr/>
          </p:nvSpPr>
          <p:spPr>
            <a:xfrm flipH="false" flipV="false" rot="0">
              <a:off x="0" y="0"/>
              <a:ext cx="7680960" cy="640080"/>
            </a:xfrm>
            <a:custGeom>
              <a:avLst/>
              <a:gdLst/>
              <a:ahLst/>
              <a:cxnLst/>
              <a:rect r="r" b="b" t="t" l="l"/>
              <a:pathLst>
                <a:path h="640080" w="7680960">
                  <a:moveTo>
                    <a:pt x="0" y="0"/>
                  </a:moveTo>
                  <a:lnTo>
                    <a:pt x="7680960" y="0"/>
                  </a:lnTo>
                  <a:lnTo>
                    <a:pt x="7680960" y="640080"/>
                  </a:lnTo>
                  <a:lnTo>
                    <a:pt x="0" y="640080"/>
                  </a:lnTo>
                  <a:close/>
                </a:path>
              </a:pathLst>
            </a:custGeom>
            <a:blipFill>
              <a:blip r:embed="rId3">
                <a:alphaModFix amt="0"/>
              </a:blip>
              <a:stretch>
                <a:fillRect l="0" t="-183820" r="0" b="-183820"/>
              </a:stretch>
            </a:blipFill>
          </p:spPr>
        </p:sp>
        <p:sp>
          <p:nvSpPr>
            <p:cNvPr name="TextBox 16" id="16"/>
            <p:cNvSpPr txBox="true"/>
            <p:nvPr/>
          </p:nvSpPr>
          <p:spPr>
            <a:xfrm>
              <a:off x="0" y="-47625"/>
              <a:ext cx="7680960" cy="687705"/>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Honest Take</a:t>
              </a:r>
            </a:p>
          </p:txBody>
        </p:sp>
      </p:grpSp>
      <p:grpSp>
        <p:nvGrpSpPr>
          <p:cNvPr name="Group 17" id="17"/>
          <p:cNvGrpSpPr/>
          <p:nvPr/>
        </p:nvGrpSpPr>
        <p:grpSpPr>
          <a:xfrm rot="0">
            <a:off x="11247120" y="3497580"/>
            <a:ext cx="342900" cy="685800"/>
            <a:chOff x="0" y="0"/>
            <a:chExt cx="457200" cy="914400"/>
          </a:xfrm>
        </p:grpSpPr>
        <p:sp>
          <p:nvSpPr>
            <p:cNvPr name="Freeform 18" id="18"/>
            <p:cNvSpPr/>
            <p:nvPr/>
          </p:nvSpPr>
          <p:spPr>
            <a:xfrm flipH="false" flipV="false" rot="0">
              <a:off x="0" y="0"/>
              <a:ext cx="457200" cy="914400"/>
            </a:xfrm>
            <a:custGeom>
              <a:avLst/>
              <a:gdLst/>
              <a:ahLst/>
              <a:cxnLst/>
              <a:rect r="r" b="b" t="t" l="l"/>
              <a:pathLst>
                <a:path h="914400" w="457200">
                  <a:moveTo>
                    <a:pt x="0" y="0"/>
                  </a:moveTo>
                  <a:lnTo>
                    <a:pt x="457200" y="0"/>
                  </a:lnTo>
                  <a:lnTo>
                    <a:pt x="457200" y="914400"/>
                  </a:lnTo>
                  <a:lnTo>
                    <a:pt x="0" y="914400"/>
                  </a:lnTo>
                  <a:close/>
                </a:path>
              </a:pathLst>
            </a:custGeom>
            <a:blipFill>
              <a:blip r:embed="rId3">
                <a:alphaModFix amt="0"/>
              </a:blip>
              <a:stretch>
                <a:fillRect l="-206607" t="0" r="-206607" b="0"/>
              </a:stretch>
            </a:blipFill>
          </p:spPr>
        </p:sp>
        <p:sp>
          <p:nvSpPr>
            <p:cNvPr name="TextBox 19" id="19"/>
            <p:cNvSpPr txBox="true"/>
            <p:nvPr/>
          </p:nvSpPr>
          <p:spPr>
            <a:xfrm>
              <a:off x="0" y="-47625"/>
              <a:ext cx="457200" cy="962025"/>
            </a:xfrm>
            <a:prstGeom prst="rect">
              <a:avLst/>
            </a:prstGeom>
          </p:spPr>
          <p:txBody>
            <a:bodyPr anchor="ctr" rtlCol="false" tIns="0" lIns="0" bIns="0" rIns="0"/>
            <a:lstStyle/>
            <a:p>
              <a:pPr algn="l">
                <a:lnSpc>
                  <a:spcPts val="2340"/>
                </a:lnSpc>
              </a:pPr>
              <a:r>
                <a:rPr lang="en-US" sz="1950" b="true">
                  <a:solidFill>
                    <a:srgbClr val="2DD4BF"/>
                  </a:solidFill>
                  <a:latin typeface="Calibri (MS) Bold"/>
                  <a:ea typeface="Calibri (MS) Bold"/>
                  <a:cs typeface="Calibri (MS) Bold"/>
                  <a:sym typeface="Calibri (MS) Bold"/>
                </a:rPr>
                <a:t>•</a:t>
              </a:r>
            </a:p>
          </p:txBody>
        </p:sp>
      </p:grpSp>
      <p:grpSp>
        <p:nvGrpSpPr>
          <p:cNvPr name="Group 20" id="20"/>
          <p:cNvGrpSpPr/>
          <p:nvPr/>
        </p:nvGrpSpPr>
        <p:grpSpPr>
          <a:xfrm rot="0">
            <a:off x="11658600" y="3497580"/>
            <a:ext cx="5486400" cy="1165860"/>
            <a:chOff x="0" y="0"/>
            <a:chExt cx="7315200" cy="1554480"/>
          </a:xfrm>
        </p:grpSpPr>
        <p:sp>
          <p:nvSpPr>
            <p:cNvPr name="Freeform 21" id="21"/>
            <p:cNvSpPr/>
            <p:nvPr/>
          </p:nvSpPr>
          <p:spPr>
            <a:xfrm flipH="false" flipV="false" rot="0">
              <a:off x="0" y="0"/>
              <a:ext cx="7315200" cy="1554480"/>
            </a:xfrm>
            <a:custGeom>
              <a:avLst/>
              <a:gdLst/>
              <a:ahLst/>
              <a:cxnLst/>
              <a:rect r="r" b="b" t="t" l="l"/>
              <a:pathLst>
                <a:path h="1554480" w="7315200">
                  <a:moveTo>
                    <a:pt x="0" y="0"/>
                  </a:moveTo>
                  <a:lnTo>
                    <a:pt x="7315200" y="0"/>
                  </a:lnTo>
                  <a:lnTo>
                    <a:pt x="7315200" y="1554480"/>
                  </a:lnTo>
                  <a:lnTo>
                    <a:pt x="0" y="1554480"/>
                  </a:lnTo>
                  <a:close/>
                </a:path>
              </a:pathLst>
            </a:custGeom>
            <a:blipFill>
              <a:blip r:embed="rId3">
                <a:alphaModFix amt="0"/>
              </a:blip>
              <a:stretch>
                <a:fillRect l="0" t="-41694" r="0" b="-41694"/>
              </a:stretch>
            </a:blipFill>
          </p:spPr>
        </p:sp>
        <p:sp>
          <p:nvSpPr>
            <p:cNvPr name="TextBox 22" id="22"/>
            <p:cNvSpPr txBox="true"/>
            <p:nvPr/>
          </p:nvSpPr>
          <p:spPr>
            <a:xfrm>
              <a:off x="0" y="-38100"/>
              <a:ext cx="7315200" cy="1592580"/>
            </a:xfrm>
            <a:prstGeom prst="rect">
              <a:avLst/>
            </a:prstGeom>
          </p:spPr>
          <p:txBody>
            <a:bodyPr anchor="ctr" rtlCol="false" tIns="0" lIns="0" bIns="0" rIns="0"/>
            <a:lstStyle/>
            <a:p>
              <a:pPr algn="l">
                <a:lnSpc>
                  <a:spcPts val="2160"/>
                </a:lnSpc>
              </a:pPr>
              <a:r>
                <a:rPr lang="en-US" sz="1800">
                  <a:solidFill>
                    <a:srgbClr val="D7DEF0"/>
                  </a:solidFill>
                  <a:latin typeface="Calibri (MS)"/>
                  <a:ea typeface="Calibri (MS)"/>
                  <a:cs typeface="Calibri (MS)"/>
                  <a:sym typeface="Calibri (MS)"/>
                </a:rPr>
                <a:t>3 of 5 content types passed the critique agent's quality gate.</a:t>
              </a:r>
            </a:p>
          </p:txBody>
        </p:sp>
      </p:grpSp>
      <p:grpSp>
        <p:nvGrpSpPr>
          <p:cNvPr name="Group 23" id="23"/>
          <p:cNvGrpSpPr/>
          <p:nvPr/>
        </p:nvGrpSpPr>
        <p:grpSpPr>
          <a:xfrm rot="0">
            <a:off x="11247120" y="4800600"/>
            <a:ext cx="342900" cy="685800"/>
            <a:chOff x="0" y="0"/>
            <a:chExt cx="457200" cy="914400"/>
          </a:xfrm>
        </p:grpSpPr>
        <p:sp>
          <p:nvSpPr>
            <p:cNvPr name="Freeform 24" id="24"/>
            <p:cNvSpPr/>
            <p:nvPr/>
          </p:nvSpPr>
          <p:spPr>
            <a:xfrm flipH="false" flipV="false" rot="0">
              <a:off x="0" y="0"/>
              <a:ext cx="457200" cy="914400"/>
            </a:xfrm>
            <a:custGeom>
              <a:avLst/>
              <a:gdLst/>
              <a:ahLst/>
              <a:cxnLst/>
              <a:rect r="r" b="b" t="t" l="l"/>
              <a:pathLst>
                <a:path h="914400" w="457200">
                  <a:moveTo>
                    <a:pt x="0" y="0"/>
                  </a:moveTo>
                  <a:lnTo>
                    <a:pt x="457200" y="0"/>
                  </a:lnTo>
                  <a:lnTo>
                    <a:pt x="457200" y="914400"/>
                  </a:lnTo>
                  <a:lnTo>
                    <a:pt x="0" y="914400"/>
                  </a:lnTo>
                  <a:close/>
                </a:path>
              </a:pathLst>
            </a:custGeom>
            <a:blipFill>
              <a:blip r:embed="rId3">
                <a:alphaModFix amt="0"/>
              </a:blip>
              <a:stretch>
                <a:fillRect l="-206607" t="0" r="-206607" b="0"/>
              </a:stretch>
            </a:blipFill>
          </p:spPr>
        </p:sp>
        <p:sp>
          <p:nvSpPr>
            <p:cNvPr name="TextBox 25" id="25"/>
            <p:cNvSpPr txBox="true"/>
            <p:nvPr/>
          </p:nvSpPr>
          <p:spPr>
            <a:xfrm>
              <a:off x="0" y="-47625"/>
              <a:ext cx="457200" cy="962025"/>
            </a:xfrm>
            <a:prstGeom prst="rect">
              <a:avLst/>
            </a:prstGeom>
          </p:spPr>
          <p:txBody>
            <a:bodyPr anchor="ctr" rtlCol="false" tIns="0" lIns="0" bIns="0" rIns="0"/>
            <a:lstStyle/>
            <a:p>
              <a:pPr algn="l">
                <a:lnSpc>
                  <a:spcPts val="2340"/>
                </a:lnSpc>
              </a:pPr>
              <a:r>
                <a:rPr lang="en-US" sz="1950" b="true">
                  <a:solidFill>
                    <a:srgbClr val="2DD4BF"/>
                  </a:solidFill>
                  <a:latin typeface="Calibri (MS) Bold"/>
                  <a:ea typeface="Calibri (MS) Bold"/>
                  <a:cs typeface="Calibri (MS) Bold"/>
                  <a:sym typeface="Calibri (MS) Bold"/>
                </a:rPr>
                <a:t>•</a:t>
              </a:r>
            </a:p>
          </p:txBody>
        </p:sp>
      </p:grpSp>
      <p:grpSp>
        <p:nvGrpSpPr>
          <p:cNvPr name="Group 26" id="26"/>
          <p:cNvGrpSpPr/>
          <p:nvPr/>
        </p:nvGrpSpPr>
        <p:grpSpPr>
          <a:xfrm rot="0">
            <a:off x="11658600" y="4800600"/>
            <a:ext cx="5486400" cy="1165860"/>
            <a:chOff x="0" y="0"/>
            <a:chExt cx="7315200" cy="1554480"/>
          </a:xfrm>
        </p:grpSpPr>
        <p:sp>
          <p:nvSpPr>
            <p:cNvPr name="Freeform 27" id="27"/>
            <p:cNvSpPr/>
            <p:nvPr/>
          </p:nvSpPr>
          <p:spPr>
            <a:xfrm flipH="false" flipV="false" rot="0">
              <a:off x="0" y="0"/>
              <a:ext cx="7315200" cy="1554480"/>
            </a:xfrm>
            <a:custGeom>
              <a:avLst/>
              <a:gdLst/>
              <a:ahLst/>
              <a:cxnLst/>
              <a:rect r="r" b="b" t="t" l="l"/>
              <a:pathLst>
                <a:path h="1554480" w="7315200">
                  <a:moveTo>
                    <a:pt x="0" y="0"/>
                  </a:moveTo>
                  <a:lnTo>
                    <a:pt x="7315200" y="0"/>
                  </a:lnTo>
                  <a:lnTo>
                    <a:pt x="7315200" y="1554480"/>
                  </a:lnTo>
                  <a:lnTo>
                    <a:pt x="0" y="1554480"/>
                  </a:lnTo>
                  <a:close/>
                </a:path>
              </a:pathLst>
            </a:custGeom>
            <a:blipFill>
              <a:blip r:embed="rId3">
                <a:alphaModFix amt="0"/>
              </a:blip>
              <a:stretch>
                <a:fillRect l="0" t="-41694" r="0" b="-41694"/>
              </a:stretch>
            </a:blipFill>
          </p:spPr>
        </p:sp>
        <p:sp>
          <p:nvSpPr>
            <p:cNvPr name="TextBox 28" id="28"/>
            <p:cNvSpPr txBox="true"/>
            <p:nvPr/>
          </p:nvSpPr>
          <p:spPr>
            <a:xfrm>
              <a:off x="0" y="-38100"/>
              <a:ext cx="7315200" cy="1592580"/>
            </a:xfrm>
            <a:prstGeom prst="rect">
              <a:avLst/>
            </a:prstGeom>
          </p:spPr>
          <p:txBody>
            <a:bodyPr anchor="ctr" rtlCol="false" tIns="0" lIns="0" bIns="0" rIns="0"/>
            <a:lstStyle/>
            <a:p>
              <a:pPr algn="l">
                <a:lnSpc>
                  <a:spcPts val="2160"/>
                </a:lnSpc>
              </a:pPr>
              <a:r>
                <a:rPr lang="en-US" sz="1800">
                  <a:solidFill>
                    <a:srgbClr val="D7DEF0"/>
                  </a:solidFill>
                  <a:latin typeface="Calibri (MS)"/>
                  <a:ea typeface="Calibri (MS)"/>
                  <a:cs typeface="Calibri (MS)"/>
                  <a:sym typeface="Calibri (MS)"/>
                </a:rPr>
                <a:t>2 runs (tweet, short story) hit the 3-revision cap without passing — a real, observed limitation.</a:t>
              </a:r>
            </a:p>
          </p:txBody>
        </p:sp>
      </p:grpSp>
      <p:grpSp>
        <p:nvGrpSpPr>
          <p:cNvPr name="Group 29" id="29"/>
          <p:cNvGrpSpPr/>
          <p:nvPr/>
        </p:nvGrpSpPr>
        <p:grpSpPr>
          <a:xfrm rot="0">
            <a:off x="11247120" y="6103620"/>
            <a:ext cx="342900" cy="685800"/>
            <a:chOff x="0" y="0"/>
            <a:chExt cx="457200" cy="914400"/>
          </a:xfrm>
        </p:grpSpPr>
        <p:sp>
          <p:nvSpPr>
            <p:cNvPr name="Freeform 30" id="30"/>
            <p:cNvSpPr/>
            <p:nvPr/>
          </p:nvSpPr>
          <p:spPr>
            <a:xfrm flipH="false" flipV="false" rot="0">
              <a:off x="0" y="0"/>
              <a:ext cx="457200" cy="914400"/>
            </a:xfrm>
            <a:custGeom>
              <a:avLst/>
              <a:gdLst/>
              <a:ahLst/>
              <a:cxnLst/>
              <a:rect r="r" b="b" t="t" l="l"/>
              <a:pathLst>
                <a:path h="914400" w="457200">
                  <a:moveTo>
                    <a:pt x="0" y="0"/>
                  </a:moveTo>
                  <a:lnTo>
                    <a:pt x="457200" y="0"/>
                  </a:lnTo>
                  <a:lnTo>
                    <a:pt x="457200" y="914400"/>
                  </a:lnTo>
                  <a:lnTo>
                    <a:pt x="0" y="914400"/>
                  </a:lnTo>
                  <a:close/>
                </a:path>
              </a:pathLst>
            </a:custGeom>
            <a:blipFill>
              <a:blip r:embed="rId3">
                <a:alphaModFix amt="0"/>
              </a:blip>
              <a:stretch>
                <a:fillRect l="-206607" t="0" r="-206607" b="0"/>
              </a:stretch>
            </a:blipFill>
          </p:spPr>
        </p:sp>
        <p:sp>
          <p:nvSpPr>
            <p:cNvPr name="TextBox 31" id="31"/>
            <p:cNvSpPr txBox="true"/>
            <p:nvPr/>
          </p:nvSpPr>
          <p:spPr>
            <a:xfrm>
              <a:off x="0" y="-47625"/>
              <a:ext cx="457200" cy="962025"/>
            </a:xfrm>
            <a:prstGeom prst="rect">
              <a:avLst/>
            </a:prstGeom>
          </p:spPr>
          <p:txBody>
            <a:bodyPr anchor="ctr" rtlCol="false" tIns="0" lIns="0" bIns="0" rIns="0"/>
            <a:lstStyle/>
            <a:p>
              <a:pPr algn="l">
                <a:lnSpc>
                  <a:spcPts val="2340"/>
                </a:lnSpc>
              </a:pPr>
              <a:r>
                <a:rPr lang="en-US" sz="1950" b="true">
                  <a:solidFill>
                    <a:srgbClr val="2DD4BF"/>
                  </a:solidFill>
                  <a:latin typeface="Calibri (MS) Bold"/>
                  <a:ea typeface="Calibri (MS) Bold"/>
                  <a:cs typeface="Calibri (MS) Bold"/>
                  <a:sym typeface="Calibri (MS) Bold"/>
                </a:rPr>
                <a:t>•</a:t>
              </a:r>
            </a:p>
          </p:txBody>
        </p:sp>
      </p:grpSp>
      <p:grpSp>
        <p:nvGrpSpPr>
          <p:cNvPr name="Group 32" id="32"/>
          <p:cNvGrpSpPr/>
          <p:nvPr/>
        </p:nvGrpSpPr>
        <p:grpSpPr>
          <a:xfrm rot="0">
            <a:off x="11658600" y="6103620"/>
            <a:ext cx="5486400" cy="1165860"/>
            <a:chOff x="0" y="0"/>
            <a:chExt cx="7315200" cy="1554480"/>
          </a:xfrm>
        </p:grpSpPr>
        <p:sp>
          <p:nvSpPr>
            <p:cNvPr name="Freeform 33" id="33"/>
            <p:cNvSpPr/>
            <p:nvPr/>
          </p:nvSpPr>
          <p:spPr>
            <a:xfrm flipH="false" flipV="false" rot="0">
              <a:off x="0" y="0"/>
              <a:ext cx="7315200" cy="1554480"/>
            </a:xfrm>
            <a:custGeom>
              <a:avLst/>
              <a:gdLst/>
              <a:ahLst/>
              <a:cxnLst/>
              <a:rect r="r" b="b" t="t" l="l"/>
              <a:pathLst>
                <a:path h="1554480" w="7315200">
                  <a:moveTo>
                    <a:pt x="0" y="0"/>
                  </a:moveTo>
                  <a:lnTo>
                    <a:pt x="7315200" y="0"/>
                  </a:lnTo>
                  <a:lnTo>
                    <a:pt x="7315200" y="1554480"/>
                  </a:lnTo>
                  <a:lnTo>
                    <a:pt x="0" y="1554480"/>
                  </a:lnTo>
                  <a:close/>
                </a:path>
              </a:pathLst>
            </a:custGeom>
            <a:blipFill>
              <a:blip r:embed="rId3">
                <a:alphaModFix amt="0"/>
              </a:blip>
              <a:stretch>
                <a:fillRect l="0" t="-41694" r="0" b="-41694"/>
              </a:stretch>
            </a:blipFill>
          </p:spPr>
        </p:sp>
        <p:sp>
          <p:nvSpPr>
            <p:cNvPr name="TextBox 34" id="34"/>
            <p:cNvSpPr txBox="true"/>
            <p:nvPr/>
          </p:nvSpPr>
          <p:spPr>
            <a:xfrm>
              <a:off x="0" y="-38100"/>
              <a:ext cx="7315200" cy="1592580"/>
            </a:xfrm>
            <a:prstGeom prst="rect">
              <a:avLst/>
            </a:prstGeom>
          </p:spPr>
          <p:txBody>
            <a:bodyPr anchor="ctr" rtlCol="false" tIns="0" lIns="0" bIns="0" rIns="0"/>
            <a:lstStyle/>
            <a:p>
              <a:pPr algn="l">
                <a:lnSpc>
                  <a:spcPts val="2160"/>
                </a:lnSpc>
              </a:pPr>
              <a:r>
                <a:rPr lang="en-US" sz="1800">
                  <a:solidFill>
                    <a:srgbClr val="D7DEF0"/>
                  </a:solidFill>
                  <a:latin typeface="Calibri (MS)"/>
                  <a:ea typeface="Calibri (MS)"/>
                  <a:cs typeface="Calibri (MS)"/>
                  <a:sym typeface="Calibri (MS)"/>
                </a:rPr>
                <a:t>The system is functional end-to-end but still needs refinement and formal human evaluation.</a:t>
              </a:r>
            </a:p>
          </p:txBody>
        </p:sp>
      </p:grpSp>
      <p:grpSp>
        <p:nvGrpSpPr>
          <p:cNvPr name="Group 35" id="35"/>
          <p:cNvGrpSpPr/>
          <p:nvPr/>
        </p:nvGrpSpPr>
        <p:grpSpPr>
          <a:xfrm rot="0">
            <a:off x="685800" y="9793224"/>
            <a:ext cx="10972800" cy="411480"/>
            <a:chOff x="0" y="0"/>
            <a:chExt cx="14630400" cy="548640"/>
          </a:xfrm>
        </p:grpSpPr>
        <p:sp>
          <p:nvSpPr>
            <p:cNvPr name="Freeform 36" id="3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7" id="3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38" id="38"/>
          <p:cNvGrpSpPr/>
          <p:nvPr/>
        </p:nvGrpSpPr>
        <p:grpSpPr>
          <a:xfrm rot="0">
            <a:off x="17282160" y="9793224"/>
            <a:ext cx="548640" cy="411480"/>
            <a:chOff x="0" y="0"/>
            <a:chExt cx="731520" cy="548640"/>
          </a:xfrm>
        </p:grpSpPr>
        <p:sp>
          <p:nvSpPr>
            <p:cNvPr name="Freeform 39" id="39"/>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40" id="40"/>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15</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8 · CHALLENGES</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Challenges and Solutions</a:t>
              </a:r>
            </a:p>
          </p:txBody>
        </p:sp>
      </p:grpSp>
      <p:grpSp>
        <p:nvGrpSpPr>
          <p:cNvPr name="Group 8" id="8"/>
          <p:cNvGrpSpPr/>
          <p:nvPr/>
        </p:nvGrpSpPr>
        <p:grpSpPr>
          <a:xfrm rot="0">
            <a:off x="960120" y="2057400"/>
            <a:ext cx="8023860" cy="6309360"/>
            <a:chOff x="0" y="0"/>
            <a:chExt cx="10698480" cy="8412480"/>
          </a:xfrm>
        </p:grpSpPr>
        <p:sp>
          <p:nvSpPr>
            <p:cNvPr name="Freeform 9" id="9"/>
            <p:cNvSpPr/>
            <p:nvPr/>
          </p:nvSpPr>
          <p:spPr>
            <a:xfrm flipH="false" flipV="false" rot="0">
              <a:off x="0" y="0"/>
              <a:ext cx="10698480" cy="8412480"/>
            </a:xfrm>
            <a:custGeom>
              <a:avLst/>
              <a:gdLst/>
              <a:ahLst/>
              <a:cxnLst/>
              <a:rect r="r" b="b" t="t" l="l"/>
              <a:pathLst>
                <a:path h="8412480" w="10698480">
                  <a:moveTo>
                    <a:pt x="0" y="146304"/>
                  </a:moveTo>
                  <a:cubicBezTo>
                    <a:pt x="0" y="65532"/>
                    <a:pt x="65532" y="0"/>
                    <a:pt x="146304" y="0"/>
                  </a:cubicBezTo>
                  <a:lnTo>
                    <a:pt x="10552176" y="0"/>
                  </a:lnTo>
                  <a:cubicBezTo>
                    <a:pt x="10632948" y="0"/>
                    <a:pt x="10698480" y="65532"/>
                    <a:pt x="10698480" y="146304"/>
                  </a:cubicBezTo>
                  <a:lnTo>
                    <a:pt x="10698480" y="8266176"/>
                  </a:lnTo>
                  <a:cubicBezTo>
                    <a:pt x="10698480" y="8346948"/>
                    <a:pt x="10632948" y="8412480"/>
                    <a:pt x="10552176" y="8412480"/>
                  </a:cubicBezTo>
                  <a:lnTo>
                    <a:pt x="146304" y="8412480"/>
                  </a:lnTo>
                  <a:cubicBezTo>
                    <a:pt x="65532" y="8412480"/>
                    <a:pt x="0" y="8346948"/>
                    <a:pt x="0" y="8266176"/>
                  </a:cubicBezTo>
                  <a:close/>
                </a:path>
              </a:pathLst>
            </a:custGeom>
            <a:solidFill>
              <a:srgbClr val="FCEAEA"/>
            </a:solidFill>
          </p:spPr>
        </p:sp>
      </p:grpSp>
      <p:grpSp>
        <p:nvGrpSpPr>
          <p:cNvPr name="Group 10" id="10"/>
          <p:cNvGrpSpPr/>
          <p:nvPr/>
        </p:nvGrpSpPr>
        <p:grpSpPr>
          <a:xfrm rot="0">
            <a:off x="1303020" y="2263140"/>
            <a:ext cx="548640" cy="548640"/>
            <a:chOff x="0" y="0"/>
            <a:chExt cx="731520" cy="731520"/>
          </a:xfrm>
        </p:grpSpPr>
        <p:sp>
          <p:nvSpPr>
            <p:cNvPr name="Freeform 11" id="11" descr="/home/claude/pptx/icons/challenges.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12" id="12"/>
          <p:cNvGrpSpPr/>
          <p:nvPr/>
        </p:nvGrpSpPr>
        <p:grpSpPr>
          <a:xfrm rot="0">
            <a:off x="1988820" y="2304288"/>
            <a:ext cx="6720840" cy="480060"/>
            <a:chOff x="0" y="0"/>
            <a:chExt cx="8961120" cy="640080"/>
          </a:xfrm>
        </p:grpSpPr>
        <p:sp>
          <p:nvSpPr>
            <p:cNvPr name="Freeform 13" id="13"/>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14" id="14"/>
            <p:cNvSpPr txBox="true"/>
            <p:nvPr/>
          </p:nvSpPr>
          <p:spPr>
            <a:xfrm>
              <a:off x="0" y="-47625"/>
              <a:ext cx="8961120" cy="687705"/>
            </a:xfrm>
            <a:prstGeom prst="rect">
              <a:avLst/>
            </a:prstGeom>
          </p:spPr>
          <p:txBody>
            <a:bodyPr anchor="ctr" rtlCol="false" tIns="0" lIns="0" bIns="0" rIns="0"/>
            <a:lstStyle/>
            <a:p>
              <a:pPr algn="l">
                <a:lnSpc>
                  <a:spcPts val="2520"/>
                </a:lnSpc>
              </a:pPr>
              <a:r>
                <a:rPr lang="en-US" b="true" sz="2100" spc="150">
                  <a:solidFill>
                    <a:srgbClr val="DC2626"/>
                  </a:solidFill>
                  <a:latin typeface="Calibri (MS) Bold"/>
                  <a:ea typeface="Calibri (MS) Bold"/>
                  <a:cs typeface="Calibri (MS) Bold"/>
                  <a:sym typeface="Calibri (MS) Bold"/>
                </a:rPr>
                <a:t>CHALLENGES</a:t>
              </a:r>
            </a:p>
          </p:txBody>
        </p:sp>
      </p:grpSp>
      <p:grpSp>
        <p:nvGrpSpPr>
          <p:cNvPr name="Group 15" id="15"/>
          <p:cNvGrpSpPr/>
          <p:nvPr/>
        </p:nvGrpSpPr>
        <p:grpSpPr>
          <a:xfrm rot="0">
            <a:off x="1303020" y="3086100"/>
            <a:ext cx="342900" cy="617220"/>
            <a:chOff x="0" y="0"/>
            <a:chExt cx="457200" cy="822960"/>
          </a:xfrm>
        </p:grpSpPr>
        <p:sp>
          <p:nvSpPr>
            <p:cNvPr name="Freeform 16" id="16"/>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17" id="17"/>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DC2626"/>
                  </a:solidFill>
                  <a:latin typeface="Calibri (MS) Bold"/>
                  <a:ea typeface="Calibri (MS) Bold"/>
                  <a:cs typeface="Calibri (MS) Bold"/>
                  <a:sym typeface="Calibri (MS) Bold"/>
                </a:rPr>
                <a:t>•</a:t>
              </a:r>
            </a:p>
          </p:txBody>
        </p:sp>
      </p:grpSp>
      <p:grpSp>
        <p:nvGrpSpPr>
          <p:cNvPr name="Group 18" id="18"/>
          <p:cNvGrpSpPr/>
          <p:nvPr/>
        </p:nvGrpSpPr>
        <p:grpSpPr>
          <a:xfrm rot="0">
            <a:off x="1714500" y="3086100"/>
            <a:ext cx="7063740" cy="754380"/>
            <a:chOff x="0" y="0"/>
            <a:chExt cx="9418320" cy="1005840"/>
          </a:xfrm>
        </p:grpSpPr>
        <p:sp>
          <p:nvSpPr>
            <p:cNvPr name="Freeform 19" id="19"/>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3">
                <a:alphaModFix amt="0"/>
              </a:blip>
              <a:stretch>
                <a:fillRect l="0" t="-132450" r="0" b="-132450"/>
              </a:stretch>
            </a:blipFill>
          </p:spPr>
        </p:sp>
        <p:sp>
          <p:nvSpPr>
            <p:cNvPr name="TextBox 20" id="20"/>
            <p:cNvSpPr txBox="true"/>
            <p:nvPr/>
          </p:nvSpPr>
          <p:spPr>
            <a:xfrm>
              <a:off x="0" y="-38100"/>
              <a:ext cx="9418320" cy="1043940"/>
            </a:xfrm>
            <a:prstGeom prst="rect">
              <a:avLst/>
            </a:prstGeom>
          </p:spPr>
          <p:txBody>
            <a:bodyPr anchor="ctr" rtlCol="false" tIns="0" lIns="0" bIns="0" rIns="0"/>
            <a:lstStyle/>
            <a:p>
              <a:pPr algn="l">
                <a:lnSpc>
                  <a:spcPts val="2250"/>
                </a:lnSpc>
              </a:pPr>
              <a:r>
                <a:rPr lang="en-US" sz="1875">
                  <a:solidFill>
                    <a:srgbClr val="7F1D1D"/>
                  </a:solidFill>
                  <a:latin typeface="Calibri (MS)"/>
                  <a:ea typeface="Calibri (MS)"/>
                  <a:cs typeface="Calibri (MS)"/>
                  <a:sym typeface="Calibri (MS)"/>
                </a:rPr>
                <a:t>LLM output can return malformed JSON</a:t>
              </a:r>
            </a:p>
          </p:txBody>
        </p:sp>
      </p:grpSp>
      <p:grpSp>
        <p:nvGrpSpPr>
          <p:cNvPr name="Group 21" id="21"/>
          <p:cNvGrpSpPr/>
          <p:nvPr/>
        </p:nvGrpSpPr>
        <p:grpSpPr>
          <a:xfrm rot="0">
            <a:off x="1303020" y="3991356"/>
            <a:ext cx="342900" cy="617220"/>
            <a:chOff x="0" y="0"/>
            <a:chExt cx="457200" cy="822960"/>
          </a:xfrm>
        </p:grpSpPr>
        <p:sp>
          <p:nvSpPr>
            <p:cNvPr name="Freeform 22" id="22"/>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23" id="23"/>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DC2626"/>
                  </a:solidFill>
                  <a:latin typeface="Calibri (MS) Bold"/>
                  <a:ea typeface="Calibri (MS) Bold"/>
                  <a:cs typeface="Calibri (MS) Bold"/>
                  <a:sym typeface="Calibri (MS) Bold"/>
                </a:rPr>
                <a:t>•</a:t>
              </a:r>
            </a:p>
          </p:txBody>
        </p:sp>
      </p:grpSp>
      <p:grpSp>
        <p:nvGrpSpPr>
          <p:cNvPr name="Group 24" id="24"/>
          <p:cNvGrpSpPr/>
          <p:nvPr/>
        </p:nvGrpSpPr>
        <p:grpSpPr>
          <a:xfrm rot="0">
            <a:off x="1714500" y="3991356"/>
            <a:ext cx="7063740" cy="754380"/>
            <a:chOff x="0" y="0"/>
            <a:chExt cx="9418320" cy="1005840"/>
          </a:xfrm>
        </p:grpSpPr>
        <p:sp>
          <p:nvSpPr>
            <p:cNvPr name="Freeform 25" id="25"/>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3">
                <a:alphaModFix amt="0"/>
              </a:blip>
              <a:stretch>
                <a:fillRect l="0" t="-132450" r="0" b="-132450"/>
              </a:stretch>
            </a:blipFill>
          </p:spPr>
        </p:sp>
        <p:sp>
          <p:nvSpPr>
            <p:cNvPr name="TextBox 26" id="26"/>
            <p:cNvSpPr txBox="true"/>
            <p:nvPr/>
          </p:nvSpPr>
          <p:spPr>
            <a:xfrm>
              <a:off x="0" y="-38100"/>
              <a:ext cx="9418320" cy="1043940"/>
            </a:xfrm>
            <a:prstGeom prst="rect">
              <a:avLst/>
            </a:prstGeom>
          </p:spPr>
          <p:txBody>
            <a:bodyPr anchor="ctr" rtlCol="false" tIns="0" lIns="0" bIns="0" rIns="0"/>
            <a:lstStyle/>
            <a:p>
              <a:pPr algn="l">
                <a:lnSpc>
                  <a:spcPts val="2250"/>
                </a:lnSpc>
              </a:pPr>
              <a:r>
                <a:rPr lang="en-US" sz="1875">
                  <a:solidFill>
                    <a:srgbClr val="7F1D1D"/>
                  </a:solidFill>
                  <a:latin typeface="Calibri (MS)"/>
                  <a:ea typeface="Calibri (MS)"/>
                  <a:cs typeface="Calibri (MS)"/>
                  <a:sym typeface="Calibri (MS)"/>
                </a:rPr>
                <a:t>Dependence on external OpenRouter / Tavily APIs</a:t>
              </a:r>
            </a:p>
          </p:txBody>
        </p:sp>
      </p:grpSp>
      <p:grpSp>
        <p:nvGrpSpPr>
          <p:cNvPr name="Group 27" id="27"/>
          <p:cNvGrpSpPr/>
          <p:nvPr/>
        </p:nvGrpSpPr>
        <p:grpSpPr>
          <a:xfrm rot="0">
            <a:off x="1303020" y="4896612"/>
            <a:ext cx="342900" cy="617220"/>
            <a:chOff x="0" y="0"/>
            <a:chExt cx="457200" cy="822960"/>
          </a:xfrm>
        </p:grpSpPr>
        <p:sp>
          <p:nvSpPr>
            <p:cNvPr name="Freeform 28" id="28"/>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29" id="29"/>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DC2626"/>
                  </a:solidFill>
                  <a:latin typeface="Calibri (MS) Bold"/>
                  <a:ea typeface="Calibri (MS) Bold"/>
                  <a:cs typeface="Calibri (MS) Bold"/>
                  <a:sym typeface="Calibri (MS) Bold"/>
                </a:rPr>
                <a:t>•</a:t>
              </a:r>
            </a:p>
          </p:txBody>
        </p:sp>
      </p:grpSp>
      <p:grpSp>
        <p:nvGrpSpPr>
          <p:cNvPr name="Group 30" id="30"/>
          <p:cNvGrpSpPr/>
          <p:nvPr/>
        </p:nvGrpSpPr>
        <p:grpSpPr>
          <a:xfrm rot="0">
            <a:off x="1714500" y="4896612"/>
            <a:ext cx="7063740" cy="754380"/>
            <a:chOff x="0" y="0"/>
            <a:chExt cx="9418320" cy="1005840"/>
          </a:xfrm>
        </p:grpSpPr>
        <p:sp>
          <p:nvSpPr>
            <p:cNvPr name="Freeform 31" id="31"/>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3">
                <a:alphaModFix amt="0"/>
              </a:blip>
              <a:stretch>
                <a:fillRect l="0" t="-132450" r="0" b="-132450"/>
              </a:stretch>
            </a:blipFill>
          </p:spPr>
        </p:sp>
        <p:sp>
          <p:nvSpPr>
            <p:cNvPr name="TextBox 32" id="32"/>
            <p:cNvSpPr txBox="true"/>
            <p:nvPr/>
          </p:nvSpPr>
          <p:spPr>
            <a:xfrm>
              <a:off x="0" y="-38100"/>
              <a:ext cx="9418320" cy="1043940"/>
            </a:xfrm>
            <a:prstGeom prst="rect">
              <a:avLst/>
            </a:prstGeom>
          </p:spPr>
          <p:txBody>
            <a:bodyPr anchor="ctr" rtlCol="false" tIns="0" lIns="0" bIns="0" rIns="0"/>
            <a:lstStyle/>
            <a:p>
              <a:pPr algn="l">
                <a:lnSpc>
                  <a:spcPts val="2250"/>
                </a:lnSpc>
              </a:pPr>
              <a:r>
                <a:rPr lang="en-US" sz="1875">
                  <a:solidFill>
                    <a:srgbClr val="7F1D1D"/>
                  </a:solidFill>
                  <a:latin typeface="Calibri (MS)"/>
                  <a:ea typeface="Calibri (MS)"/>
                  <a:cs typeface="Calibri (MS)"/>
                  <a:sym typeface="Calibri (MS)"/>
                </a:rPr>
                <a:t>Search and LLM API keys required to run</a:t>
              </a:r>
            </a:p>
          </p:txBody>
        </p:sp>
      </p:grpSp>
      <p:grpSp>
        <p:nvGrpSpPr>
          <p:cNvPr name="Group 33" id="33"/>
          <p:cNvGrpSpPr/>
          <p:nvPr/>
        </p:nvGrpSpPr>
        <p:grpSpPr>
          <a:xfrm rot="0">
            <a:off x="1303020" y="5801868"/>
            <a:ext cx="342900" cy="617220"/>
            <a:chOff x="0" y="0"/>
            <a:chExt cx="457200" cy="822960"/>
          </a:xfrm>
        </p:grpSpPr>
        <p:sp>
          <p:nvSpPr>
            <p:cNvPr name="Freeform 34" id="34"/>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35" id="35"/>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DC2626"/>
                  </a:solidFill>
                  <a:latin typeface="Calibri (MS) Bold"/>
                  <a:ea typeface="Calibri (MS) Bold"/>
                  <a:cs typeface="Calibri (MS) Bold"/>
                  <a:sym typeface="Calibri (MS) Bold"/>
                </a:rPr>
                <a:t>•</a:t>
              </a:r>
            </a:p>
          </p:txBody>
        </p:sp>
      </p:grpSp>
      <p:grpSp>
        <p:nvGrpSpPr>
          <p:cNvPr name="Group 36" id="36"/>
          <p:cNvGrpSpPr/>
          <p:nvPr/>
        </p:nvGrpSpPr>
        <p:grpSpPr>
          <a:xfrm rot="0">
            <a:off x="1714500" y="5801868"/>
            <a:ext cx="7063740" cy="754380"/>
            <a:chOff x="0" y="0"/>
            <a:chExt cx="9418320" cy="1005840"/>
          </a:xfrm>
        </p:grpSpPr>
        <p:sp>
          <p:nvSpPr>
            <p:cNvPr name="Freeform 37" id="37"/>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3">
                <a:alphaModFix amt="0"/>
              </a:blip>
              <a:stretch>
                <a:fillRect l="0" t="-132450" r="0" b="-132450"/>
              </a:stretch>
            </a:blipFill>
          </p:spPr>
        </p:sp>
        <p:sp>
          <p:nvSpPr>
            <p:cNvPr name="TextBox 38" id="38"/>
            <p:cNvSpPr txBox="true"/>
            <p:nvPr/>
          </p:nvSpPr>
          <p:spPr>
            <a:xfrm>
              <a:off x="0" y="-38100"/>
              <a:ext cx="9418320" cy="1043940"/>
            </a:xfrm>
            <a:prstGeom prst="rect">
              <a:avLst/>
            </a:prstGeom>
          </p:spPr>
          <p:txBody>
            <a:bodyPr anchor="ctr" rtlCol="false" tIns="0" lIns="0" bIns="0" rIns="0"/>
            <a:lstStyle/>
            <a:p>
              <a:pPr algn="l">
                <a:lnSpc>
                  <a:spcPts val="2250"/>
                </a:lnSpc>
              </a:pPr>
              <a:r>
                <a:rPr lang="en-US" sz="1875">
                  <a:solidFill>
                    <a:srgbClr val="7F1D1D"/>
                  </a:solidFill>
                  <a:latin typeface="Calibri (MS)"/>
                  <a:ea typeface="Calibri (MS)"/>
                  <a:cs typeface="Calibri (MS)"/>
                  <a:sym typeface="Calibri (MS)"/>
                </a:rPr>
                <a:t>Revision quality is not always guaranteed</a:t>
              </a:r>
            </a:p>
          </p:txBody>
        </p:sp>
      </p:grpSp>
      <p:grpSp>
        <p:nvGrpSpPr>
          <p:cNvPr name="Group 39" id="39"/>
          <p:cNvGrpSpPr/>
          <p:nvPr/>
        </p:nvGrpSpPr>
        <p:grpSpPr>
          <a:xfrm rot="0">
            <a:off x="1303020" y="6707124"/>
            <a:ext cx="342900" cy="617220"/>
            <a:chOff x="0" y="0"/>
            <a:chExt cx="457200" cy="822960"/>
          </a:xfrm>
        </p:grpSpPr>
        <p:sp>
          <p:nvSpPr>
            <p:cNvPr name="Freeform 40" id="40"/>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41" id="41"/>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DC2626"/>
                  </a:solidFill>
                  <a:latin typeface="Calibri (MS) Bold"/>
                  <a:ea typeface="Calibri (MS) Bold"/>
                  <a:cs typeface="Calibri (MS) Bold"/>
                  <a:sym typeface="Calibri (MS) Bold"/>
                </a:rPr>
                <a:t>•</a:t>
              </a:r>
            </a:p>
          </p:txBody>
        </p:sp>
      </p:grpSp>
      <p:grpSp>
        <p:nvGrpSpPr>
          <p:cNvPr name="Group 42" id="42"/>
          <p:cNvGrpSpPr/>
          <p:nvPr/>
        </p:nvGrpSpPr>
        <p:grpSpPr>
          <a:xfrm rot="0">
            <a:off x="1714500" y="6707124"/>
            <a:ext cx="7063740" cy="754380"/>
            <a:chOff x="0" y="0"/>
            <a:chExt cx="9418320" cy="1005840"/>
          </a:xfrm>
        </p:grpSpPr>
        <p:sp>
          <p:nvSpPr>
            <p:cNvPr name="Freeform 43" id="43"/>
            <p:cNvSpPr/>
            <p:nvPr/>
          </p:nvSpPr>
          <p:spPr>
            <a:xfrm flipH="false" flipV="false" rot="0">
              <a:off x="0" y="0"/>
              <a:ext cx="9418320" cy="1005840"/>
            </a:xfrm>
            <a:custGeom>
              <a:avLst/>
              <a:gdLst/>
              <a:ahLst/>
              <a:cxnLst/>
              <a:rect r="r" b="b" t="t" l="l"/>
              <a:pathLst>
                <a:path h="1005840" w="9418320">
                  <a:moveTo>
                    <a:pt x="0" y="0"/>
                  </a:moveTo>
                  <a:lnTo>
                    <a:pt x="9418320" y="0"/>
                  </a:lnTo>
                  <a:lnTo>
                    <a:pt x="9418320" y="1005840"/>
                  </a:lnTo>
                  <a:lnTo>
                    <a:pt x="0" y="1005840"/>
                  </a:lnTo>
                  <a:close/>
                </a:path>
              </a:pathLst>
            </a:custGeom>
            <a:blipFill>
              <a:blip r:embed="rId3">
                <a:alphaModFix amt="0"/>
              </a:blip>
              <a:stretch>
                <a:fillRect l="0" t="-132450" r="0" b="-132450"/>
              </a:stretch>
            </a:blipFill>
          </p:spPr>
        </p:sp>
        <p:sp>
          <p:nvSpPr>
            <p:cNvPr name="TextBox 44" id="44"/>
            <p:cNvSpPr txBox="true"/>
            <p:nvPr/>
          </p:nvSpPr>
          <p:spPr>
            <a:xfrm>
              <a:off x="0" y="-38100"/>
              <a:ext cx="9418320" cy="1043940"/>
            </a:xfrm>
            <a:prstGeom prst="rect">
              <a:avLst/>
            </a:prstGeom>
          </p:spPr>
          <p:txBody>
            <a:bodyPr anchor="ctr" rtlCol="false" tIns="0" lIns="0" bIns="0" rIns="0"/>
            <a:lstStyle/>
            <a:p>
              <a:pPr algn="l">
                <a:lnSpc>
                  <a:spcPts val="2250"/>
                </a:lnSpc>
              </a:pPr>
              <a:r>
                <a:rPr lang="en-US" sz="1875">
                  <a:solidFill>
                    <a:srgbClr val="7F1D1D"/>
                  </a:solidFill>
                  <a:latin typeface="Calibri (MS)"/>
                  <a:ea typeface="Calibri (MS)"/>
                  <a:cs typeface="Calibri (MS)"/>
                  <a:sym typeface="Calibri (MS)"/>
                </a:rPr>
                <a:t>Docker healthcheck &amp; deployment considerations</a:t>
              </a:r>
            </a:p>
          </p:txBody>
        </p:sp>
      </p:grpSp>
      <p:grpSp>
        <p:nvGrpSpPr>
          <p:cNvPr name="Group 45" id="45"/>
          <p:cNvGrpSpPr/>
          <p:nvPr/>
        </p:nvGrpSpPr>
        <p:grpSpPr>
          <a:xfrm rot="0">
            <a:off x="9258300" y="2057400"/>
            <a:ext cx="8092440" cy="6309360"/>
            <a:chOff x="0" y="0"/>
            <a:chExt cx="10789920" cy="8412480"/>
          </a:xfrm>
        </p:grpSpPr>
        <p:sp>
          <p:nvSpPr>
            <p:cNvPr name="Freeform 46" id="46"/>
            <p:cNvSpPr/>
            <p:nvPr/>
          </p:nvSpPr>
          <p:spPr>
            <a:xfrm flipH="false" flipV="false" rot="0">
              <a:off x="0" y="0"/>
              <a:ext cx="10789920" cy="8412480"/>
            </a:xfrm>
            <a:custGeom>
              <a:avLst/>
              <a:gdLst/>
              <a:ahLst/>
              <a:cxnLst/>
              <a:rect r="r" b="b" t="t" l="l"/>
              <a:pathLst>
                <a:path h="8412480" w="10789920">
                  <a:moveTo>
                    <a:pt x="0" y="146304"/>
                  </a:moveTo>
                  <a:cubicBezTo>
                    <a:pt x="0" y="65532"/>
                    <a:pt x="65532" y="0"/>
                    <a:pt x="146304" y="0"/>
                  </a:cubicBezTo>
                  <a:lnTo>
                    <a:pt x="10643616" y="0"/>
                  </a:lnTo>
                  <a:cubicBezTo>
                    <a:pt x="10724388" y="0"/>
                    <a:pt x="10789920" y="65532"/>
                    <a:pt x="10789920" y="146304"/>
                  </a:cubicBezTo>
                  <a:lnTo>
                    <a:pt x="10789920" y="8266176"/>
                  </a:lnTo>
                  <a:cubicBezTo>
                    <a:pt x="10789920" y="8346948"/>
                    <a:pt x="10724388" y="8412480"/>
                    <a:pt x="10643616" y="8412480"/>
                  </a:cubicBezTo>
                  <a:lnTo>
                    <a:pt x="146304" y="8412480"/>
                  </a:lnTo>
                  <a:cubicBezTo>
                    <a:pt x="65532" y="8412480"/>
                    <a:pt x="0" y="8346948"/>
                    <a:pt x="0" y="8266176"/>
                  </a:cubicBezTo>
                  <a:close/>
                </a:path>
              </a:pathLst>
            </a:custGeom>
            <a:solidFill>
              <a:srgbClr val="E7F7EE"/>
            </a:solidFill>
          </p:spPr>
        </p:sp>
      </p:grpSp>
      <p:grpSp>
        <p:nvGrpSpPr>
          <p:cNvPr name="Group 47" id="47"/>
          <p:cNvGrpSpPr/>
          <p:nvPr/>
        </p:nvGrpSpPr>
        <p:grpSpPr>
          <a:xfrm rot="0">
            <a:off x="9601200" y="2263140"/>
            <a:ext cx="548640" cy="548640"/>
            <a:chOff x="0" y="0"/>
            <a:chExt cx="731520" cy="731520"/>
          </a:xfrm>
        </p:grpSpPr>
        <p:sp>
          <p:nvSpPr>
            <p:cNvPr name="Freeform 48" id="48" descr="/home/claude/pptx/icons/solutions.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49" id="49"/>
          <p:cNvGrpSpPr/>
          <p:nvPr/>
        </p:nvGrpSpPr>
        <p:grpSpPr>
          <a:xfrm rot="0">
            <a:off x="10287000" y="2304288"/>
            <a:ext cx="6858000" cy="480060"/>
            <a:chOff x="0" y="0"/>
            <a:chExt cx="9144000" cy="640080"/>
          </a:xfrm>
        </p:grpSpPr>
        <p:sp>
          <p:nvSpPr>
            <p:cNvPr name="Freeform 50" id="50"/>
            <p:cNvSpPr/>
            <p:nvPr/>
          </p:nvSpPr>
          <p:spPr>
            <a:xfrm flipH="false" flipV="false" rot="0">
              <a:off x="0" y="0"/>
              <a:ext cx="9144000" cy="640080"/>
            </a:xfrm>
            <a:custGeom>
              <a:avLst/>
              <a:gdLst/>
              <a:ahLst/>
              <a:cxnLst/>
              <a:rect r="r" b="b" t="t" l="l"/>
              <a:pathLst>
                <a:path h="640080" w="9144000">
                  <a:moveTo>
                    <a:pt x="0" y="0"/>
                  </a:moveTo>
                  <a:lnTo>
                    <a:pt x="9144000" y="0"/>
                  </a:lnTo>
                  <a:lnTo>
                    <a:pt x="9144000" y="640080"/>
                  </a:lnTo>
                  <a:lnTo>
                    <a:pt x="0" y="640080"/>
                  </a:lnTo>
                  <a:close/>
                </a:path>
              </a:pathLst>
            </a:custGeom>
            <a:blipFill>
              <a:blip r:embed="rId3">
                <a:alphaModFix amt="0"/>
              </a:blip>
              <a:stretch>
                <a:fillRect l="0" t="-228357" r="0" b="-228357"/>
              </a:stretch>
            </a:blipFill>
          </p:spPr>
        </p:sp>
        <p:sp>
          <p:nvSpPr>
            <p:cNvPr name="TextBox 51" id="51"/>
            <p:cNvSpPr txBox="true"/>
            <p:nvPr/>
          </p:nvSpPr>
          <p:spPr>
            <a:xfrm>
              <a:off x="0" y="-47625"/>
              <a:ext cx="9144000" cy="687705"/>
            </a:xfrm>
            <a:prstGeom prst="rect">
              <a:avLst/>
            </a:prstGeom>
          </p:spPr>
          <p:txBody>
            <a:bodyPr anchor="ctr" rtlCol="false" tIns="0" lIns="0" bIns="0" rIns="0"/>
            <a:lstStyle/>
            <a:p>
              <a:pPr algn="l">
                <a:lnSpc>
                  <a:spcPts val="2520"/>
                </a:lnSpc>
              </a:pPr>
              <a:r>
                <a:rPr lang="en-US" b="true" sz="2100" spc="150">
                  <a:solidFill>
                    <a:srgbClr val="16A34A"/>
                  </a:solidFill>
                  <a:latin typeface="Calibri (MS) Bold"/>
                  <a:ea typeface="Calibri (MS) Bold"/>
                  <a:cs typeface="Calibri (MS) Bold"/>
                  <a:sym typeface="Calibri (MS) Bold"/>
                </a:rPr>
                <a:t>SOLUTIONS</a:t>
              </a:r>
            </a:p>
          </p:txBody>
        </p:sp>
      </p:grpSp>
      <p:grpSp>
        <p:nvGrpSpPr>
          <p:cNvPr name="Group 52" id="52"/>
          <p:cNvGrpSpPr/>
          <p:nvPr/>
        </p:nvGrpSpPr>
        <p:grpSpPr>
          <a:xfrm rot="0">
            <a:off x="9601200" y="3086100"/>
            <a:ext cx="342900" cy="617220"/>
            <a:chOff x="0" y="0"/>
            <a:chExt cx="457200" cy="822960"/>
          </a:xfrm>
        </p:grpSpPr>
        <p:sp>
          <p:nvSpPr>
            <p:cNvPr name="Freeform 53" id="53"/>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54" id="54"/>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16A34A"/>
                  </a:solidFill>
                  <a:latin typeface="Calibri (MS) Bold"/>
                  <a:ea typeface="Calibri (MS) Bold"/>
                  <a:cs typeface="Calibri (MS) Bold"/>
                  <a:sym typeface="Calibri (MS) Bold"/>
                </a:rPr>
                <a:t>•</a:t>
              </a:r>
            </a:p>
          </p:txBody>
        </p:sp>
      </p:grpSp>
      <p:grpSp>
        <p:nvGrpSpPr>
          <p:cNvPr name="Group 55" id="55"/>
          <p:cNvGrpSpPr/>
          <p:nvPr/>
        </p:nvGrpSpPr>
        <p:grpSpPr>
          <a:xfrm rot="0">
            <a:off x="10012680" y="3086100"/>
            <a:ext cx="7132320" cy="754380"/>
            <a:chOff x="0" y="0"/>
            <a:chExt cx="9509760" cy="1005840"/>
          </a:xfrm>
        </p:grpSpPr>
        <p:sp>
          <p:nvSpPr>
            <p:cNvPr name="Freeform 56" id="56"/>
            <p:cNvSpPr/>
            <p:nvPr/>
          </p:nvSpPr>
          <p:spPr>
            <a:xfrm flipH="false" flipV="false" rot="0">
              <a:off x="0" y="0"/>
              <a:ext cx="9509760" cy="1005840"/>
            </a:xfrm>
            <a:custGeom>
              <a:avLst/>
              <a:gdLst/>
              <a:ahLst/>
              <a:cxnLst/>
              <a:rect r="r" b="b" t="t" l="l"/>
              <a:pathLst>
                <a:path h="1005840" w="9509760">
                  <a:moveTo>
                    <a:pt x="0" y="0"/>
                  </a:moveTo>
                  <a:lnTo>
                    <a:pt x="9509760" y="0"/>
                  </a:lnTo>
                  <a:lnTo>
                    <a:pt x="9509760" y="1005840"/>
                  </a:lnTo>
                  <a:lnTo>
                    <a:pt x="0" y="1005840"/>
                  </a:lnTo>
                  <a:close/>
                </a:path>
              </a:pathLst>
            </a:custGeom>
            <a:blipFill>
              <a:blip r:embed="rId3">
                <a:alphaModFix amt="0"/>
              </a:blip>
              <a:stretch>
                <a:fillRect l="0" t="-134222" r="0" b="-134222"/>
              </a:stretch>
            </a:blipFill>
          </p:spPr>
        </p:sp>
        <p:sp>
          <p:nvSpPr>
            <p:cNvPr name="TextBox 57" id="57"/>
            <p:cNvSpPr txBox="true"/>
            <p:nvPr/>
          </p:nvSpPr>
          <p:spPr>
            <a:xfrm>
              <a:off x="0" y="-38100"/>
              <a:ext cx="9509760" cy="1043940"/>
            </a:xfrm>
            <a:prstGeom prst="rect">
              <a:avLst/>
            </a:prstGeom>
          </p:spPr>
          <p:txBody>
            <a:bodyPr anchor="ctr" rtlCol="false" tIns="0" lIns="0" bIns="0" rIns="0"/>
            <a:lstStyle/>
            <a:p>
              <a:pPr algn="l">
                <a:lnSpc>
                  <a:spcPts val="2250"/>
                </a:lnSpc>
              </a:pPr>
              <a:r>
                <a:rPr lang="en-US" sz="1875">
                  <a:solidFill>
                    <a:srgbClr val="14532D"/>
                  </a:solidFill>
                  <a:latin typeface="Calibri (MS)"/>
                  <a:ea typeface="Calibri (MS)"/>
                  <a:cs typeface="Calibri (MS)"/>
                  <a:sym typeface="Calibri (MS)"/>
                </a:rPr>
                <a:t>Automated JSON repair &amp; structured parsing</a:t>
              </a:r>
            </a:p>
          </p:txBody>
        </p:sp>
      </p:grpSp>
      <p:grpSp>
        <p:nvGrpSpPr>
          <p:cNvPr name="Group 58" id="58"/>
          <p:cNvGrpSpPr/>
          <p:nvPr/>
        </p:nvGrpSpPr>
        <p:grpSpPr>
          <a:xfrm rot="0">
            <a:off x="9601200" y="3991356"/>
            <a:ext cx="342900" cy="617220"/>
            <a:chOff x="0" y="0"/>
            <a:chExt cx="457200" cy="822960"/>
          </a:xfrm>
        </p:grpSpPr>
        <p:sp>
          <p:nvSpPr>
            <p:cNvPr name="Freeform 59" id="59"/>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60" id="60"/>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16A34A"/>
                  </a:solidFill>
                  <a:latin typeface="Calibri (MS) Bold"/>
                  <a:ea typeface="Calibri (MS) Bold"/>
                  <a:cs typeface="Calibri (MS) Bold"/>
                  <a:sym typeface="Calibri (MS) Bold"/>
                </a:rPr>
                <a:t>•</a:t>
              </a:r>
            </a:p>
          </p:txBody>
        </p:sp>
      </p:grpSp>
      <p:grpSp>
        <p:nvGrpSpPr>
          <p:cNvPr name="Group 61" id="61"/>
          <p:cNvGrpSpPr/>
          <p:nvPr/>
        </p:nvGrpSpPr>
        <p:grpSpPr>
          <a:xfrm rot="0">
            <a:off x="10012680" y="3991356"/>
            <a:ext cx="7132320" cy="754380"/>
            <a:chOff x="0" y="0"/>
            <a:chExt cx="9509760" cy="1005840"/>
          </a:xfrm>
        </p:grpSpPr>
        <p:sp>
          <p:nvSpPr>
            <p:cNvPr name="Freeform 62" id="62"/>
            <p:cNvSpPr/>
            <p:nvPr/>
          </p:nvSpPr>
          <p:spPr>
            <a:xfrm flipH="false" flipV="false" rot="0">
              <a:off x="0" y="0"/>
              <a:ext cx="9509760" cy="1005840"/>
            </a:xfrm>
            <a:custGeom>
              <a:avLst/>
              <a:gdLst/>
              <a:ahLst/>
              <a:cxnLst/>
              <a:rect r="r" b="b" t="t" l="l"/>
              <a:pathLst>
                <a:path h="1005840" w="9509760">
                  <a:moveTo>
                    <a:pt x="0" y="0"/>
                  </a:moveTo>
                  <a:lnTo>
                    <a:pt x="9509760" y="0"/>
                  </a:lnTo>
                  <a:lnTo>
                    <a:pt x="9509760" y="1005840"/>
                  </a:lnTo>
                  <a:lnTo>
                    <a:pt x="0" y="1005840"/>
                  </a:lnTo>
                  <a:close/>
                </a:path>
              </a:pathLst>
            </a:custGeom>
            <a:blipFill>
              <a:blip r:embed="rId3">
                <a:alphaModFix amt="0"/>
              </a:blip>
              <a:stretch>
                <a:fillRect l="0" t="-134222" r="0" b="-134222"/>
              </a:stretch>
            </a:blipFill>
          </p:spPr>
        </p:sp>
        <p:sp>
          <p:nvSpPr>
            <p:cNvPr name="TextBox 63" id="63"/>
            <p:cNvSpPr txBox="true"/>
            <p:nvPr/>
          </p:nvSpPr>
          <p:spPr>
            <a:xfrm>
              <a:off x="0" y="-38100"/>
              <a:ext cx="9509760" cy="1043940"/>
            </a:xfrm>
            <a:prstGeom prst="rect">
              <a:avLst/>
            </a:prstGeom>
          </p:spPr>
          <p:txBody>
            <a:bodyPr anchor="ctr" rtlCol="false" tIns="0" lIns="0" bIns="0" rIns="0"/>
            <a:lstStyle/>
            <a:p>
              <a:pPr algn="l">
                <a:lnSpc>
                  <a:spcPts val="2250"/>
                </a:lnSpc>
              </a:pPr>
              <a:r>
                <a:rPr lang="en-US" sz="1875">
                  <a:solidFill>
                    <a:srgbClr val="14532D"/>
                  </a:solidFill>
                  <a:latin typeface="Calibri (MS)"/>
                  <a:ea typeface="Calibri (MS)"/>
                  <a:cs typeface="Calibri (MS)"/>
                  <a:sym typeface="Calibri (MS)"/>
                </a:rPr>
                <a:t>Bounded critique / revision loop (max 3 cycles)</a:t>
              </a:r>
            </a:p>
          </p:txBody>
        </p:sp>
      </p:grpSp>
      <p:grpSp>
        <p:nvGrpSpPr>
          <p:cNvPr name="Group 64" id="64"/>
          <p:cNvGrpSpPr/>
          <p:nvPr/>
        </p:nvGrpSpPr>
        <p:grpSpPr>
          <a:xfrm rot="0">
            <a:off x="9601200" y="4896612"/>
            <a:ext cx="342900" cy="617220"/>
            <a:chOff x="0" y="0"/>
            <a:chExt cx="457200" cy="822960"/>
          </a:xfrm>
        </p:grpSpPr>
        <p:sp>
          <p:nvSpPr>
            <p:cNvPr name="Freeform 65" id="65"/>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66" id="66"/>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16A34A"/>
                  </a:solidFill>
                  <a:latin typeface="Calibri (MS) Bold"/>
                  <a:ea typeface="Calibri (MS) Bold"/>
                  <a:cs typeface="Calibri (MS) Bold"/>
                  <a:sym typeface="Calibri (MS) Bold"/>
                </a:rPr>
                <a:t>•</a:t>
              </a:r>
            </a:p>
          </p:txBody>
        </p:sp>
      </p:grpSp>
      <p:grpSp>
        <p:nvGrpSpPr>
          <p:cNvPr name="Group 67" id="67"/>
          <p:cNvGrpSpPr/>
          <p:nvPr/>
        </p:nvGrpSpPr>
        <p:grpSpPr>
          <a:xfrm rot="0">
            <a:off x="10012680" y="4896612"/>
            <a:ext cx="7132320" cy="754380"/>
            <a:chOff x="0" y="0"/>
            <a:chExt cx="9509760" cy="1005840"/>
          </a:xfrm>
        </p:grpSpPr>
        <p:sp>
          <p:nvSpPr>
            <p:cNvPr name="Freeform 68" id="68"/>
            <p:cNvSpPr/>
            <p:nvPr/>
          </p:nvSpPr>
          <p:spPr>
            <a:xfrm flipH="false" flipV="false" rot="0">
              <a:off x="0" y="0"/>
              <a:ext cx="9509760" cy="1005840"/>
            </a:xfrm>
            <a:custGeom>
              <a:avLst/>
              <a:gdLst/>
              <a:ahLst/>
              <a:cxnLst/>
              <a:rect r="r" b="b" t="t" l="l"/>
              <a:pathLst>
                <a:path h="1005840" w="9509760">
                  <a:moveTo>
                    <a:pt x="0" y="0"/>
                  </a:moveTo>
                  <a:lnTo>
                    <a:pt x="9509760" y="0"/>
                  </a:lnTo>
                  <a:lnTo>
                    <a:pt x="9509760" y="1005840"/>
                  </a:lnTo>
                  <a:lnTo>
                    <a:pt x="0" y="1005840"/>
                  </a:lnTo>
                  <a:close/>
                </a:path>
              </a:pathLst>
            </a:custGeom>
            <a:blipFill>
              <a:blip r:embed="rId3">
                <a:alphaModFix amt="0"/>
              </a:blip>
              <a:stretch>
                <a:fillRect l="0" t="-134222" r="0" b="-134222"/>
              </a:stretch>
            </a:blipFill>
          </p:spPr>
        </p:sp>
        <p:sp>
          <p:nvSpPr>
            <p:cNvPr name="TextBox 69" id="69"/>
            <p:cNvSpPr txBox="true"/>
            <p:nvPr/>
          </p:nvSpPr>
          <p:spPr>
            <a:xfrm>
              <a:off x="0" y="-38100"/>
              <a:ext cx="9509760" cy="1043940"/>
            </a:xfrm>
            <a:prstGeom prst="rect">
              <a:avLst/>
            </a:prstGeom>
          </p:spPr>
          <p:txBody>
            <a:bodyPr anchor="ctr" rtlCol="false" tIns="0" lIns="0" bIns="0" rIns="0"/>
            <a:lstStyle/>
            <a:p>
              <a:pPr algn="l">
                <a:lnSpc>
                  <a:spcPts val="2250"/>
                </a:lnSpc>
              </a:pPr>
              <a:r>
                <a:rPr lang="en-US" sz="1875">
                  <a:solidFill>
                    <a:srgbClr val="14532D"/>
                  </a:solidFill>
                  <a:latin typeface="Calibri (MS)"/>
                  <a:ea typeface="Calibri (MS)"/>
                  <a:cs typeface="Calibri (MS)"/>
                  <a:sym typeface="Calibri (MS)"/>
                </a:rPr>
                <a:t>Job status tracking with graceful failure handling</a:t>
              </a:r>
            </a:p>
          </p:txBody>
        </p:sp>
      </p:grpSp>
      <p:grpSp>
        <p:nvGrpSpPr>
          <p:cNvPr name="Group 70" id="70"/>
          <p:cNvGrpSpPr/>
          <p:nvPr/>
        </p:nvGrpSpPr>
        <p:grpSpPr>
          <a:xfrm rot="0">
            <a:off x="9601200" y="5801868"/>
            <a:ext cx="342900" cy="617220"/>
            <a:chOff x="0" y="0"/>
            <a:chExt cx="457200" cy="822960"/>
          </a:xfrm>
        </p:grpSpPr>
        <p:sp>
          <p:nvSpPr>
            <p:cNvPr name="Freeform 71" id="71"/>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72" id="72"/>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16A34A"/>
                  </a:solidFill>
                  <a:latin typeface="Calibri (MS) Bold"/>
                  <a:ea typeface="Calibri (MS) Bold"/>
                  <a:cs typeface="Calibri (MS) Bold"/>
                  <a:sym typeface="Calibri (MS) Bold"/>
                </a:rPr>
                <a:t>•</a:t>
              </a:r>
            </a:p>
          </p:txBody>
        </p:sp>
      </p:grpSp>
      <p:grpSp>
        <p:nvGrpSpPr>
          <p:cNvPr name="Group 73" id="73"/>
          <p:cNvGrpSpPr/>
          <p:nvPr/>
        </p:nvGrpSpPr>
        <p:grpSpPr>
          <a:xfrm rot="0">
            <a:off x="10012680" y="5801868"/>
            <a:ext cx="7132320" cy="754380"/>
            <a:chOff x="0" y="0"/>
            <a:chExt cx="9509760" cy="1005840"/>
          </a:xfrm>
        </p:grpSpPr>
        <p:sp>
          <p:nvSpPr>
            <p:cNvPr name="Freeform 74" id="74"/>
            <p:cNvSpPr/>
            <p:nvPr/>
          </p:nvSpPr>
          <p:spPr>
            <a:xfrm flipH="false" flipV="false" rot="0">
              <a:off x="0" y="0"/>
              <a:ext cx="9509760" cy="1005840"/>
            </a:xfrm>
            <a:custGeom>
              <a:avLst/>
              <a:gdLst/>
              <a:ahLst/>
              <a:cxnLst/>
              <a:rect r="r" b="b" t="t" l="l"/>
              <a:pathLst>
                <a:path h="1005840" w="9509760">
                  <a:moveTo>
                    <a:pt x="0" y="0"/>
                  </a:moveTo>
                  <a:lnTo>
                    <a:pt x="9509760" y="0"/>
                  </a:lnTo>
                  <a:lnTo>
                    <a:pt x="9509760" y="1005840"/>
                  </a:lnTo>
                  <a:lnTo>
                    <a:pt x="0" y="1005840"/>
                  </a:lnTo>
                  <a:close/>
                </a:path>
              </a:pathLst>
            </a:custGeom>
            <a:blipFill>
              <a:blip r:embed="rId3">
                <a:alphaModFix amt="0"/>
              </a:blip>
              <a:stretch>
                <a:fillRect l="0" t="-134222" r="0" b="-134222"/>
              </a:stretch>
            </a:blipFill>
          </p:spPr>
        </p:sp>
        <p:sp>
          <p:nvSpPr>
            <p:cNvPr name="TextBox 75" id="75"/>
            <p:cNvSpPr txBox="true"/>
            <p:nvPr/>
          </p:nvSpPr>
          <p:spPr>
            <a:xfrm>
              <a:off x="0" y="-38100"/>
              <a:ext cx="9509760" cy="1043940"/>
            </a:xfrm>
            <a:prstGeom prst="rect">
              <a:avLst/>
            </a:prstGeom>
          </p:spPr>
          <p:txBody>
            <a:bodyPr anchor="ctr" rtlCol="false" tIns="0" lIns="0" bIns="0" rIns="0"/>
            <a:lstStyle/>
            <a:p>
              <a:pPr algn="l">
                <a:lnSpc>
                  <a:spcPts val="2250"/>
                </a:lnSpc>
              </a:pPr>
              <a:r>
                <a:rPr lang="en-US" sz="1875">
                  <a:solidFill>
                    <a:srgbClr val="14532D"/>
                  </a:solidFill>
                  <a:latin typeface="Calibri (MS)"/>
                  <a:ea typeface="Calibri (MS)"/>
                  <a:cs typeface="Calibri (MS)"/>
                  <a:sym typeface="Calibri (MS)"/>
                </a:rPr>
                <a:t>Full debug payloads saved for every run</a:t>
              </a:r>
            </a:p>
          </p:txBody>
        </p:sp>
      </p:grpSp>
      <p:grpSp>
        <p:nvGrpSpPr>
          <p:cNvPr name="Group 76" id="76"/>
          <p:cNvGrpSpPr/>
          <p:nvPr/>
        </p:nvGrpSpPr>
        <p:grpSpPr>
          <a:xfrm rot="0">
            <a:off x="9601200" y="6707124"/>
            <a:ext cx="342900" cy="617220"/>
            <a:chOff x="0" y="0"/>
            <a:chExt cx="457200" cy="822960"/>
          </a:xfrm>
        </p:grpSpPr>
        <p:sp>
          <p:nvSpPr>
            <p:cNvPr name="Freeform 77" id="77"/>
            <p:cNvSpPr/>
            <p:nvPr/>
          </p:nvSpPr>
          <p:spPr>
            <a:xfrm flipH="false" flipV="false" rot="0">
              <a:off x="0" y="0"/>
              <a:ext cx="457200" cy="822960"/>
            </a:xfrm>
            <a:custGeom>
              <a:avLst/>
              <a:gdLst/>
              <a:ahLst/>
              <a:cxnLst/>
              <a:rect r="r" b="b" t="t" l="l"/>
              <a:pathLst>
                <a:path h="822960" w="457200">
                  <a:moveTo>
                    <a:pt x="0" y="0"/>
                  </a:moveTo>
                  <a:lnTo>
                    <a:pt x="457200" y="0"/>
                  </a:lnTo>
                  <a:lnTo>
                    <a:pt x="457200" y="822960"/>
                  </a:lnTo>
                  <a:lnTo>
                    <a:pt x="0" y="822960"/>
                  </a:lnTo>
                  <a:close/>
                </a:path>
              </a:pathLst>
            </a:custGeom>
            <a:blipFill>
              <a:blip r:embed="rId3">
                <a:alphaModFix amt="0"/>
              </a:blip>
              <a:stretch>
                <a:fillRect l="-180946" t="0" r="-180946" b="0"/>
              </a:stretch>
            </a:blipFill>
          </p:spPr>
        </p:sp>
        <p:sp>
          <p:nvSpPr>
            <p:cNvPr name="TextBox 78" id="78"/>
            <p:cNvSpPr txBox="true"/>
            <p:nvPr/>
          </p:nvSpPr>
          <p:spPr>
            <a:xfrm>
              <a:off x="0" y="-47625"/>
              <a:ext cx="457200" cy="870585"/>
            </a:xfrm>
            <a:prstGeom prst="rect">
              <a:avLst/>
            </a:prstGeom>
          </p:spPr>
          <p:txBody>
            <a:bodyPr anchor="ctr" rtlCol="false" tIns="0" lIns="0" bIns="0" rIns="0"/>
            <a:lstStyle/>
            <a:p>
              <a:pPr algn="l">
                <a:lnSpc>
                  <a:spcPts val="2340"/>
                </a:lnSpc>
              </a:pPr>
              <a:r>
                <a:rPr lang="en-US" sz="1950" b="true">
                  <a:solidFill>
                    <a:srgbClr val="16A34A"/>
                  </a:solidFill>
                  <a:latin typeface="Calibri (MS) Bold"/>
                  <a:ea typeface="Calibri (MS) Bold"/>
                  <a:cs typeface="Calibri (MS) Bold"/>
                  <a:sym typeface="Calibri (MS) Bold"/>
                </a:rPr>
                <a:t>•</a:t>
              </a:r>
            </a:p>
          </p:txBody>
        </p:sp>
      </p:grpSp>
      <p:grpSp>
        <p:nvGrpSpPr>
          <p:cNvPr name="Group 79" id="79"/>
          <p:cNvGrpSpPr/>
          <p:nvPr/>
        </p:nvGrpSpPr>
        <p:grpSpPr>
          <a:xfrm rot="0">
            <a:off x="10012680" y="6707124"/>
            <a:ext cx="7132320" cy="754380"/>
            <a:chOff x="0" y="0"/>
            <a:chExt cx="9509760" cy="1005840"/>
          </a:xfrm>
        </p:grpSpPr>
        <p:sp>
          <p:nvSpPr>
            <p:cNvPr name="Freeform 80" id="80"/>
            <p:cNvSpPr/>
            <p:nvPr/>
          </p:nvSpPr>
          <p:spPr>
            <a:xfrm flipH="false" flipV="false" rot="0">
              <a:off x="0" y="0"/>
              <a:ext cx="9509760" cy="1005840"/>
            </a:xfrm>
            <a:custGeom>
              <a:avLst/>
              <a:gdLst/>
              <a:ahLst/>
              <a:cxnLst/>
              <a:rect r="r" b="b" t="t" l="l"/>
              <a:pathLst>
                <a:path h="1005840" w="9509760">
                  <a:moveTo>
                    <a:pt x="0" y="0"/>
                  </a:moveTo>
                  <a:lnTo>
                    <a:pt x="9509760" y="0"/>
                  </a:lnTo>
                  <a:lnTo>
                    <a:pt x="9509760" y="1005840"/>
                  </a:lnTo>
                  <a:lnTo>
                    <a:pt x="0" y="1005840"/>
                  </a:lnTo>
                  <a:close/>
                </a:path>
              </a:pathLst>
            </a:custGeom>
            <a:blipFill>
              <a:blip r:embed="rId3">
                <a:alphaModFix amt="0"/>
              </a:blip>
              <a:stretch>
                <a:fillRect l="0" t="-134222" r="0" b="-134222"/>
              </a:stretch>
            </a:blipFill>
          </p:spPr>
        </p:sp>
        <p:sp>
          <p:nvSpPr>
            <p:cNvPr name="TextBox 81" id="81"/>
            <p:cNvSpPr txBox="true"/>
            <p:nvPr/>
          </p:nvSpPr>
          <p:spPr>
            <a:xfrm>
              <a:off x="0" y="-38100"/>
              <a:ext cx="9509760" cy="1043940"/>
            </a:xfrm>
            <a:prstGeom prst="rect">
              <a:avLst/>
            </a:prstGeom>
          </p:spPr>
          <p:txBody>
            <a:bodyPr anchor="ctr" rtlCol="false" tIns="0" lIns="0" bIns="0" rIns="0"/>
            <a:lstStyle/>
            <a:p>
              <a:pPr algn="l">
                <a:lnSpc>
                  <a:spcPts val="2250"/>
                </a:lnSpc>
              </a:pPr>
              <a:r>
                <a:rPr lang="en-US" sz="1875">
                  <a:solidFill>
                    <a:srgbClr val="14532D"/>
                  </a:solidFill>
                  <a:latin typeface="Calibri (MS)"/>
                  <a:ea typeface="Calibri (MS)"/>
                  <a:cs typeface="Calibri (MS)"/>
                  <a:sym typeface="Calibri (MS)"/>
                </a:rPr>
                <a:t>Containerised deployment via Docker Compose</a:t>
              </a:r>
            </a:p>
          </p:txBody>
        </p:sp>
      </p:grpSp>
      <p:grpSp>
        <p:nvGrpSpPr>
          <p:cNvPr name="Group 82" id="82"/>
          <p:cNvGrpSpPr/>
          <p:nvPr/>
        </p:nvGrpSpPr>
        <p:grpSpPr>
          <a:xfrm rot="0">
            <a:off x="685800" y="9793224"/>
            <a:ext cx="10972800" cy="411480"/>
            <a:chOff x="0" y="0"/>
            <a:chExt cx="14630400" cy="548640"/>
          </a:xfrm>
        </p:grpSpPr>
        <p:sp>
          <p:nvSpPr>
            <p:cNvPr name="Freeform 83" id="8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84" id="84"/>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85" id="85"/>
          <p:cNvGrpSpPr/>
          <p:nvPr/>
        </p:nvGrpSpPr>
        <p:grpSpPr>
          <a:xfrm rot="0">
            <a:off x="17282160" y="9793224"/>
            <a:ext cx="548640" cy="411480"/>
            <a:chOff x="0" y="0"/>
            <a:chExt cx="731520" cy="548640"/>
          </a:xfrm>
        </p:grpSpPr>
        <p:sp>
          <p:nvSpPr>
            <p:cNvPr name="Freeform 86" id="86"/>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87" id="87"/>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16</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5F7FB"/>
        </a:solidFill>
      </p:bgPr>
    </p:bg>
    <p:spTree>
      <p:nvGrpSpPr>
        <p:cNvPr id="1" name=""/>
        <p:cNvGrpSpPr/>
        <p:nvPr/>
      </p:nvGrpSpPr>
      <p:grpSpPr>
        <a:xfrm>
          <a:off x="0" y="0"/>
          <a:ext cx="0" cy="0"/>
          <a:chOff x="0" y="0"/>
          <a:chExt cx="0" cy="0"/>
        </a:xfrm>
      </p:grpSpPr>
      <p:grpSp>
        <p:nvGrpSpPr>
          <p:cNvPr name="Group 2" id="2"/>
          <p:cNvGrpSpPr/>
          <p:nvPr/>
        </p:nvGrpSpPr>
        <p:grpSpPr>
          <a:xfrm rot="0">
            <a:off x="822960" y="438912"/>
            <a:ext cx="15773400" cy="438912"/>
            <a:chOff x="0" y="0"/>
            <a:chExt cx="21031200" cy="585216"/>
          </a:xfrm>
        </p:grpSpPr>
        <p:sp>
          <p:nvSpPr>
            <p:cNvPr name="Freeform 3" id="3"/>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4" id="4"/>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9 · FUTURE WORK</a:t>
              </a:r>
            </a:p>
          </p:txBody>
        </p:sp>
      </p:grpSp>
      <p:grpSp>
        <p:nvGrpSpPr>
          <p:cNvPr name="Group 5" id="5"/>
          <p:cNvGrpSpPr/>
          <p:nvPr/>
        </p:nvGrpSpPr>
        <p:grpSpPr>
          <a:xfrm rot="0">
            <a:off x="822960" y="850392"/>
            <a:ext cx="16596360" cy="1028700"/>
            <a:chOff x="0" y="0"/>
            <a:chExt cx="22128480" cy="1371600"/>
          </a:xfrm>
        </p:grpSpPr>
        <p:sp>
          <p:nvSpPr>
            <p:cNvPr name="Freeform 6" id="6"/>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7" id="7"/>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17213B"/>
                  </a:solidFill>
                  <a:latin typeface="Cambria Bold"/>
                  <a:ea typeface="Cambria Bold"/>
                  <a:cs typeface="Cambria Bold"/>
                  <a:sym typeface="Cambria Bold"/>
                </a:rPr>
                <a:t>Future Work</a:t>
              </a:r>
            </a:p>
          </p:txBody>
        </p:sp>
      </p:grpSp>
      <p:grpSp>
        <p:nvGrpSpPr>
          <p:cNvPr name="Group 8" id="8"/>
          <p:cNvGrpSpPr/>
          <p:nvPr/>
        </p:nvGrpSpPr>
        <p:grpSpPr>
          <a:xfrm rot="0">
            <a:off x="872738" y="2118836"/>
            <a:ext cx="3991928" cy="2826067"/>
            <a:chOff x="0" y="0"/>
            <a:chExt cx="5322570" cy="3768090"/>
          </a:xfrm>
        </p:grpSpPr>
        <p:sp>
          <p:nvSpPr>
            <p:cNvPr name="Freeform 9" id="9"/>
            <p:cNvSpPr/>
            <p:nvPr/>
          </p:nvSpPr>
          <p:spPr>
            <a:xfrm flipH="false" flipV="false" rot="0">
              <a:off x="0" y="0"/>
              <a:ext cx="5322570" cy="3768090"/>
            </a:xfrm>
            <a:custGeom>
              <a:avLst/>
              <a:gdLst/>
              <a:ahLst/>
              <a:cxnLst/>
              <a:rect r="r" b="b" t="t" l="l"/>
              <a:pathLst>
                <a:path h="3768090" w="5322570">
                  <a:moveTo>
                    <a:pt x="0" y="147066"/>
                  </a:moveTo>
                  <a:cubicBezTo>
                    <a:pt x="0" y="65786"/>
                    <a:pt x="65786" y="0"/>
                    <a:pt x="147066" y="0"/>
                  </a:cubicBezTo>
                  <a:lnTo>
                    <a:pt x="5175504" y="0"/>
                  </a:lnTo>
                  <a:cubicBezTo>
                    <a:pt x="5256657" y="0"/>
                    <a:pt x="5322570" y="65786"/>
                    <a:pt x="5322570" y="147066"/>
                  </a:cubicBezTo>
                  <a:lnTo>
                    <a:pt x="5322570" y="3621024"/>
                  </a:lnTo>
                  <a:cubicBezTo>
                    <a:pt x="5322570" y="3702177"/>
                    <a:pt x="5256784" y="3768090"/>
                    <a:pt x="5175504" y="3768090"/>
                  </a:cubicBezTo>
                  <a:lnTo>
                    <a:pt x="147066" y="3768090"/>
                  </a:lnTo>
                  <a:cubicBezTo>
                    <a:pt x="65786" y="3768090"/>
                    <a:pt x="0" y="3702304"/>
                    <a:pt x="0" y="3621024"/>
                  </a:cubicBezTo>
                  <a:close/>
                </a:path>
              </a:pathLst>
            </a:custGeom>
            <a:solidFill>
              <a:srgbClr val="FFFFFF"/>
            </a:solidFill>
            <a:ln w="14288" cap="sq">
              <a:solidFill>
                <a:srgbClr val="E2E8F0"/>
              </a:solidFill>
              <a:prstDash val="solid"/>
              <a:miter/>
            </a:ln>
          </p:spPr>
        </p:sp>
      </p:grpSp>
      <p:grpSp>
        <p:nvGrpSpPr>
          <p:cNvPr name="Group 10" id="10"/>
          <p:cNvGrpSpPr/>
          <p:nvPr/>
        </p:nvGrpSpPr>
        <p:grpSpPr>
          <a:xfrm rot="0">
            <a:off x="1154201" y="2400300"/>
            <a:ext cx="754380" cy="754380"/>
            <a:chOff x="0" y="0"/>
            <a:chExt cx="1005840" cy="1005840"/>
          </a:xfrm>
        </p:grpSpPr>
        <p:sp>
          <p:nvSpPr>
            <p:cNvPr name="Freeform 11" id="1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12" id="12"/>
          <p:cNvGrpSpPr/>
          <p:nvPr/>
        </p:nvGrpSpPr>
        <p:grpSpPr>
          <a:xfrm rot="0">
            <a:off x="1244727" y="2490826"/>
            <a:ext cx="573329" cy="573329"/>
            <a:chOff x="0" y="0"/>
            <a:chExt cx="764438" cy="764438"/>
          </a:xfrm>
        </p:grpSpPr>
        <p:sp>
          <p:nvSpPr>
            <p:cNvPr name="Freeform 13" id="13" descr="/home/claude/pptx/icons/future.png"/>
            <p:cNvSpPr/>
            <p:nvPr/>
          </p:nvSpPr>
          <p:spPr>
            <a:xfrm flipH="false" flipV="false" rot="0">
              <a:off x="0" y="0"/>
              <a:ext cx="764413" cy="764413"/>
            </a:xfrm>
            <a:custGeom>
              <a:avLst/>
              <a:gdLst/>
              <a:ahLst/>
              <a:cxnLst/>
              <a:rect r="r" b="b" t="t" l="l"/>
              <a:pathLst>
                <a:path h="764413" w="764413">
                  <a:moveTo>
                    <a:pt x="0" y="0"/>
                  </a:moveTo>
                  <a:lnTo>
                    <a:pt x="764413" y="0"/>
                  </a:lnTo>
                  <a:lnTo>
                    <a:pt x="764413" y="764413"/>
                  </a:lnTo>
                  <a:lnTo>
                    <a:pt x="0" y="764413"/>
                  </a:lnTo>
                  <a:lnTo>
                    <a:pt x="0" y="0"/>
                  </a:lnTo>
                  <a:close/>
                </a:path>
              </a:pathLst>
            </a:custGeom>
            <a:blipFill>
              <a:blip r:embed="rId4"/>
              <a:stretch>
                <a:fillRect l="0" t="0" r="-3" b="-3"/>
              </a:stretch>
            </a:blipFill>
          </p:spPr>
        </p:sp>
      </p:grpSp>
      <p:grpSp>
        <p:nvGrpSpPr>
          <p:cNvPr name="Group 14" id="14"/>
          <p:cNvGrpSpPr/>
          <p:nvPr/>
        </p:nvGrpSpPr>
        <p:grpSpPr>
          <a:xfrm rot="0">
            <a:off x="1154201" y="3332988"/>
            <a:ext cx="3429000" cy="548640"/>
            <a:chOff x="0" y="0"/>
            <a:chExt cx="4572000" cy="731520"/>
          </a:xfrm>
        </p:grpSpPr>
        <p:sp>
          <p:nvSpPr>
            <p:cNvPr name="Freeform 15" id="15"/>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16" id="16"/>
            <p:cNvSpPr txBox="true"/>
            <p:nvPr/>
          </p:nvSpPr>
          <p:spPr>
            <a:xfrm>
              <a:off x="0" y="-38100"/>
              <a:ext cx="4572000" cy="769620"/>
            </a:xfrm>
            <a:prstGeom prst="rect">
              <a:avLst/>
            </a:prstGeom>
          </p:spPr>
          <p:txBody>
            <a:bodyPr anchor="ctr" rtlCol="false" tIns="0" lIns="0" bIns="0" rIns="0"/>
            <a:lstStyle/>
            <a:p>
              <a:pPr algn="l">
                <a:lnSpc>
                  <a:spcPts val="2250"/>
                </a:lnSpc>
              </a:pPr>
              <a:r>
                <a:rPr lang="en-US" sz="1875" b="true">
                  <a:solidFill>
                    <a:srgbClr val="17213B"/>
                  </a:solidFill>
                  <a:latin typeface="Calibri (MS) Bold"/>
                  <a:ea typeface="Calibri (MS) Bold"/>
                  <a:cs typeface="Calibri (MS) Bold"/>
                  <a:sym typeface="Calibri (MS) Bold"/>
                </a:rPr>
                <a:t>Streamlit UI</a:t>
              </a:r>
            </a:p>
          </p:txBody>
        </p:sp>
      </p:grpSp>
      <p:grpSp>
        <p:nvGrpSpPr>
          <p:cNvPr name="Group 17" id="17"/>
          <p:cNvGrpSpPr/>
          <p:nvPr/>
        </p:nvGrpSpPr>
        <p:grpSpPr>
          <a:xfrm rot="0">
            <a:off x="1154201" y="3881628"/>
            <a:ext cx="3429000" cy="891540"/>
            <a:chOff x="0" y="0"/>
            <a:chExt cx="4572000" cy="1188720"/>
          </a:xfrm>
        </p:grpSpPr>
        <p:sp>
          <p:nvSpPr>
            <p:cNvPr name="Freeform 18" id="18"/>
            <p:cNvSpPr/>
            <p:nvPr/>
          </p:nvSpPr>
          <p:spPr>
            <a:xfrm flipH="false" flipV="false" rot="0">
              <a:off x="0" y="0"/>
              <a:ext cx="4572000" cy="1188720"/>
            </a:xfrm>
            <a:custGeom>
              <a:avLst/>
              <a:gdLst/>
              <a:ahLst/>
              <a:cxnLst/>
              <a:rect r="r" b="b" t="t" l="l"/>
              <a:pathLst>
                <a:path h="1188720" w="4572000">
                  <a:moveTo>
                    <a:pt x="0" y="0"/>
                  </a:moveTo>
                  <a:lnTo>
                    <a:pt x="4572000" y="0"/>
                  </a:lnTo>
                  <a:lnTo>
                    <a:pt x="4572000" y="1188720"/>
                  </a:lnTo>
                  <a:lnTo>
                    <a:pt x="0" y="1188720"/>
                  </a:lnTo>
                  <a:close/>
                </a:path>
              </a:pathLst>
            </a:custGeom>
            <a:blipFill>
              <a:blip r:embed="rId3">
                <a:alphaModFix amt="0"/>
              </a:blip>
              <a:stretch>
                <a:fillRect l="0" t="-24942" r="0" b="-24942"/>
              </a:stretch>
            </a:blipFill>
          </p:spPr>
        </p:sp>
        <p:sp>
          <p:nvSpPr>
            <p:cNvPr name="TextBox 19" id="19"/>
            <p:cNvSpPr txBox="true"/>
            <p:nvPr/>
          </p:nvSpPr>
          <p:spPr>
            <a:xfrm>
              <a:off x="0" y="-38100"/>
              <a:ext cx="4572000" cy="1226820"/>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Interactive front-end for non-technical users</a:t>
              </a:r>
            </a:p>
          </p:txBody>
        </p:sp>
      </p:grpSp>
      <p:grpSp>
        <p:nvGrpSpPr>
          <p:cNvPr name="Group 20" id="20"/>
          <p:cNvGrpSpPr/>
          <p:nvPr/>
        </p:nvGrpSpPr>
        <p:grpSpPr>
          <a:xfrm rot="0">
            <a:off x="5056118" y="2118836"/>
            <a:ext cx="3991928" cy="2826067"/>
            <a:chOff x="0" y="0"/>
            <a:chExt cx="5322570" cy="3768090"/>
          </a:xfrm>
        </p:grpSpPr>
        <p:sp>
          <p:nvSpPr>
            <p:cNvPr name="Freeform 21" id="21"/>
            <p:cNvSpPr/>
            <p:nvPr/>
          </p:nvSpPr>
          <p:spPr>
            <a:xfrm flipH="false" flipV="false" rot="0">
              <a:off x="0" y="0"/>
              <a:ext cx="5322570" cy="3768090"/>
            </a:xfrm>
            <a:custGeom>
              <a:avLst/>
              <a:gdLst/>
              <a:ahLst/>
              <a:cxnLst/>
              <a:rect r="r" b="b" t="t" l="l"/>
              <a:pathLst>
                <a:path h="3768090" w="5322570">
                  <a:moveTo>
                    <a:pt x="0" y="147066"/>
                  </a:moveTo>
                  <a:cubicBezTo>
                    <a:pt x="0" y="65786"/>
                    <a:pt x="65786" y="0"/>
                    <a:pt x="147066" y="0"/>
                  </a:cubicBezTo>
                  <a:lnTo>
                    <a:pt x="5175504" y="0"/>
                  </a:lnTo>
                  <a:cubicBezTo>
                    <a:pt x="5256657" y="0"/>
                    <a:pt x="5322570" y="65786"/>
                    <a:pt x="5322570" y="147066"/>
                  </a:cubicBezTo>
                  <a:lnTo>
                    <a:pt x="5322570" y="3621024"/>
                  </a:lnTo>
                  <a:cubicBezTo>
                    <a:pt x="5322570" y="3702177"/>
                    <a:pt x="5256784" y="3768090"/>
                    <a:pt x="5175504" y="3768090"/>
                  </a:cubicBezTo>
                  <a:lnTo>
                    <a:pt x="147066" y="3768090"/>
                  </a:lnTo>
                  <a:cubicBezTo>
                    <a:pt x="65786" y="3768090"/>
                    <a:pt x="0" y="3702304"/>
                    <a:pt x="0" y="3621024"/>
                  </a:cubicBezTo>
                  <a:close/>
                </a:path>
              </a:pathLst>
            </a:custGeom>
            <a:solidFill>
              <a:srgbClr val="FFFFFF"/>
            </a:solidFill>
            <a:ln w="14288" cap="sq">
              <a:solidFill>
                <a:srgbClr val="E2E8F0"/>
              </a:solidFill>
              <a:prstDash val="solid"/>
              <a:miter/>
            </a:ln>
          </p:spPr>
        </p:sp>
      </p:grpSp>
      <p:grpSp>
        <p:nvGrpSpPr>
          <p:cNvPr name="Group 22" id="22"/>
          <p:cNvGrpSpPr/>
          <p:nvPr/>
        </p:nvGrpSpPr>
        <p:grpSpPr>
          <a:xfrm rot="0">
            <a:off x="5337581" y="2400300"/>
            <a:ext cx="754380" cy="754380"/>
            <a:chOff x="0" y="0"/>
            <a:chExt cx="1005840" cy="1005840"/>
          </a:xfrm>
        </p:grpSpPr>
        <p:sp>
          <p:nvSpPr>
            <p:cNvPr name="Freeform 23" id="2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24" id="24"/>
          <p:cNvGrpSpPr/>
          <p:nvPr/>
        </p:nvGrpSpPr>
        <p:grpSpPr>
          <a:xfrm rot="0">
            <a:off x="5428107" y="2490826"/>
            <a:ext cx="573329" cy="573329"/>
            <a:chOff x="0" y="0"/>
            <a:chExt cx="764438" cy="764438"/>
          </a:xfrm>
        </p:grpSpPr>
        <p:sp>
          <p:nvSpPr>
            <p:cNvPr name="Freeform 25" id="25" descr="/home/claude/pptx/icons/future.png"/>
            <p:cNvSpPr/>
            <p:nvPr/>
          </p:nvSpPr>
          <p:spPr>
            <a:xfrm flipH="false" flipV="false" rot="0">
              <a:off x="0" y="0"/>
              <a:ext cx="764413" cy="764413"/>
            </a:xfrm>
            <a:custGeom>
              <a:avLst/>
              <a:gdLst/>
              <a:ahLst/>
              <a:cxnLst/>
              <a:rect r="r" b="b" t="t" l="l"/>
              <a:pathLst>
                <a:path h="764413" w="764413">
                  <a:moveTo>
                    <a:pt x="0" y="0"/>
                  </a:moveTo>
                  <a:lnTo>
                    <a:pt x="764413" y="0"/>
                  </a:lnTo>
                  <a:lnTo>
                    <a:pt x="764413" y="764413"/>
                  </a:lnTo>
                  <a:lnTo>
                    <a:pt x="0" y="764413"/>
                  </a:lnTo>
                  <a:lnTo>
                    <a:pt x="0" y="0"/>
                  </a:lnTo>
                  <a:close/>
                </a:path>
              </a:pathLst>
            </a:custGeom>
            <a:blipFill>
              <a:blip r:embed="rId4"/>
              <a:stretch>
                <a:fillRect l="0" t="0" r="-3" b="-3"/>
              </a:stretch>
            </a:blipFill>
          </p:spPr>
        </p:sp>
      </p:grpSp>
      <p:grpSp>
        <p:nvGrpSpPr>
          <p:cNvPr name="Group 26" id="26"/>
          <p:cNvGrpSpPr/>
          <p:nvPr/>
        </p:nvGrpSpPr>
        <p:grpSpPr>
          <a:xfrm rot="0">
            <a:off x="5337581" y="3332988"/>
            <a:ext cx="3429000" cy="548640"/>
            <a:chOff x="0" y="0"/>
            <a:chExt cx="4572000" cy="731520"/>
          </a:xfrm>
        </p:grpSpPr>
        <p:sp>
          <p:nvSpPr>
            <p:cNvPr name="Freeform 27" id="27"/>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28" id="28"/>
            <p:cNvSpPr txBox="true"/>
            <p:nvPr/>
          </p:nvSpPr>
          <p:spPr>
            <a:xfrm>
              <a:off x="0" y="-38100"/>
              <a:ext cx="4572000" cy="769620"/>
            </a:xfrm>
            <a:prstGeom prst="rect">
              <a:avLst/>
            </a:prstGeom>
          </p:spPr>
          <p:txBody>
            <a:bodyPr anchor="ctr" rtlCol="false" tIns="0" lIns="0" bIns="0" rIns="0"/>
            <a:lstStyle/>
            <a:p>
              <a:pPr algn="l">
                <a:lnSpc>
                  <a:spcPts val="2250"/>
                </a:lnSpc>
              </a:pPr>
              <a:r>
                <a:rPr lang="en-US" sz="1875" b="true">
                  <a:solidFill>
                    <a:srgbClr val="17213B"/>
                  </a:solidFill>
                  <a:latin typeface="Calibri (MS) Bold"/>
                  <a:ea typeface="Calibri (MS) Bold"/>
                  <a:cs typeface="Calibri (MS) Bold"/>
                  <a:sym typeface="Calibri (MS) Bold"/>
                </a:rPr>
                <a:t>MLflow Tracking</a:t>
              </a:r>
            </a:p>
          </p:txBody>
        </p:sp>
      </p:grpSp>
      <p:grpSp>
        <p:nvGrpSpPr>
          <p:cNvPr name="Group 29" id="29"/>
          <p:cNvGrpSpPr/>
          <p:nvPr/>
        </p:nvGrpSpPr>
        <p:grpSpPr>
          <a:xfrm rot="0">
            <a:off x="5337581" y="3881628"/>
            <a:ext cx="3429000" cy="891540"/>
            <a:chOff x="0" y="0"/>
            <a:chExt cx="4572000" cy="1188720"/>
          </a:xfrm>
        </p:grpSpPr>
        <p:sp>
          <p:nvSpPr>
            <p:cNvPr name="Freeform 30" id="30"/>
            <p:cNvSpPr/>
            <p:nvPr/>
          </p:nvSpPr>
          <p:spPr>
            <a:xfrm flipH="false" flipV="false" rot="0">
              <a:off x="0" y="0"/>
              <a:ext cx="4572000" cy="1188720"/>
            </a:xfrm>
            <a:custGeom>
              <a:avLst/>
              <a:gdLst/>
              <a:ahLst/>
              <a:cxnLst/>
              <a:rect r="r" b="b" t="t" l="l"/>
              <a:pathLst>
                <a:path h="1188720" w="4572000">
                  <a:moveTo>
                    <a:pt x="0" y="0"/>
                  </a:moveTo>
                  <a:lnTo>
                    <a:pt x="4572000" y="0"/>
                  </a:lnTo>
                  <a:lnTo>
                    <a:pt x="4572000" y="1188720"/>
                  </a:lnTo>
                  <a:lnTo>
                    <a:pt x="0" y="1188720"/>
                  </a:lnTo>
                  <a:close/>
                </a:path>
              </a:pathLst>
            </a:custGeom>
            <a:blipFill>
              <a:blip r:embed="rId3">
                <a:alphaModFix amt="0"/>
              </a:blip>
              <a:stretch>
                <a:fillRect l="0" t="-24942" r="0" b="-24942"/>
              </a:stretch>
            </a:blipFill>
          </p:spPr>
        </p:sp>
        <p:sp>
          <p:nvSpPr>
            <p:cNvPr name="TextBox 31" id="31"/>
            <p:cNvSpPr txBox="true"/>
            <p:nvPr/>
          </p:nvSpPr>
          <p:spPr>
            <a:xfrm>
              <a:off x="0" y="-38100"/>
              <a:ext cx="4572000" cy="1226820"/>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Log parameters, scores, and artefacts per run</a:t>
              </a:r>
            </a:p>
          </p:txBody>
        </p:sp>
      </p:grpSp>
      <p:grpSp>
        <p:nvGrpSpPr>
          <p:cNvPr name="Group 32" id="32"/>
          <p:cNvGrpSpPr/>
          <p:nvPr/>
        </p:nvGrpSpPr>
        <p:grpSpPr>
          <a:xfrm rot="0">
            <a:off x="9239498" y="2118836"/>
            <a:ext cx="3991928" cy="2826067"/>
            <a:chOff x="0" y="0"/>
            <a:chExt cx="5322570" cy="3768090"/>
          </a:xfrm>
        </p:grpSpPr>
        <p:sp>
          <p:nvSpPr>
            <p:cNvPr name="Freeform 33" id="33"/>
            <p:cNvSpPr/>
            <p:nvPr/>
          </p:nvSpPr>
          <p:spPr>
            <a:xfrm flipH="false" flipV="false" rot="0">
              <a:off x="0" y="0"/>
              <a:ext cx="5322570" cy="3768090"/>
            </a:xfrm>
            <a:custGeom>
              <a:avLst/>
              <a:gdLst/>
              <a:ahLst/>
              <a:cxnLst/>
              <a:rect r="r" b="b" t="t" l="l"/>
              <a:pathLst>
                <a:path h="3768090" w="5322570">
                  <a:moveTo>
                    <a:pt x="0" y="147066"/>
                  </a:moveTo>
                  <a:cubicBezTo>
                    <a:pt x="0" y="65786"/>
                    <a:pt x="65786" y="0"/>
                    <a:pt x="147066" y="0"/>
                  </a:cubicBezTo>
                  <a:lnTo>
                    <a:pt x="5175504" y="0"/>
                  </a:lnTo>
                  <a:cubicBezTo>
                    <a:pt x="5256657" y="0"/>
                    <a:pt x="5322570" y="65786"/>
                    <a:pt x="5322570" y="147066"/>
                  </a:cubicBezTo>
                  <a:lnTo>
                    <a:pt x="5322570" y="3621024"/>
                  </a:lnTo>
                  <a:cubicBezTo>
                    <a:pt x="5322570" y="3702177"/>
                    <a:pt x="5256784" y="3768090"/>
                    <a:pt x="5175504" y="3768090"/>
                  </a:cubicBezTo>
                  <a:lnTo>
                    <a:pt x="147066" y="3768090"/>
                  </a:lnTo>
                  <a:cubicBezTo>
                    <a:pt x="65786" y="3768090"/>
                    <a:pt x="0" y="3702304"/>
                    <a:pt x="0" y="3621024"/>
                  </a:cubicBezTo>
                  <a:close/>
                </a:path>
              </a:pathLst>
            </a:custGeom>
            <a:solidFill>
              <a:srgbClr val="FFFFFF"/>
            </a:solidFill>
            <a:ln w="14288" cap="sq">
              <a:solidFill>
                <a:srgbClr val="E2E8F0"/>
              </a:solidFill>
              <a:prstDash val="solid"/>
              <a:miter/>
            </a:ln>
          </p:spPr>
        </p:sp>
      </p:grpSp>
      <p:grpSp>
        <p:nvGrpSpPr>
          <p:cNvPr name="Group 34" id="34"/>
          <p:cNvGrpSpPr/>
          <p:nvPr/>
        </p:nvGrpSpPr>
        <p:grpSpPr>
          <a:xfrm rot="0">
            <a:off x="9520961" y="2400300"/>
            <a:ext cx="754380" cy="754380"/>
            <a:chOff x="0" y="0"/>
            <a:chExt cx="1005840" cy="1005840"/>
          </a:xfrm>
        </p:grpSpPr>
        <p:sp>
          <p:nvSpPr>
            <p:cNvPr name="Freeform 35" id="3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36" id="36"/>
          <p:cNvGrpSpPr/>
          <p:nvPr/>
        </p:nvGrpSpPr>
        <p:grpSpPr>
          <a:xfrm rot="0">
            <a:off x="9611487" y="2490826"/>
            <a:ext cx="573329" cy="573329"/>
            <a:chOff x="0" y="0"/>
            <a:chExt cx="764438" cy="764438"/>
          </a:xfrm>
        </p:grpSpPr>
        <p:sp>
          <p:nvSpPr>
            <p:cNvPr name="Freeform 37" id="37" descr="/home/claude/pptx/icons/future.png"/>
            <p:cNvSpPr/>
            <p:nvPr/>
          </p:nvSpPr>
          <p:spPr>
            <a:xfrm flipH="false" flipV="false" rot="0">
              <a:off x="0" y="0"/>
              <a:ext cx="764413" cy="764413"/>
            </a:xfrm>
            <a:custGeom>
              <a:avLst/>
              <a:gdLst/>
              <a:ahLst/>
              <a:cxnLst/>
              <a:rect r="r" b="b" t="t" l="l"/>
              <a:pathLst>
                <a:path h="764413" w="764413">
                  <a:moveTo>
                    <a:pt x="0" y="0"/>
                  </a:moveTo>
                  <a:lnTo>
                    <a:pt x="764413" y="0"/>
                  </a:lnTo>
                  <a:lnTo>
                    <a:pt x="764413" y="764413"/>
                  </a:lnTo>
                  <a:lnTo>
                    <a:pt x="0" y="764413"/>
                  </a:lnTo>
                  <a:lnTo>
                    <a:pt x="0" y="0"/>
                  </a:lnTo>
                  <a:close/>
                </a:path>
              </a:pathLst>
            </a:custGeom>
            <a:blipFill>
              <a:blip r:embed="rId4"/>
              <a:stretch>
                <a:fillRect l="0" t="0" r="-3" b="-3"/>
              </a:stretch>
            </a:blipFill>
          </p:spPr>
        </p:sp>
      </p:grpSp>
      <p:grpSp>
        <p:nvGrpSpPr>
          <p:cNvPr name="Group 38" id="38"/>
          <p:cNvGrpSpPr/>
          <p:nvPr/>
        </p:nvGrpSpPr>
        <p:grpSpPr>
          <a:xfrm rot="0">
            <a:off x="9520961" y="3332988"/>
            <a:ext cx="3429000" cy="548640"/>
            <a:chOff x="0" y="0"/>
            <a:chExt cx="4572000" cy="731520"/>
          </a:xfrm>
        </p:grpSpPr>
        <p:sp>
          <p:nvSpPr>
            <p:cNvPr name="Freeform 39" id="39"/>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40" id="40"/>
            <p:cNvSpPr txBox="true"/>
            <p:nvPr/>
          </p:nvSpPr>
          <p:spPr>
            <a:xfrm>
              <a:off x="0" y="-38100"/>
              <a:ext cx="4572000" cy="769620"/>
            </a:xfrm>
            <a:prstGeom prst="rect">
              <a:avLst/>
            </a:prstGeom>
          </p:spPr>
          <p:txBody>
            <a:bodyPr anchor="ctr" rtlCol="false" tIns="0" lIns="0" bIns="0" rIns="0"/>
            <a:lstStyle/>
            <a:p>
              <a:pPr algn="l">
                <a:lnSpc>
                  <a:spcPts val="2250"/>
                </a:lnSpc>
              </a:pPr>
              <a:r>
                <a:rPr lang="en-US" sz="1875" b="true">
                  <a:solidFill>
                    <a:srgbClr val="17213B"/>
                  </a:solidFill>
                  <a:latin typeface="Calibri (MS) Bold"/>
                  <a:ea typeface="Calibri (MS) Bold"/>
                  <a:cs typeface="Calibri (MS) Bold"/>
                  <a:sym typeface="Calibri (MS) Bold"/>
                </a:rPr>
                <a:t>CI/CD Automation</a:t>
              </a:r>
            </a:p>
          </p:txBody>
        </p:sp>
      </p:grpSp>
      <p:grpSp>
        <p:nvGrpSpPr>
          <p:cNvPr name="Group 41" id="41"/>
          <p:cNvGrpSpPr/>
          <p:nvPr/>
        </p:nvGrpSpPr>
        <p:grpSpPr>
          <a:xfrm rot="0">
            <a:off x="9520961" y="3881628"/>
            <a:ext cx="3429000" cy="891540"/>
            <a:chOff x="0" y="0"/>
            <a:chExt cx="4572000" cy="1188720"/>
          </a:xfrm>
        </p:grpSpPr>
        <p:sp>
          <p:nvSpPr>
            <p:cNvPr name="Freeform 42" id="42"/>
            <p:cNvSpPr/>
            <p:nvPr/>
          </p:nvSpPr>
          <p:spPr>
            <a:xfrm flipH="false" flipV="false" rot="0">
              <a:off x="0" y="0"/>
              <a:ext cx="4572000" cy="1188720"/>
            </a:xfrm>
            <a:custGeom>
              <a:avLst/>
              <a:gdLst/>
              <a:ahLst/>
              <a:cxnLst/>
              <a:rect r="r" b="b" t="t" l="l"/>
              <a:pathLst>
                <a:path h="1188720" w="4572000">
                  <a:moveTo>
                    <a:pt x="0" y="0"/>
                  </a:moveTo>
                  <a:lnTo>
                    <a:pt x="4572000" y="0"/>
                  </a:lnTo>
                  <a:lnTo>
                    <a:pt x="4572000" y="1188720"/>
                  </a:lnTo>
                  <a:lnTo>
                    <a:pt x="0" y="1188720"/>
                  </a:lnTo>
                  <a:close/>
                </a:path>
              </a:pathLst>
            </a:custGeom>
            <a:blipFill>
              <a:blip r:embed="rId3">
                <a:alphaModFix amt="0"/>
              </a:blip>
              <a:stretch>
                <a:fillRect l="0" t="-24942" r="0" b="-24942"/>
              </a:stretch>
            </a:blipFill>
          </p:spPr>
        </p:sp>
        <p:sp>
          <p:nvSpPr>
            <p:cNvPr name="TextBox 43" id="43"/>
            <p:cNvSpPr txBox="true"/>
            <p:nvPr/>
          </p:nvSpPr>
          <p:spPr>
            <a:xfrm>
              <a:off x="0" y="-38100"/>
              <a:ext cx="4572000" cy="1226820"/>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Automated test, build, and deploy pipeline</a:t>
              </a:r>
            </a:p>
          </p:txBody>
        </p:sp>
      </p:grpSp>
      <p:grpSp>
        <p:nvGrpSpPr>
          <p:cNvPr name="Group 44" id="44"/>
          <p:cNvGrpSpPr/>
          <p:nvPr/>
        </p:nvGrpSpPr>
        <p:grpSpPr>
          <a:xfrm rot="0">
            <a:off x="13422878" y="2118836"/>
            <a:ext cx="3991928" cy="2826067"/>
            <a:chOff x="0" y="0"/>
            <a:chExt cx="5322570" cy="3768090"/>
          </a:xfrm>
        </p:grpSpPr>
        <p:sp>
          <p:nvSpPr>
            <p:cNvPr name="Freeform 45" id="45"/>
            <p:cNvSpPr/>
            <p:nvPr/>
          </p:nvSpPr>
          <p:spPr>
            <a:xfrm flipH="false" flipV="false" rot="0">
              <a:off x="0" y="0"/>
              <a:ext cx="5322570" cy="3768090"/>
            </a:xfrm>
            <a:custGeom>
              <a:avLst/>
              <a:gdLst/>
              <a:ahLst/>
              <a:cxnLst/>
              <a:rect r="r" b="b" t="t" l="l"/>
              <a:pathLst>
                <a:path h="3768090" w="5322570">
                  <a:moveTo>
                    <a:pt x="0" y="147066"/>
                  </a:moveTo>
                  <a:cubicBezTo>
                    <a:pt x="0" y="65786"/>
                    <a:pt x="65786" y="0"/>
                    <a:pt x="147066" y="0"/>
                  </a:cubicBezTo>
                  <a:lnTo>
                    <a:pt x="5175504" y="0"/>
                  </a:lnTo>
                  <a:cubicBezTo>
                    <a:pt x="5256657" y="0"/>
                    <a:pt x="5322570" y="65786"/>
                    <a:pt x="5322570" y="147066"/>
                  </a:cubicBezTo>
                  <a:lnTo>
                    <a:pt x="5322570" y="3621024"/>
                  </a:lnTo>
                  <a:cubicBezTo>
                    <a:pt x="5322570" y="3702177"/>
                    <a:pt x="5256784" y="3768090"/>
                    <a:pt x="5175504" y="3768090"/>
                  </a:cubicBezTo>
                  <a:lnTo>
                    <a:pt x="147066" y="3768090"/>
                  </a:lnTo>
                  <a:cubicBezTo>
                    <a:pt x="65786" y="3768090"/>
                    <a:pt x="0" y="3702304"/>
                    <a:pt x="0" y="3621024"/>
                  </a:cubicBezTo>
                  <a:close/>
                </a:path>
              </a:pathLst>
            </a:custGeom>
            <a:solidFill>
              <a:srgbClr val="FFFFFF"/>
            </a:solidFill>
            <a:ln w="14288" cap="sq">
              <a:solidFill>
                <a:srgbClr val="E2E8F0"/>
              </a:solidFill>
              <a:prstDash val="solid"/>
              <a:miter/>
            </a:ln>
          </p:spPr>
        </p:sp>
      </p:grpSp>
      <p:grpSp>
        <p:nvGrpSpPr>
          <p:cNvPr name="Group 46" id="46"/>
          <p:cNvGrpSpPr/>
          <p:nvPr/>
        </p:nvGrpSpPr>
        <p:grpSpPr>
          <a:xfrm rot="0">
            <a:off x="13704341" y="2400300"/>
            <a:ext cx="754380" cy="754380"/>
            <a:chOff x="0" y="0"/>
            <a:chExt cx="1005840" cy="1005840"/>
          </a:xfrm>
        </p:grpSpPr>
        <p:sp>
          <p:nvSpPr>
            <p:cNvPr name="Freeform 47" id="4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48" id="48"/>
          <p:cNvGrpSpPr/>
          <p:nvPr/>
        </p:nvGrpSpPr>
        <p:grpSpPr>
          <a:xfrm rot="0">
            <a:off x="13794867" y="2490826"/>
            <a:ext cx="573329" cy="573329"/>
            <a:chOff x="0" y="0"/>
            <a:chExt cx="764438" cy="764438"/>
          </a:xfrm>
        </p:grpSpPr>
        <p:sp>
          <p:nvSpPr>
            <p:cNvPr name="Freeform 49" id="49" descr="/home/claude/pptx/icons/security.png"/>
            <p:cNvSpPr/>
            <p:nvPr/>
          </p:nvSpPr>
          <p:spPr>
            <a:xfrm flipH="false" flipV="false" rot="0">
              <a:off x="0" y="0"/>
              <a:ext cx="764413" cy="764413"/>
            </a:xfrm>
            <a:custGeom>
              <a:avLst/>
              <a:gdLst/>
              <a:ahLst/>
              <a:cxnLst/>
              <a:rect r="r" b="b" t="t" l="l"/>
              <a:pathLst>
                <a:path h="764413" w="764413">
                  <a:moveTo>
                    <a:pt x="0" y="0"/>
                  </a:moveTo>
                  <a:lnTo>
                    <a:pt x="764413" y="0"/>
                  </a:lnTo>
                  <a:lnTo>
                    <a:pt x="764413" y="764413"/>
                  </a:lnTo>
                  <a:lnTo>
                    <a:pt x="0" y="764413"/>
                  </a:lnTo>
                  <a:lnTo>
                    <a:pt x="0" y="0"/>
                  </a:lnTo>
                  <a:close/>
                </a:path>
              </a:pathLst>
            </a:custGeom>
            <a:blipFill>
              <a:blip r:embed="rId5"/>
              <a:stretch>
                <a:fillRect l="0" t="0" r="-3" b="-3"/>
              </a:stretch>
            </a:blipFill>
          </p:spPr>
        </p:sp>
      </p:grpSp>
      <p:grpSp>
        <p:nvGrpSpPr>
          <p:cNvPr name="Group 50" id="50"/>
          <p:cNvGrpSpPr/>
          <p:nvPr/>
        </p:nvGrpSpPr>
        <p:grpSpPr>
          <a:xfrm rot="0">
            <a:off x="13704341" y="3332988"/>
            <a:ext cx="3429000" cy="548640"/>
            <a:chOff x="0" y="0"/>
            <a:chExt cx="4572000" cy="731520"/>
          </a:xfrm>
        </p:grpSpPr>
        <p:sp>
          <p:nvSpPr>
            <p:cNvPr name="Freeform 51" id="51"/>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52" id="52"/>
            <p:cNvSpPr txBox="true"/>
            <p:nvPr/>
          </p:nvSpPr>
          <p:spPr>
            <a:xfrm>
              <a:off x="0" y="-38100"/>
              <a:ext cx="4572000" cy="769620"/>
            </a:xfrm>
            <a:prstGeom prst="rect">
              <a:avLst/>
            </a:prstGeom>
          </p:spPr>
          <p:txBody>
            <a:bodyPr anchor="ctr" rtlCol="false" tIns="0" lIns="0" bIns="0" rIns="0"/>
            <a:lstStyle/>
            <a:p>
              <a:pPr algn="l">
                <a:lnSpc>
                  <a:spcPts val="2250"/>
                </a:lnSpc>
              </a:pPr>
              <a:r>
                <a:rPr lang="en-US" sz="1875" b="true">
                  <a:solidFill>
                    <a:srgbClr val="17213B"/>
                  </a:solidFill>
                  <a:latin typeface="Calibri (MS) Bold"/>
                  <a:ea typeface="Calibri (MS) Bold"/>
                  <a:cs typeface="Calibri (MS) Bold"/>
                  <a:sym typeface="Calibri (MS) Bold"/>
                </a:rPr>
                <a:t>Authentication</a:t>
              </a:r>
            </a:p>
          </p:txBody>
        </p:sp>
      </p:grpSp>
      <p:grpSp>
        <p:nvGrpSpPr>
          <p:cNvPr name="Group 53" id="53"/>
          <p:cNvGrpSpPr/>
          <p:nvPr/>
        </p:nvGrpSpPr>
        <p:grpSpPr>
          <a:xfrm rot="0">
            <a:off x="13704341" y="3881628"/>
            <a:ext cx="3429000" cy="891540"/>
            <a:chOff x="0" y="0"/>
            <a:chExt cx="4572000" cy="1188720"/>
          </a:xfrm>
        </p:grpSpPr>
        <p:sp>
          <p:nvSpPr>
            <p:cNvPr name="Freeform 54" id="54"/>
            <p:cNvSpPr/>
            <p:nvPr/>
          </p:nvSpPr>
          <p:spPr>
            <a:xfrm flipH="false" flipV="false" rot="0">
              <a:off x="0" y="0"/>
              <a:ext cx="4572000" cy="1188720"/>
            </a:xfrm>
            <a:custGeom>
              <a:avLst/>
              <a:gdLst/>
              <a:ahLst/>
              <a:cxnLst/>
              <a:rect r="r" b="b" t="t" l="l"/>
              <a:pathLst>
                <a:path h="1188720" w="4572000">
                  <a:moveTo>
                    <a:pt x="0" y="0"/>
                  </a:moveTo>
                  <a:lnTo>
                    <a:pt x="4572000" y="0"/>
                  </a:lnTo>
                  <a:lnTo>
                    <a:pt x="4572000" y="1188720"/>
                  </a:lnTo>
                  <a:lnTo>
                    <a:pt x="0" y="1188720"/>
                  </a:lnTo>
                  <a:close/>
                </a:path>
              </a:pathLst>
            </a:custGeom>
            <a:blipFill>
              <a:blip r:embed="rId3">
                <a:alphaModFix amt="0"/>
              </a:blip>
              <a:stretch>
                <a:fillRect l="0" t="-24942" r="0" b="-24942"/>
              </a:stretch>
            </a:blipFill>
          </p:spPr>
        </p:sp>
        <p:sp>
          <p:nvSpPr>
            <p:cNvPr name="TextBox 55" id="55"/>
            <p:cNvSpPr txBox="true"/>
            <p:nvPr/>
          </p:nvSpPr>
          <p:spPr>
            <a:xfrm>
              <a:off x="0" y="-38100"/>
              <a:ext cx="4572000" cy="1226820"/>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Enforce API-key authentication at the endpoint level</a:t>
              </a:r>
            </a:p>
          </p:txBody>
        </p:sp>
      </p:grpSp>
      <p:grpSp>
        <p:nvGrpSpPr>
          <p:cNvPr name="Group 56" id="56"/>
          <p:cNvGrpSpPr/>
          <p:nvPr/>
        </p:nvGrpSpPr>
        <p:grpSpPr>
          <a:xfrm rot="0">
            <a:off x="872738" y="5204936"/>
            <a:ext cx="3991928" cy="2826067"/>
            <a:chOff x="0" y="0"/>
            <a:chExt cx="5322570" cy="3768090"/>
          </a:xfrm>
        </p:grpSpPr>
        <p:sp>
          <p:nvSpPr>
            <p:cNvPr name="Freeform 57" id="57"/>
            <p:cNvSpPr/>
            <p:nvPr/>
          </p:nvSpPr>
          <p:spPr>
            <a:xfrm flipH="false" flipV="false" rot="0">
              <a:off x="0" y="0"/>
              <a:ext cx="5322570" cy="3768090"/>
            </a:xfrm>
            <a:custGeom>
              <a:avLst/>
              <a:gdLst/>
              <a:ahLst/>
              <a:cxnLst/>
              <a:rect r="r" b="b" t="t" l="l"/>
              <a:pathLst>
                <a:path h="3768090" w="5322570">
                  <a:moveTo>
                    <a:pt x="0" y="147066"/>
                  </a:moveTo>
                  <a:cubicBezTo>
                    <a:pt x="0" y="65786"/>
                    <a:pt x="65786" y="0"/>
                    <a:pt x="147066" y="0"/>
                  </a:cubicBezTo>
                  <a:lnTo>
                    <a:pt x="5175504" y="0"/>
                  </a:lnTo>
                  <a:cubicBezTo>
                    <a:pt x="5256657" y="0"/>
                    <a:pt x="5322570" y="65786"/>
                    <a:pt x="5322570" y="147066"/>
                  </a:cubicBezTo>
                  <a:lnTo>
                    <a:pt x="5322570" y="3621024"/>
                  </a:lnTo>
                  <a:cubicBezTo>
                    <a:pt x="5322570" y="3702177"/>
                    <a:pt x="5256784" y="3768090"/>
                    <a:pt x="5175504" y="3768090"/>
                  </a:cubicBezTo>
                  <a:lnTo>
                    <a:pt x="147066" y="3768090"/>
                  </a:lnTo>
                  <a:cubicBezTo>
                    <a:pt x="65786" y="3768090"/>
                    <a:pt x="0" y="3702304"/>
                    <a:pt x="0" y="3621024"/>
                  </a:cubicBezTo>
                  <a:close/>
                </a:path>
              </a:pathLst>
            </a:custGeom>
            <a:solidFill>
              <a:srgbClr val="FFFFFF"/>
            </a:solidFill>
            <a:ln w="14288" cap="sq">
              <a:solidFill>
                <a:srgbClr val="E2E8F0"/>
              </a:solidFill>
              <a:prstDash val="solid"/>
              <a:miter/>
            </a:ln>
          </p:spPr>
        </p:sp>
      </p:grpSp>
      <p:grpSp>
        <p:nvGrpSpPr>
          <p:cNvPr name="Group 58" id="58"/>
          <p:cNvGrpSpPr/>
          <p:nvPr/>
        </p:nvGrpSpPr>
        <p:grpSpPr>
          <a:xfrm rot="0">
            <a:off x="1154201" y="5486400"/>
            <a:ext cx="754380" cy="754380"/>
            <a:chOff x="0" y="0"/>
            <a:chExt cx="1005840" cy="1005840"/>
          </a:xfrm>
        </p:grpSpPr>
        <p:sp>
          <p:nvSpPr>
            <p:cNvPr name="Freeform 59" id="5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60" id="60"/>
          <p:cNvGrpSpPr/>
          <p:nvPr/>
        </p:nvGrpSpPr>
        <p:grpSpPr>
          <a:xfrm rot="0">
            <a:off x="1244727" y="5576926"/>
            <a:ext cx="573329" cy="573329"/>
            <a:chOff x="0" y="0"/>
            <a:chExt cx="764438" cy="764438"/>
          </a:xfrm>
        </p:grpSpPr>
        <p:sp>
          <p:nvSpPr>
            <p:cNvPr name="Freeform 61" id="61" descr="/home/claude/pptx/icons/results.png"/>
            <p:cNvSpPr/>
            <p:nvPr/>
          </p:nvSpPr>
          <p:spPr>
            <a:xfrm flipH="false" flipV="false" rot="0">
              <a:off x="0" y="0"/>
              <a:ext cx="764413" cy="764413"/>
            </a:xfrm>
            <a:custGeom>
              <a:avLst/>
              <a:gdLst/>
              <a:ahLst/>
              <a:cxnLst/>
              <a:rect r="r" b="b" t="t" l="l"/>
              <a:pathLst>
                <a:path h="764413" w="764413">
                  <a:moveTo>
                    <a:pt x="0" y="0"/>
                  </a:moveTo>
                  <a:lnTo>
                    <a:pt x="764413" y="0"/>
                  </a:lnTo>
                  <a:lnTo>
                    <a:pt x="764413" y="764413"/>
                  </a:lnTo>
                  <a:lnTo>
                    <a:pt x="0" y="764413"/>
                  </a:lnTo>
                  <a:lnTo>
                    <a:pt x="0" y="0"/>
                  </a:lnTo>
                  <a:close/>
                </a:path>
              </a:pathLst>
            </a:custGeom>
            <a:blipFill>
              <a:blip r:embed="rId6"/>
              <a:stretch>
                <a:fillRect l="0" t="0" r="-3" b="-3"/>
              </a:stretch>
            </a:blipFill>
          </p:spPr>
        </p:sp>
      </p:grpSp>
      <p:grpSp>
        <p:nvGrpSpPr>
          <p:cNvPr name="Group 62" id="62"/>
          <p:cNvGrpSpPr/>
          <p:nvPr/>
        </p:nvGrpSpPr>
        <p:grpSpPr>
          <a:xfrm rot="0">
            <a:off x="1154201" y="6419088"/>
            <a:ext cx="3429000" cy="548640"/>
            <a:chOff x="0" y="0"/>
            <a:chExt cx="4572000" cy="731520"/>
          </a:xfrm>
        </p:grpSpPr>
        <p:sp>
          <p:nvSpPr>
            <p:cNvPr name="Freeform 63" id="63"/>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64" id="64"/>
            <p:cNvSpPr txBox="true"/>
            <p:nvPr/>
          </p:nvSpPr>
          <p:spPr>
            <a:xfrm>
              <a:off x="0" y="-38100"/>
              <a:ext cx="4572000" cy="769620"/>
            </a:xfrm>
            <a:prstGeom prst="rect">
              <a:avLst/>
            </a:prstGeom>
          </p:spPr>
          <p:txBody>
            <a:bodyPr anchor="ctr" rtlCol="false" tIns="0" lIns="0" bIns="0" rIns="0"/>
            <a:lstStyle/>
            <a:p>
              <a:pPr algn="l">
                <a:lnSpc>
                  <a:spcPts val="2250"/>
                </a:lnSpc>
              </a:pPr>
              <a:r>
                <a:rPr lang="en-US" sz="1875" b="true">
                  <a:solidFill>
                    <a:srgbClr val="17213B"/>
                  </a:solidFill>
                  <a:latin typeface="Calibri (MS) Bold"/>
                  <a:ea typeface="Calibri (MS) Bold"/>
                  <a:cs typeface="Calibri (MS) Bold"/>
                  <a:sym typeface="Calibri (MS) Bold"/>
                </a:rPr>
                <a:t>Monitoring Dashboard</a:t>
              </a:r>
            </a:p>
          </p:txBody>
        </p:sp>
      </p:grpSp>
      <p:grpSp>
        <p:nvGrpSpPr>
          <p:cNvPr name="Group 65" id="65"/>
          <p:cNvGrpSpPr/>
          <p:nvPr/>
        </p:nvGrpSpPr>
        <p:grpSpPr>
          <a:xfrm rot="0">
            <a:off x="1154201" y="6967728"/>
            <a:ext cx="3429000" cy="891540"/>
            <a:chOff x="0" y="0"/>
            <a:chExt cx="4572000" cy="1188720"/>
          </a:xfrm>
        </p:grpSpPr>
        <p:sp>
          <p:nvSpPr>
            <p:cNvPr name="Freeform 66" id="66"/>
            <p:cNvSpPr/>
            <p:nvPr/>
          </p:nvSpPr>
          <p:spPr>
            <a:xfrm flipH="false" flipV="false" rot="0">
              <a:off x="0" y="0"/>
              <a:ext cx="4572000" cy="1188720"/>
            </a:xfrm>
            <a:custGeom>
              <a:avLst/>
              <a:gdLst/>
              <a:ahLst/>
              <a:cxnLst/>
              <a:rect r="r" b="b" t="t" l="l"/>
              <a:pathLst>
                <a:path h="1188720" w="4572000">
                  <a:moveTo>
                    <a:pt x="0" y="0"/>
                  </a:moveTo>
                  <a:lnTo>
                    <a:pt x="4572000" y="0"/>
                  </a:lnTo>
                  <a:lnTo>
                    <a:pt x="4572000" y="1188720"/>
                  </a:lnTo>
                  <a:lnTo>
                    <a:pt x="0" y="1188720"/>
                  </a:lnTo>
                  <a:close/>
                </a:path>
              </a:pathLst>
            </a:custGeom>
            <a:blipFill>
              <a:blip r:embed="rId3">
                <a:alphaModFix amt="0"/>
              </a:blip>
              <a:stretch>
                <a:fillRect l="0" t="-24942" r="0" b="-24942"/>
              </a:stretch>
            </a:blipFill>
          </p:spPr>
        </p:sp>
        <p:sp>
          <p:nvSpPr>
            <p:cNvPr name="TextBox 67" id="67"/>
            <p:cNvSpPr txBox="true"/>
            <p:nvPr/>
          </p:nvSpPr>
          <p:spPr>
            <a:xfrm>
              <a:off x="0" y="-38100"/>
              <a:ext cx="4572000" cy="1226820"/>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Centralised logging and alerting</a:t>
              </a:r>
            </a:p>
          </p:txBody>
        </p:sp>
      </p:grpSp>
      <p:grpSp>
        <p:nvGrpSpPr>
          <p:cNvPr name="Group 68" id="68"/>
          <p:cNvGrpSpPr/>
          <p:nvPr/>
        </p:nvGrpSpPr>
        <p:grpSpPr>
          <a:xfrm rot="0">
            <a:off x="5056118" y="5204936"/>
            <a:ext cx="3991928" cy="2826067"/>
            <a:chOff x="0" y="0"/>
            <a:chExt cx="5322570" cy="3768090"/>
          </a:xfrm>
        </p:grpSpPr>
        <p:sp>
          <p:nvSpPr>
            <p:cNvPr name="Freeform 69" id="69"/>
            <p:cNvSpPr/>
            <p:nvPr/>
          </p:nvSpPr>
          <p:spPr>
            <a:xfrm flipH="false" flipV="false" rot="0">
              <a:off x="0" y="0"/>
              <a:ext cx="5322570" cy="3768090"/>
            </a:xfrm>
            <a:custGeom>
              <a:avLst/>
              <a:gdLst/>
              <a:ahLst/>
              <a:cxnLst/>
              <a:rect r="r" b="b" t="t" l="l"/>
              <a:pathLst>
                <a:path h="3768090" w="5322570">
                  <a:moveTo>
                    <a:pt x="0" y="147066"/>
                  </a:moveTo>
                  <a:cubicBezTo>
                    <a:pt x="0" y="65786"/>
                    <a:pt x="65786" y="0"/>
                    <a:pt x="147066" y="0"/>
                  </a:cubicBezTo>
                  <a:lnTo>
                    <a:pt x="5175504" y="0"/>
                  </a:lnTo>
                  <a:cubicBezTo>
                    <a:pt x="5256657" y="0"/>
                    <a:pt x="5322570" y="65786"/>
                    <a:pt x="5322570" y="147066"/>
                  </a:cubicBezTo>
                  <a:lnTo>
                    <a:pt x="5322570" y="3621024"/>
                  </a:lnTo>
                  <a:cubicBezTo>
                    <a:pt x="5322570" y="3702177"/>
                    <a:pt x="5256784" y="3768090"/>
                    <a:pt x="5175504" y="3768090"/>
                  </a:cubicBezTo>
                  <a:lnTo>
                    <a:pt x="147066" y="3768090"/>
                  </a:lnTo>
                  <a:cubicBezTo>
                    <a:pt x="65786" y="3768090"/>
                    <a:pt x="0" y="3702304"/>
                    <a:pt x="0" y="3621024"/>
                  </a:cubicBezTo>
                  <a:close/>
                </a:path>
              </a:pathLst>
            </a:custGeom>
            <a:solidFill>
              <a:srgbClr val="FFFFFF"/>
            </a:solidFill>
            <a:ln w="14288" cap="sq">
              <a:solidFill>
                <a:srgbClr val="E2E8F0"/>
              </a:solidFill>
              <a:prstDash val="solid"/>
              <a:miter/>
            </a:ln>
          </p:spPr>
        </p:sp>
      </p:grpSp>
      <p:grpSp>
        <p:nvGrpSpPr>
          <p:cNvPr name="Group 70" id="70"/>
          <p:cNvGrpSpPr/>
          <p:nvPr/>
        </p:nvGrpSpPr>
        <p:grpSpPr>
          <a:xfrm rot="0">
            <a:off x="5337581" y="5486400"/>
            <a:ext cx="754380" cy="754380"/>
            <a:chOff x="0" y="0"/>
            <a:chExt cx="1005840" cy="1005840"/>
          </a:xfrm>
        </p:grpSpPr>
        <p:sp>
          <p:nvSpPr>
            <p:cNvPr name="Freeform 71" id="7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72" id="72"/>
          <p:cNvGrpSpPr/>
          <p:nvPr/>
        </p:nvGrpSpPr>
        <p:grpSpPr>
          <a:xfrm rot="0">
            <a:off x="5428107" y="5576926"/>
            <a:ext cx="573329" cy="573329"/>
            <a:chOff x="0" y="0"/>
            <a:chExt cx="764438" cy="764438"/>
          </a:xfrm>
        </p:grpSpPr>
        <p:sp>
          <p:nvSpPr>
            <p:cNvPr name="Freeform 73" id="73" descr="/home/claude/pptx/icons/user.png"/>
            <p:cNvSpPr/>
            <p:nvPr/>
          </p:nvSpPr>
          <p:spPr>
            <a:xfrm flipH="false" flipV="false" rot="0">
              <a:off x="0" y="0"/>
              <a:ext cx="764413" cy="764413"/>
            </a:xfrm>
            <a:custGeom>
              <a:avLst/>
              <a:gdLst/>
              <a:ahLst/>
              <a:cxnLst/>
              <a:rect r="r" b="b" t="t" l="l"/>
              <a:pathLst>
                <a:path h="764413" w="764413">
                  <a:moveTo>
                    <a:pt x="0" y="0"/>
                  </a:moveTo>
                  <a:lnTo>
                    <a:pt x="764413" y="0"/>
                  </a:lnTo>
                  <a:lnTo>
                    <a:pt x="764413" y="764413"/>
                  </a:lnTo>
                  <a:lnTo>
                    <a:pt x="0" y="764413"/>
                  </a:lnTo>
                  <a:lnTo>
                    <a:pt x="0" y="0"/>
                  </a:lnTo>
                  <a:close/>
                </a:path>
              </a:pathLst>
            </a:custGeom>
            <a:blipFill>
              <a:blip r:embed="rId7"/>
              <a:stretch>
                <a:fillRect l="0" t="0" r="-3" b="-3"/>
              </a:stretch>
            </a:blipFill>
          </p:spPr>
        </p:sp>
      </p:grpSp>
      <p:grpSp>
        <p:nvGrpSpPr>
          <p:cNvPr name="Group 74" id="74"/>
          <p:cNvGrpSpPr/>
          <p:nvPr/>
        </p:nvGrpSpPr>
        <p:grpSpPr>
          <a:xfrm rot="0">
            <a:off x="5337581" y="6419088"/>
            <a:ext cx="3429000" cy="548640"/>
            <a:chOff x="0" y="0"/>
            <a:chExt cx="4572000" cy="731520"/>
          </a:xfrm>
        </p:grpSpPr>
        <p:sp>
          <p:nvSpPr>
            <p:cNvPr name="Freeform 75" id="75"/>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76" id="76"/>
            <p:cNvSpPr txBox="true"/>
            <p:nvPr/>
          </p:nvSpPr>
          <p:spPr>
            <a:xfrm>
              <a:off x="0" y="-38100"/>
              <a:ext cx="4572000" cy="769620"/>
            </a:xfrm>
            <a:prstGeom prst="rect">
              <a:avLst/>
            </a:prstGeom>
          </p:spPr>
          <p:txBody>
            <a:bodyPr anchor="ctr" rtlCol="false" tIns="0" lIns="0" bIns="0" rIns="0"/>
            <a:lstStyle/>
            <a:p>
              <a:pPr algn="l">
                <a:lnSpc>
                  <a:spcPts val="2250"/>
                </a:lnSpc>
              </a:pPr>
              <a:r>
                <a:rPr lang="en-US" sz="1875" b="true">
                  <a:solidFill>
                    <a:srgbClr val="17213B"/>
                  </a:solidFill>
                  <a:latin typeface="Calibri (MS) Bold"/>
                  <a:ea typeface="Calibri (MS) Bold"/>
                  <a:cs typeface="Calibri (MS) Bold"/>
                  <a:sym typeface="Calibri (MS) Bold"/>
                </a:rPr>
                <a:t>Human Evaluation Survey </a:t>
              </a:r>
            </a:p>
          </p:txBody>
        </p:sp>
      </p:grpSp>
      <p:grpSp>
        <p:nvGrpSpPr>
          <p:cNvPr name="Group 77" id="77"/>
          <p:cNvGrpSpPr/>
          <p:nvPr/>
        </p:nvGrpSpPr>
        <p:grpSpPr>
          <a:xfrm rot="0">
            <a:off x="5337581" y="6967728"/>
            <a:ext cx="3429000" cy="891540"/>
            <a:chOff x="0" y="0"/>
            <a:chExt cx="4572000" cy="1188720"/>
          </a:xfrm>
        </p:grpSpPr>
        <p:sp>
          <p:nvSpPr>
            <p:cNvPr name="Freeform 78" id="78"/>
            <p:cNvSpPr/>
            <p:nvPr/>
          </p:nvSpPr>
          <p:spPr>
            <a:xfrm flipH="false" flipV="false" rot="0">
              <a:off x="0" y="0"/>
              <a:ext cx="4572000" cy="1188720"/>
            </a:xfrm>
            <a:custGeom>
              <a:avLst/>
              <a:gdLst/>
              <a:ahLst/>
              <a:cxnLst/>
              <a:rect r="r" b="b" t="t" l="l"/>
              <a:pathLst>
                <a:path h="1188720" w="4572000">
                  <a:moveTo>
                    <a:pt x="0" y="0"/>
                  </a:moveTo>
                  <a:lnTo>
                    <a:pt x="4572000" y="0"/>
                  </a:lnTo>
                  <a:lnTo>
                    <a:pt x="4572000" y="1188720"/>
                  </a:lnTo>
                  <a:lnTo>
                    <a:pt x="0" y="1188720"/>
                  </a:lnTo>
                  <a:close/>
                </a:path>
              </a:pathLst>
            </a:custGeom>
            <a:blipFill>
              <a:blip r:embed="rId3">
                <a:alphaModFix amt="0"/>
              </a:blip>
              <a:stretch>
                <a:fillRect l="0" t="-24942" r="0" b="-24942"/>
              </a:stretch>
            </a:blipFill>
          </p:spPr>
        </p:sp>
        <p:sp>
          <p:nvSpPr>
            <p:cNvPr name="TextBox 79" id="79"/>
            <p:cNvSpPr txBox="true"/>
            <p:nvPr/>
          </p:nvSpPr>
          <p:spPr>
            <a:xfrm>
              <a:off x="0" y="-38100"/>
              <a:ext cx="4572000" cy="1226820"/>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Formal fluency / relevance / usability scoring</a:t>
              </a:r>
            </a:p>
          </p:txBody>
        </p:sp>
      </p:grpSp>
      <p:grpSp>
        <p:nvGrpSpPr>
          <p:cNvPr name="Group 80" id="80"/>
          <p:cNvGrpSpPr/>
          <p:nvPr/>
        </p:nvGrpSpPr>
        <p:grpSpPr>
          <a:xfrm rot="0">
            <a:off x="9239498" y="5204936"/>
            <a:ext cx="3991928" cy="2826067"/>
            <a:chOff x="0" y="0"/>
            <a:chExt cx="5322570" cy="3768090"/>
          </a:xfrm>
        </p:grpSpPr>
        <p:sp>
          <p:nvSpPr>
            <p:cNvPr name="Freeform 81" id="81"/>
            <p:cNvSpPr/>
            <p:nvPr/>
          </p:nvSpPr>
          <p:spPr>
            <a:xfrm flipH="false" flipV="false" rot="0">
              <a:off x="0" y="0"/>
              <a:ext cx="5322570" cy="3768090"/>
            </a:xfrm>
            <a:custGeom>
              <a:avLst/>
              <a:gdLst/>
              <a:ahLst/>
              <a:cxnLst/>
              <a:rect r="r" b="b" t="t" l="l"/>
              <a:pathLst>
                <a:path h="3768090" w="5322570">
                  <a:moveTo>
                    <a:pt x="0" y="147066"/>
                  </a:moveTo>
                  <a:cubicBezTo>
                    <a:pt x="0" y="65786"/>
                    <a:pt x="65786" y="0"/>
                    <a:pt x="147066" y="0"/>
                  </a:cubicBezTo>
                  <a:lnTo>
                    <a:pt x="5175504" y="0"/>
                  </a:lnTo>
                  <a:cubicBezTo>
                    <a:pt x="5256657" y="0"/>
                    <a:pt x="5322570" y="65786"/>
                    <a:pt x="5322570" y="147066"/>
                  </a:cubicBezTo>
                  <a:lnTo>
                    <a:pt x="5322570" y="3621024"/>
                  </a:lnTo>
                  <a:cubicBezTo>
                    <a:pt x="5322570" y="3702177"/>
                    <a:pt x="5256784" y="3768090"/>
                    <a:pt x="5175504" y="3768090"/>
                  </a:cubicBezTo>
                  <a:lnTo>
                    <a:pt x="147066" y="3768090"/>
                  </a:lnTo>
                  <a:cubicBezTo>
                    <a:pt x="65786" y="3768090"/>
                    <a:pt x="0" y="3702304"/>
                    <a:pt x="0" y="3621024"/>
                  </a:cubicBezTo>
                  <a:close/>
                </a:path>
              </a:pathLst>
            </a:custGeom>
            <a:solidFill>
              <a:srgbClr val="FFFFFF"/>
            </a:solidFill>
            <a:ln w="14288" cap="sq">
              <a:solidFill>
                <a:srgbClr val="E2E8F0"/>
              </a:solidFill>
              <a:prstDash val="solid"/>
              <a:miter/>
            </a:ln>
          </p:spPr>
        </p:sp>
      </p:grpSp>
      <p:grpSp>
        <p:nvGrpSpPr>
          <p:cNvPr name="Group 82" id="82"/>
          <p:cNvGrpSpPr/>
          <p:nvPr/>
        </p:nvGrpSpPr>
        <p:grpSpPr>
          <a:xfrm rot="0">
            <a:off x="9520961" y="5486400"/>
            <a:ext cx="754380" cy="754380"/>
            <a:chOff x="0" y="0"/>
            <a:chExt cx="1005840" cy="1005840"/>
          </a:xfrm>
        </p:grpSpPr>
        <p:sp>
          <p:nvSpPr>
            <p:cNvPr name="Freeform 83" id="8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84" id="84"/>
          <p:cNvGrpSpPr/>
          <p:nvPr/>
        </p:nvGrpSpPr>
        <p:grpSpPr>
          <a:xfrm rot="0">
            <a:off x="9611487" y="5576926"/>
            <a:ext cx="573329" cy="573329"/>
            <a:chOff x="0" y="0"/>
            <a:chExt cx="764438" cy="764438"/>
          </a:xfrm>
        </p:grpSpPr>
        <p:sp>
          <p:nvSpPr>
            <p:cNvPr name="Freeform 85" id="85" descr="/home/claude/pptx/icons/blog.png"/>
            <p:cNvSpPr/>
            <p:nvPr/>
          </p:nvSpPr>
          <p:spPr>
            <a:xfrm flipH="false" flipV="false" rot="0">
              <a:off x="0" y="0"/>
              <a:ext cx="764413" cy="764413"/>
            </a:xfrm>
            <a:custGeom>
              <a:avLst/>
              <a:gdLst/>
              <a:ahLst/>
              <a:cxnLst/>
              <a:rect r="r" b="b" t="t" l="l"/>
              <a:pathLst>
                <a:path h="764413" w="764413">
                  <a:moveTo>
                    <a:pt x="0" y="0"/>
                  </a:moveTo>
                  <a:lnTo>
                    <a:pt x="764413" y="0"/>
                  </a:lnTo>
                  <a:lnTo>
                    <a:pt x="764413" y="764413"/>
                  </a:lnTo>
                  <a:lnTo>
                    <a:pt x="0" y="764413"/>
                  </a:lnTo>
                  <a:lnTo>
                    <a:pt x="0" y="0"/>
                  </a:lnTo>
                  <a:close/>
                </a:path>
              </a:pathLst>
            </a:custGeom>
            <a:blipFill>
              <a:blip r:embed="rId8"/>
              <a:stretch>
                <a:fillRect l="0" t="0" r="-3" b="-3"/>
              </a:stretch>
            </a:blipFill>
          </p:spPr>
        </p:sp>
      </p:grpSp>
      <p:grpSp>
        <p:nvGrpSpPr>
          <p:cNvPr name="Group 86" id="86"/>
          <p:cNvGrpSpPr/>
          <p:nvPr/>
        </p:nvGrpSpPr>
        <p:grpSpPr>
          <a:xfrm rot="0">
            <a:off x="9520961" y="6419088"/>
            <a:ext cx="3429000" cy="548640"/>
            <a:chOff x="0" y="0"/>
            <a:chExt cx="4572000" cy="731520"/>
          </a:xfrm>
        </p:grpSpPr>
        <p:sp>
          <p:nvSpPr>
            <p:cNvPr name="Freeform 87" id="87"/>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88" id="88"/>
            <p:cNvSpPr txBox="true"/>
            <p:nvPr/>
          </p:nvSpPr>
          <p:spPr>
            <a:xfrm>
              <a:off x="0" y="-38100"/>
              <a:ext cx="4572000" cy="769620"/>
            </a:xfrm>
            <a:prstGeom prst="rect">
              <a:avLst/>
            </a:prstGeom>
          </p:spPr>
          <p:txBody>
            <a:bodyPr anchor="ctr" rtlCol="false" tIns="0" lIns="0" bIns="0" rIns="0"/>
            <a:lstStyle/>
            <a:p>
              <a:pPr algn="l">
                <a:lnSpc>
                  <a:spcPts val="2250"/>
                </a:lnSpc>
              </a:pPr>
              <a:r>
                <a:rPr lang="en-US" sz="1875" b="true">
                  <a:solidFill>
                    <a:srgbClr val="17213B"/>
                  </a:solidFill>
                  <a:latin typeface="Calibri (MS) Bold"/>
                  <a:ea typeface="Calibri (MS) Bold"/>
                  <a:cs typeface="Calibri (MS) Bold"/>
                  <a:sym typeface="Calibri (MS) Bold"/>
                </a:rPr>
                <a:t>Multi-Language Generation</a:t>
              </a:r>
            </a:p>
          </p:txBody>
        </p:sp>
      </p:grpSp>
      <p:grpSp>
        <p:nvGrpSpPr>
          <p:cNvPr name="Group 89" id="89"/>
          <p:cNvGrpSpPr/>
          <p:nvPr/>
        </p:nvGrpSpPr>
        <p:grpSpPr>
          <a:xfrm rot="0">
            <a:off x="9520961" y="6967728"/>
            <a:ext cx="3429000" cy="891540"/>
            <a:chOff x="0" y="0"/>
            <a:chExt cx="4572000" cy="1188720"/>
          </a:xfrm>
        </p:grpSpPr>
        <p:sp>
          <p:nvSpPr>
            <p:cNvPr name="Freeform 90" id="90"/>
            <p:cNvSpPr/>
            <p:nvPr/>
          </p:nvSpPr>
          <p:spPr>
            <a:xfrm flipH="false" flipV="false" rot="0">
              <a:off x="0" y="0"/>
              <a:ext cx="4572000" cy="1188720"/>
            </a:xfrm>
            <a:custGeom>
              <a:avLst/>
              <a:gdLst/>
              <a:ahLst/>
              <a:cxnLst/>
              <a:rect r="r" b="b" t="t" l="l"/>
              <a:pathLst>
                <a:path h="1188720" w="4572000">
                  <a:moveTo>
                    <a:pt x="0" y="0"/>
                  </a:moveTo>
                  <a:lnTo>
                    <a:pt x="4572000" y="0"/>
                  </a:lnTo>
                  <a:lnTo>
                    <a:pt x="4572000" y="1188720"/>
                  </a:lnTo>
                  <a:lnTo>
                    <a:pt x="0" y="1188720"/>
                  </a:lnTo>
                  <a:close/>
                </a:path>
              </a:pathLst>
            </a:custGeom>
            <a:blipFill>
              <a:blip r:embed="rId3">
                <a:alphaModFix amt="0"/>
              </a:blip>
              <a:stretch>
                <a:fillRect l="0" t="-24942" r="0" b="-24942"/>
              </a:stretch>
            </a:blipFill>
          </p:spPr>
        </p:sp>
        <p:sp>
          <p:nvSpPr>
            <p:cNvPr name="TextBox 91" id="91"/>
            <p:cNvSpPr txBox="true"/>
            <p:nvPr/>
          </p:nvSpPr>
          <p:spPr>
            <a:xfrm>
              <a:off x="0" y="-38100"/>
              <a:ext cx="4572000" cy="1226820"/>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Extend prompts beyond English</a:t>
              </a:r>
            </a:p>
          </p:txBody>
        </p:sp>
      </p:grpSp>
      <p:grpSp>
        <p:nvGrpSpPr>
          <p:cNvPr name="Group 92" id="92"/>
          <p:cNvGrpSpPr/>
          <p:nvPr/>
        </p:nvGrpSpPr>
        <p:grpSpPr>
          <a:xfrm rot="0">
            <a:off x="13422878" y="5204936"/>
            <a:ext cx="3991928" cy="2826067"/>
            <a:chOff x="0" y="0"/>
            <a:chExt cx="5322570" cy="3768090"/>
          </a:xfrm>
        </p:grpSpPr>
        <p:sp>
          <p:nvSpPr>
            <p:cNvPr name="Freeform 93" id="93"/>
            <p:cNvSpPr/>
            <p:nvPr/>
          </p:nvSpPr>
          <p:spPr>
            <a:xfrm flipH="false" flipV="false" rot="0">
              <a:off x="0" y="0"/>
              <a:ext cx="5322570" cy="3768090"/>
            </a:xfrm>
            <a:custGeom>
              <a:avLst/>
              <a:gdLst/>
              <a:ahLst/>
              <a:cxnLst/>
              <a:rect r="r" b="b" t="t" l="l"/>
              <a:pathLst>
                <a:path h="3768090" w="5322570">
                  <a:moveTo>
                    <a:pt x="0" y="147066"/>
                  </a:moveTo>
                  <a:cubicBezTo>
                    <a:pt x="0" y="65786"/>
                    <a:pt x="65786" y="0"/>
                    <a:pt x="147066" y="0"/>
                  </a:cubicBezTo>
                  <a:lnTo>
                    <a:pt x="5175504" y="0"/>
                  </a:lnTo>
                  <a:cubicBezTo>
                    <a:pt x="5256657" y="0"/>
                    <a:pt x="5322570" y="65786"/>
                    <a:pt x="5322570" y="147066"/>
                  </a:cubicBezTo>
                  <a:lnTo>
                    <a:pt x="5322570" y="3621024"/>
                  </a:lnTo>
                  <a:cubicBezTo>
                    <a:pt x="5322570" y="3702177"/>
                    <a:pt x="5256784" y="3768090"/>
                    <a:pt x="5175504" y="3768090"/>
                  </a:cubicBezTo>
                  <a:lnTo>
                    <a:pt x="147066" y="3768090"/>
                  </a:lnTo>
                  <a:cubicBezTo>
                    <a:pt x="65786" y="3768090"/>
                    <a:pt x="0" y="3702304"/>
                    <a:pt x="0" y="3621024"/>
                  </a:cubicBezTo>
                  <a:close/>
                </a:path>
              </a:pathLst>
            </a:custGeom>
            <a:solidFill>
              <a:srgbClr val="FFFFFF"/>
            </a:solidFill>
            <a:ln w="14288" cap="sq">
              <a:solidFill>
                <a:srgbClr val="E2E8F0"/>
              </a:solidFill>
              <a:prstDash val="solid"/>
              <a:miter/>
            </a:ln>
          </p:spPr>
        </p:sp>
      </p:grpSp>
      <p:grpSp>
        <p:nvGrpSpPr>
          <p:cNvPr name="Group 94" id="94"/>
          <p:cNvGrpSpPr/>
          <p:nvPr/>
        </p:nvGrpSpPr>
        <p:grpSpPr>
          <a:xfrm rot="0">
            <a:off x="13704341" y="5486400"/>
            <a:ext cx="754380" cy="754380"/>
            <a:chOff x="0" y="0"/>
            <a:chExt cx="1005840" cy="1005840"/>
          </a:xfrm>
        </p:grpSpPr>
        <p:sp>
          <p:nvSpPr>
            <p:cNvPr name="Freeform 95" id="9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6213E"/>
            </a:solidFill>
          </p:spPr>
        </p:sp>
      </p:grpSp>
      <p:grpSp>
        <p:nvGrpSpPr>
          <p:cNvPr name="Group 96" id="96"/>
          <p:cNvGrpSpPr/>
          <p:nvPr/>
        </p:nvGrpSpPr>
        <p:grpSpPr>
          <a:xfrm rot="0">
            <a:off x="13794867" y="5576926"/>
            <a:ext cx="573329" cy="573329"/>
            <a:chOff x="0" y="0"/>
            <a:chExt cx="764438" cy="764438"/>
          </a:xfrm>
        </p:grpSpPr>
        <p:sp>
          <p:nvSpPr>
            <p:cNvPr name="Freeform 97" id="97" descr="/home/claude/pptx/icons/writer.png"/>
            <p:cNvSpPr/>
            <p:nvPr/>
          </p:nvSpPr>
          <p:spPr>
            <a:xfrm flipH="false" flipV="false" rot="0">
              <a:off x="0" y="0"/>
              <a:ext cx="764413" cy="764413"/>
            </a:xfrm>
            <a:custGeom>
              <a:avLst/>
              <a:gdLst/>
              <a:ahLst/>
              <a:cxnLst/>
              <a:rect r="r" b="b" t="t" l="l"/>
              <a:pathLst>
                <a:path h="764413" w="764413">
                  <a:moveTo>
                    <a:pt x="0" y="0"/>
                  </a:moveTo>
                  <a:lnTo>
                    <a:pt x="764413" y="0"/>
                  </a:lnTo>
                  <a:lnTo>
                    <a:pt x="764413" y="764413"/>
                  </a:lnTo>
                  <a:lnTo>
                    <a:pt x="0" y="764413"/>
                  </a:lnTo>
                  <a:lnTo>
                    <a:pt x="0" y="0"/>
                  </a:lnTo>
                  <a:close/>
                </a:path>
              </a:pathLst>
            </a:custGeom>
            <a:blipFill>
              <a:blip r:embed="rId9"/>
              <a:stretch>
                <a:fillRect l="0" t="0" r="-3" b="-3"/>
              </a:stretch>
            </a:blipFill>
          </p:spPr>
        </p:sp>
      </p:grpSp>
      <p:grpSp>
        <p:nvGrpSpPr>
          <p:cNvPr name="Group 98" id="98"/>
          <p:cNvGrpSpPr/>
          <p:nvPr/>
        </p:nvGrpSpPr>
        <p:grpSpPr>
          <a:xfrm rot="0">
            <a:off x="13704341" y="6419088"/>
            <a:ext cx="3429000" cy="548640"/>
            <a:chOff x="0" y="0"/>
            <a:chExt cx="4572000" cy="731520"/>
          </a:xfrm>
        </p:grpSpPr>
        <p:sp>
          <p:nvSpPr>
            <p:cNvPr name="Freeform 99" id="99"/>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3">
                <a:alphaModFix amt="0"/>
              </a:blip>
              <a:stretch>
                <a:fillRect l="0" t="-71781" r="0" b="-71781"/>
              </a:stretch>
            </a:blipFill>
          </p:spPr>
        </p:sp>
        <p:sp>
          <p:nvSpPr>
            <p:cNvPr name="TextBox 100" id="100"/>
            <p:cNvSpPr txBox="true"/>
            <p:nvPr/>
          </p:nvSpPr>
          <p:spPr>
            <a:xfrm>
              <a:off x="0" y="-38100"/>
              <a:ext cx="4572000" cy="769620"/>
            </a:xfrm>
            <a:prstGeom prst="rect">
              <a:avLst/>
            </a:prstGeom>
          </p:spPr>
          <p:txBody>
            <a:bodyPr anchor="ctr" rtlCol="false" tIns="0" lIns="0" bIns="0" rIns="0"/>
            <a:lstStyle/>
            <a:p>
              <a:pPr algn="l">
                <a:lnSpc>
                  <a:spcPts val="2250"/>
                </a:lnSpc>
              </a:pPr>
              <a:r>
                <a:rPr lang="en-US" sz="1875" b="true">
                  <a:solidFill>
                    <a:srgbClr val="17213B"/>
                  </a:solidFill>
                  <a:latin typeface="Calibri (MS) Bold"/>
                  <a:ea typeface="Calibri (MS) Bold"/>
                  <a:cs typeface="Calibri (MS) Bold"/>
                  <a:sym typeface="Calibri (MS) Bold"/>
                </a:rPr>
                <a:t>Prompt Refinement</a:t>
              </a:r>
            </a:p>
          </p:txBody>
        </p:sp>
      </p:grpSp>
      <p:grpSp>
        <p:nvGrpSpPr>
          <p:cNvPr name="Group 101" id="101"/>
          <p:cNvGrpSpPr/>
          <p:nvPr/>
        </p:nvGrpSpPr>
        <p:grpSpPr>
          <a:xfrm rot="0">
            <a:off x="13704341" y="6967728"/>
            <a:ext cx="3429000" cy="891540"/>
            <a:chOff x="0" y="0"/>
            <a:chExt cx="4572000" cy="1188720"/>
          </a:xfrm>
        </p:grpSpPr>
        <p:sp>
          <p:nvSpPr>
            <p:cNvPr name="Freeform 102" id="102"/>
            <p:cNvSpPr/>
            <p:nvPr/>
          </p:nvSpPr>
          <p:spPr>
            <a:xfrm flipH="false" flipV="false" rot="0">
              <a:off x="0" y="0"/>
              <a:ext cx="4572000" cy="1188720"/>
            </a:xfrm>
            <a:custGeom>
              <a:avLst/>
              <a:gdLst/>
              <a:ahLst/>
              <a:cxnLst/>
              <a:rect r="r" b="b" t="t" l="l"/>
              <a:pathLst>
                <a:path h="1188720" w="4572000">
                  <a:moveTo>
                    <a:pt x="0" y="0"/>
                  </a:moveTo>
                  <a:lnTo>
                    <a:pt x="4572000" y="0"/>
                  </a:lnTo>
                  <a:lnTo>
                    <a:pt x="4572000" y="1188720"/>
                  </a:lnTo>
                  <a:lnTo>
                    <a:pt x="0" y="1188720"/>
                  </a:lnTo>
                  <a:close/>
                </a:path>
              </a:pathLst>
            </a:custGeom>
            <a:blipFill>
              <a:blip r:embed="rId3">
                <a:alphaModFix amt="0"/>
              </a:blip>
              <a:stretch>
                <a:fillRect l="0" t="-24942" r="0" b="-24942"/>
              </a:stretch>
            </a:blipFill>
          </p:spPr>
        </p:sp>
        <p:sp>
          <p:nvSpPr>
            <p:cNvPr name="TextBox 103" id="103"/>
            <p:cNvSpPr txBox="true"/>
            <p:nvPr/>
          </p:nvSpPr>
          <p:spPr>
            <a:xfrm>
              <a:off x="0" y="-38100"/>
              <a:ext cx="4572000" cy="1226820"/>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Improve weaker content types (e.g. short story)</a:t>
              </a:r>
            </a:p>
          </p:txBody>
        </p:sp>
      </p:grpSp>
      <p:grpSp>
        <p:nvGrpSpPr>
          <p:cNvPr name="Group 104" id="104"/>
          <p:cNvGrpSpPr/>
          <p:nvPr/>
        </p:nvGrpSpPr>
        <p:grpSpPr>
          <a:xfrm rot="0">
            <a:off x="685800" y="9793224"/>
            <a:ext cx="10972800" cy="411480"/>
            <a:chOff x="0" y="0"/>
            <a:chExt cx="14630400" cy="548640"/>
          </a:xfrm>
        </p:grpSpPr>
        <p:sp>
          <p:nvSpPr>
            <p:cNvPr name="Freeform 105" id="10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06" id="10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4748B"/>
                  </a:solidFill>
                  <a:latin typeface="Calibri (MS)"/>
                  <a:ea typeface="Calibri (MS)"/>
                  <a:cs typeface="Calibri (MS)"/>
                  <a:sym typeface="Calibri (MS)"/>
                </a:rPr>
                <a:t>Automated Content Generation System  ·  DEPI CAI4_AIS3_S4</a:t>
              </a:r>
            </a:p>
          </p:txBody>
        </p:sp>
      </p:grpSp>
      <p:grpSp>
        <p:nvGrpSpPr>
          <p:cNvPr name="Group 107" id="107"/>
          <p:cNvGrpSpPr/>
          <p:nvPr/>
        </p:nvGrpSpPr>
        <p:grpSpPr>
          <a:xfrm rot="0">
            <a:off x="17282160" y="9793224"/>
            <a:ext cx="548640" cy="411480"/>
            <a:chOff x="0" y="0"/>
            <a:chExt cx="731520" cy="548640"/>
          </a:xfrm>
        </p:grpSpPr>
        <p:sp>
          <p:nvSpPr>
            <p:cNvPr name="Freeform 108" id="108"/>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09" id="109"/>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64748B"/>
                  </a:solidFill>
                  <a:latin typeface="Calibri (MS)"/>
                  <a:ea typeface="Calibri (MS)"/>
                  <a:cs typeface="Calibri (MS)"/>
                  <a:sym typeface="Calibri (MS)"/>
                </a:rPr>
                <a:t>17</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grpSp>
        <p:nvGrpSpPr>
          <p:cNvPr name="Group 2" id="2"/>
          <p:cNvGrpSpPr/>
          <p:nvPr/>
        </p:nvGrpSpPr>
        <p:grpSpPr>
          <a:xfrm rot="0">
            <a:off x="-2468880" y="-2468880"/>
            <a:ext cx="7543800" cy="7543800"/>
            <a:chOff x="0" y="0"/>
            <a:chExt cx="10058400" cy="10058400"/>
          </a:xfrm>
        </p:grpSpPr>
        <p:sp>
          <p:nvSpPr>
            <p:cNvPr name="Freeform 3" id="3"/>
            <p:cNvSpPr/>
            <p:nvPr/>
          </p:nvSpPr>
          <p:spPr>
            <a:xfrm flipH="false" flipV="false" rot="0">
              <a:off x="0" y="0"/>
              <a:ext cx="10058400" cy="10058400"/>
            </a:xfrm>
            <a:custGeom>
              <a:avLst/>
              <a:gdLst/>
              <a:ahLst/>
              <a:cxnLst/>
              <a:rect r="r" b="b" t="t" l="l"/>
              <a:pathLst>
                <a:path h="10058400" w="10058400">
                  <a:moveTo>
                    <a:pt x="0" y="5029200"/>
                  </a:moveTo>
                  <a:cubicBezTo>
                    <a:pt x="0" y="2251710"/>
                    <a:pt x="2251710" y="0"/>
                    <a:pt x="5029200" y="0"/>
                  </a:cubicBezTo>
                  <a:cubicBezTo>
                    <a:pt x="7806690" y="0"/>
                    <a:pt x="10058400" y="2251710"/>
                    <a:pt x="10058400" y="5029200"/>
                  </a:cubicBezTo>
                  <a:cubicBezTo>
                    <a:pt x="10058400" y="7806690"/>
                    <a:pt x="7806690" y="10058400"/>
                    <a:pt x="5029200" y="10058400"/>
                  </a:cubicBezTo>
                  <a:cubicBezTo>
                    <a:pt x="2251710" y="10058400"/>
                    <a:pt x="0" y="7806690"/>
                    <a:pt x="0" y="5029200"/>
                  </a:cubicBezTo>
                  <a:close/>
                </a:path>
              </a:pathLst>
            </a:custGeom>
            <a:solidFill>
              <a:srgbClr val="16213E"/>
            </a:solidFill>
          </p:spPr>
        </p:sp>
      </p:grpSp>
      <p:grpSp>
        <p:nvGrpSpPr>
          <p:cNvPr name="Group 4" id="4"/>
          <p:cNvGrpSpPr/>
          <p:nvPr/>
        </p:nvGrpSpPr>
        <p:grpSpPr>
          <a:xfrm rot="0">
            <a:off x="14813280" y="5760720"/>
            <a:ext cx="6858000" cy="6858000"/>
            <a:chOff x="0" y="0"/>
            <a:chExt cx="9144000" cy="9144000"/>
          </a:xfrm>
        </p:grpSpPr>
        <p:sp>
          <p:nvSpPr>
            <p:cNvPr name="Freeform 5" id="5"/>
            <p:cNvSpPr/>
            <p:nvPr/>
          </p:nvSpPr>
          <p:spPr>
            <a:xfrm flipH="false" flipV="false" rot="0">
              <a:off x="0" y="0"/>
              <a:ext cx="9144000" cy="9144000"/>
            </a:xfrm>
            <a:custGeom>
              <a:avLst/>
              <a:gdLst/>
              <a:ahLst/>
              <a:cxnLst/>
              <a:rect r="r" b="b" t="t" l="l"/>
              <a:pathLst>
                <a:path h="9144000" w="9144000">
                  <a:moveTo>
                    <a:pt x="0" y="4572000"/>
                  </a:moveTo>
                  <a:cubicBezTo>
                    <a:pt x="0" y="2046986"/>
                    <a:pt x="2046986" y="0"/>
                    <a:pt x="4572000" y="0"/>
                  </a:cubicBezTo>
                  <a:cubicBezTo>
                    <a:pt x="7097014" y="0"/>
                    <a:pt x="9144000" y="2046986"/>
                    <a:pt x="9144000" y="4572000"/>
                  </a:cubicBezTo>
                  <a:cubicBezTo>
                    <a:pt x="9144000" y="7097014"/>
                    <a:pt x="7097014" y="9144000"/>
                    <a:pt x="4572000" y="9144000"/>
                  </a:cubicBezTo>
                  <a:cubicBezTo>
                    <a:pt x="2046986" y="9144000"/>
                    <a:pt x="0" y="7097014"/>
                    <a:pt x="0" y="4572000"/>
                  </a:cubicBezTo>
                  <a:close/>
                </a:path>
              </a:pathLst>
            </a:custGeom>
            <a:solidFill>
              <a:srgbClr val="1C2A4A"/>
            </a:solidFill>
          </p:spPr>
        </p:sp>
      </p:grpSp>
      <p:grpSp>
        <p:nvGrpSpPr>
          <p:cNvPr name="Group 6" id="6"/>
          <p:cNvGrpSpPr/>
          <p:nvPr/>
        </p:nvGrpSpPr>
        <p:grpSpPr>
          <a:xfrm rot="0">
            <a:off x="822960" y="438912"/>
            <a:ext cx="15773400" cy="438912"/>
            <a:chOff x="0" y="0"/>
            <a:chExt cx="21031200" cy="585216"/>
          </a:xfrm>
        </p:grpSpPr>
        <p:sp>
          <p:nvSpPr>
            <p:cNvPr name="Freeform 7" id="7"/>
            <p:cNvSpPr/>
            <p:nvPr/>
          </p:nvSpPr>
          <p:spPr>
            <a:xfrm flipH="false" flipV="false" rot="0">
              <a:off x="0" y="0"/>
              <a:ext cx="21031200" cy="585216"/>
            </a:xfrm>
            <a:custGeom>
              <a:avLst/>
              <a:gdLst/>
              <a:ahLst/>
              <a:cxnLst/>
              <a:rect r="r" b="b" t="t" l="l"/>
              <a:pathLst>
                <a:path h="585216" w="21031200">
                  <a:moveTo>
                    <a:pt x="0" y="0"/>
                  </a:moveTo>
                  <a:lnTo>
                    <a:pt x="21031200" y="0"/>
                  </a:lnTo>
                  <a:lnTo>
                    <a:pt x="21031200" y="585216"/>
                  </a:lnTo>
                  <a:lnTo>
                    <a:pt x="0" y="585216"/>
                  </a:lnTo>
                  <a:close/>
                </a:path>
              </a:pathLst>
            </a:custGeom>
            <a:blipFill>
              <a:blip r:embed="rId3">
                <a:alphaModFix amt="0"/>
              </a:blip>
              <a:stretch>
                <a:fillRect l="0" t="-650243" r="0" b="-650243"/>
              </a:stretch>
            </a:blipFill>
          </p:spPr>
        </p:sp>
        <p:sp>
          <p:nvSpPr>
            <p:cNvPr name="TextBox 8" id="8"/>
            <p:cNvSpPr txBox="true"/>
            <p:nvPr/>
          </p:nvSpPr>
          <p:spPr>
            <a:xfrm>
              <a:off x="0" y="-38100"/>
              <a:ext cx="21031200" cy="623316"/>
            </a:xfrm>
            <a:prstGeom prst="rect">
              <a:avLst/>
            </a:prstGeom>
          </p:spPr>
          <p:txBody>
            <a:bodyPr anchor="ctr" rtlCol="false" tIns="0" lIns="0" bIns="0" rIns="0"/>
            <a:lstStyle/>
            <a:p>
              <a:pPr algn="l">
                <a:lnSpc>
                  <a:spcPts val="2250"/>
                </a:lnSpc>
              </a:pPr>
              <a:r>
                <a:rPr lang="en-US" b="true" sz="1875" spc="300">
                  <a:solidFill>
                    <a:srgbClr val="2DD4BF"/>
                  </a:solidFill>
                  <a:latin typeface="Calibri (MS) Bold"/>
                  <a:ea typeface="Calibri (MS) Bold"/>
                  <a:cs typeface="Calibri (MS) Bold"/>
                  <a:sym typeface="Calibri (MS) Bold"/>
                </a:rPr>
                <a:t>SECTION 10 · CONCLUSION</a:t>
              </a:r>
            </a:p>
          </p:txBody>
        </p:sp>
      </p:grpSp>
      <p:grpSp>
        <p:nvGrpSpPr>
          <p:cNvPr name="Group 9" id="9"/>
          <p:cNvGrpSpPr/>
          <p:nvPr/>
        </p:nvGrpSpPr>
        <p:grpSpPr>
          <a:xfrm rot="0">
            <a:off x="822960" y="850392"/>
            <a:ext cx="16596360" cy="1028700"/>
            <a:chOff x="0" y="0"/>
            <a:chExt cx="22128480" cy="1371600"/>
          </a:xfrm>
        </p:grpSpPr>
        <p:sp>
          <p:nvSpPr>
            <p:cNvPr name="Freeform 10" id="10"/>
            <p:cNvSpPr/>
            <p:nvPr/>
          </p:nvSpPr>
          <p:spPr>
            <a:xfrm flipH="false" flipV="false" rot="0">
              <a:off x="0" y="0"/>
              <a:ext cx="22128480" cy="1371600"/>
            </a:xfrm>
            <a:custGeom>
              <a:avLst/>
              <a:gdLst/>
              <a:ahLst/>
              <a:cxnLst/>
              <a:rect r="r" b="b" t="t" l="l"/>
              <a:pathLst>
                <a:path h="1371600" w="22128480">
                  <a:moveTo>
                    <a:pt x="0" y="0"/>
                  </a:moveTo>
                  <a:lnTo>
                    <a:pt x="22128480" y="0"/>
                  </a:lnTo>
                  <a:lnTo>
                    <a:pt x="22128480" y="1371600"/>
                  </a:lnTo>
                  <a:lnTo>
                    <a:pt x="0" y="1371600"/>
                  </a:lnTo>
                  <a:close/>
                </a:path>
              </a:pathLst>
            </a:custGeom>
            <a:blipFill>
              <a:blip r:embed="rId3">
                <a:alphaModFix amt="0"/>
              </a:blip>
              <a:stretch>
                <a:fillRect l="0" t="-264358" r="0" b="-264358"/>
              </a:stretch>
            </a:blipFill>
          </p:spPr>
        </p:sp>
        <p:sp>
          <p:nvSpPr>
            <p:cNvPr name="TextBox 11" id="11"/>
            <p:cNvSpPr txBox="true"/>
            <p:nvPr/>
          </p:nvSpPr>
          <p:spPr>
            <a:xfrm>
              <a:off x="0" y="-19050"/>
              <a:ext cx="22128480" cy="1390650"/>
            </a:xfrm>
            <a:prstGeom prst="rect">
              <a:avLst/>
            </a:prstGeom>
          </p:spPr>
          <p:txBody>
            <a:bodyPr anchor="ctr" rtlCol="false" tIns="0" lIns="0" bIns="0" rIns="0"/>
            <a:lstStyle/>
            <a:p>
              <a:pPr algn="l">
                <a:lnSpc>
                  <a:spcPts val="5400"/>
                </a:lnSpc>
              </a:pPr>
              <a:r>
                <a:rPr lang="en-US" sz="4500" b="true">
                  <a:solidFill>
                    <a:srgbClr val="FFFFFF"/>
                  </a:solidFill>
                  <a:latin typeface="Cambria Bold"/>
                  <a:ea typeface="Cambria Bold"/>
                  <a:cs typeface="Cambria Bold"/>
                  <a:sym typeface="Cambria Bold"/>
                </a:rPr>
                <a:t>Conclusion</a:t>
              </a:r>
            </a:p>
          </p:txBody>
        </p:sp>
      </p:grpSp>
      <p:grpSp>
        <p:nvGrpSpPr>
          <p:cNvPr name="Group 12" id="12"/>
          <p:cNvGrpSpPr/>
          <p:nvPr/>
        </p:nvGrpSpPr>
        <p:grpSpPr>
          <a:xfrm rot="0">
            <a:off x="960120" y="2468880"/>
            <a:ext cx="192024" cy="192024"/>
            <a:chOff x="0" y="0"/>
            <a:chExt cx="256032" cy="256032"/>
          </a:xfrm>
        </p:grpSpPr>
        <p:sp>
          <p:nvSpPr>
            <p:cNvPr name="Freeform 13" id="13"/>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DD4BF"/>
            </a:solidFill>
          </p:spPr>
        </p:sp>
      </p:grpSp>
      <p:grpSp>
        <p:nvGrpSpPr>
          <p:cNvPr name="Group 14" id="14"/>
          <p:cNvGrpSpPr/>
          <p:nvPr/>
        </p:nvGrpSpPr>
        <p:grpSpPr>
          <a:xfrm rot="0">
            <a:off x="1440180" y="2194560"/>
            <a:ext cx="15636240" cy="822960"/>
            <a:chOff x="0" y="0"/>
            <a:chExt cx="20848320" cy="1097280"/>
          </a:xfrm>
        </p:grpSpPr>
        <p:sp>
          <p:nvSpPr>
            <p:cNvPr name="Freeform 15" id="15"/>
            <p:cNvSpPr/>
            <p:nvPr/>
          </p:nvSpPr>
          <p:spPr>
            <a:xfrm flipH="false" flipV="false" rot="0">
              <a:off x="0" y="0"/>
              <a:ext cx="20848320" cy="1097280"/>
            </a:xfrm>
            <a:custGeom>
              <a:avLst/>
              <a:gdLst/>
              <a:ahLst/>
              <a:cxnLst/>
              <a:rect r="r" b="b" t="t" l="l"/>
              <a:pathLst>
                <a:path h="1097280" w="20848320">
                  <a:moveTo>
                    <a:pt x="0" y="0"/>
                  </a:moveTo>
                  <a:lnTo>
                    <a:pt x="20848320" y="0"/>
                  </a:lnTo>
                  <a:lnTo>
                    <a:pt x="20848320" y="1097280"/>
                  </a:lnTo>
                  <a:lnTo>
                    <a:pt x="0" y="1097280"/>
                  </a:lnTo>
                  <a:close/>
                </a:path>
              </a:pathLst>
            </a:custGeom>
            <a:blipFill>
              <a:blip r:embed="rId3">
                <a:alphaModFix amt="0"/>
              </a:blip>
              <a:stretch>
                <a:fillRect l="0" t="-320215" r="0" b="-320215"/>
              </a:stretch>
            </a:blipFill>
          </p:spPr>
        </p:sp>
        <p:sp>
          <p:nvSpPr>
            <p:cNvPr name="TextBox 16" id="16"/>
            <p:cNvSpPr txBox="true"/>
            <p:nvPr/>
          </p:nvSpPr>
          <p:spPr>
            <a:xfrm>
              <a:off x="0" y="-47625"/>
              <a:ext cx="20848320" cy="1144905"/>
            </a:xfrm>
            <a:prstGeom prst="rect">
              <a:avLst/>
            </a:prstGeom>
          </p:spPr>
          <p:txBody>
            <a:bodyPr anchor="ctr" rtlCol="false" tIns="0" lIns="0" bIns="0" rIns="0"/>
            <a:lstStyle/>
            <a:p>
              <a:pPr algn="l">
                <a:lnSpc>
                  <a:spcPts val="2790"/>
                </a:lnSpc>
              </a:pPr>
              <a:r>
                <a:rPr lang="en-US" sz="2325">
                  <a:solidFill>
                    <a:srgbClr val="FFFFFF"/>
                  </a:solidFill>
                  <a:latin typeface="Calibri (MS)"/>
                  <a:ea typeface="Calibri (MS)"/>
                  <a:cs typeface="Calibri (MS)"/>
                  <a:sym typeface="Calibri (MS)"/>
                </a:rPr>
                <a:t>Evolved from a single-model plan into a working multi-agent content-generation platform.</a:t>
              </a:r>
            </a:p>
          </p:txBody>
        </p:sp>
      </p:grpSp>
      <p:grpSp>
        <p:nvGrpSpPr>
          <p:cNvPr name="Group 17" id="17"/>
          <p:cNvGrpSpPr/>
          <p:nvPr/>
        </p:nvGrpSpPr>
        <p:grpSpPr>
          <a:xfrm rot="0">
            <a:off x="960120" y="3730752"/>
            <a:ext cx="192024" cy="192024"/>
            <a:chOff x="0" y="0"/>
            <a:chExt cx="256032" cy="256032"/>
          </a:xfrm>
        </p:grpSpPr>
        <p:sp>
          <p:nvSpPr>
            <p:cNvPr name="Freeform 18" id="18"/>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DD4BF"/>
            </a:solidFill>
          </p:spPr>
        </p:sp>
      </p:grpSp>
      <p:grpSp>
        <p:nvGrpSpPr>
          <p:cNvPr name="Group 19" id="19"/>
          <p:cNvGrpSpPr/>
          <p:nvPr/>
        </p:nvGrpSpPr>
        <p:grpSpPr>
          <a:xfrm rot="0">
            <a:off x="1440180" y="3456432"/>
            <a:ext cx="15636240" cy="822960"/>
            <a:chOff x="0" y="0"/>
            <a:chExt cx="20848320" cy="1097280"/>
          </a:xfrm>
        </p:grpSpPr>
        <p:sp>
          <p:nvSpPr>
            <p:cNvPr name="Freeform 20" id="20"/>
            <p:cNvSpPr/>
            <p:nvPr/>
          </p:nvSpPr>
          <p:spPr>
            <a:xfrm flipH="false" flipV="false" rot="0">
              <a:off x="0" y="0"/>
              <a:ext cx="20848320" cy="1097280"/>
            </a:xfrm>
            <a:custGeom>
              <a:avLst/>
              <a:gdLst/>
              <a:ahLst/>
              <a:cxnLst/>
              <a:rect r="r" b="b" t="t" l="l"/>
              <a:pathLst>
                <a:path h="1097280" w="20848320">
                  <a:moveTo>
                    <a:pt x="0" y="0"/>
                  </a:moveTo>
                  <a:lnTo>
                    <a:pt x="20848320" y="0"/>
                  </a:lnTo>
                  <a:lnTo>
                    <a:pt x="20848320" y="1097280"/>
                  </a:lnTo>
                  <a:lnTo>
                    <a:pt x="0" y="1097280"/>
                  </a:lnTo>
                  <a:close/>
                </a:path>
              </a:pathLst>
            </a:custGeom>
            <a:blipFill>
              <a:blip r:embed="rId3">
                <a:alphaModFix amt="0"/>
              </a:blip>
              <a:stretch>
                <a:fillRect l="0" t="-320215" r="0" b="-320215"/>
              </a:stretch>
            </a:blipFill>
          </p:spPr>
        </p:sp>
        <p:sp>
          <p:nvSpPr>
            <p:cNvPr name="TextBox 21" id="21"/>
            <p:cNvSpPr txBox="true"/>
            <p:nvPr/>
          </p:nvSpPr>
          <p:spPr>
            <a:xfrm>
              <a:off x="0" y="-47625"/>
              <a:ext cx="20848320" cy="1144905"/>
            </a:xfrm>
            <a:prstGeom prst="rect">
              <a:avLst/>
            </a:prstGeom>
          </p:spPr>
          <p:txBody>
            <a:bodyPr anchor="ctr" rtlCol="false" tIns="0" lIns="0" bIns="0" rIns="0"/>
            <a:lstStyle/>
            <a:p>
              <a:pPr algn="l">
                <a:lnSpc>
                  <a:spcPts val="2790"/>
                </a:lnSpc>
              </a:pPr>
              <a:r>
                <a:rPr lang="en-US" sz="2325">
                  <a:solidFill>
                    <a:srgbClr val="FFFFFF"/>
                  </a:solidFill>
                  <a:latin typeface="Calibri (MS)"/>
                  <a:ea typeface="Calibri (MS)"/>
                  <a:cs typeface="Calibri (MS)"/>
                  <a:sym typeface="Calibri (MS)"/>
                </a:rPr>
                <a:t>Delivers API-based, asynchronous automated content generation for five content types.</a:t>
              </a:r>
            </a:p>
          </p:txBody>
        </p:sp>
      </p:grpSp>
      <p:grpSp>
        <p:nvGrpSpPr>
          <p:cNvPr name="Group 22" id="22"/>
          <p:cNvGrpSpPr/>
          <p:nvPr/>
        </p:nvGrpSpPr>
        <p:grpSpPr>
          <a:xfrm rot="0">
            <a:off x="960120" y="4992624"/>
            <a:ext cx="192024" cy="192024"/>
            <a:chOff x="0" y="0"/>
            <a:chExt cx="256032" cy="256032"/>
          </a:xfrm>
        </p:grpSpPr>
        <p:sp>
          <p:nvSpPr>
            <p:cNvPr name="Freeform 23" id="23"/>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DD4BF"/>
            </a:solidFill>
          </p:spPr>
        </p:sp>
      </p:grpSp>
      <p:grpSp>
        <p:nvGrpSpPr>
          <p:cNvPr name="Group 24" id="24"/>
          <p:cNvGrpSpPr/>
          <p:nvPr/>
        </p:nvGrpSpPr>
        <p:grpSpPr>
          <a:xfrm rot="0">
            <a:off x="1440180" y="4718304"/>
            <a:ext cx="15636240" cy="822960"/>
            <a:chOff x="0" y="0"/>
            <a:chExt cx="20848320" cy="1097280"/>
          </a:xfrm>
        </p:grpSpPr>
        <p:sp>
          <p:nvSpPr>
            <p:cNvPr name="Freeform 25" id="25"/>
            <p:cNvSpPr/>
            <p:nvPr/>
          </p:nvSpPr>
          <p:spPr>
            <a:xfrm flipH="false" flipV="false" rot="0">
              <a:off x="0" y="0"/>
              <a:ext cx="20848320" cy="1097280"/>
            </a:xfrm>
            <a:custGeom>
              <a:avLst/>
              <a:gdLst/>
              <a:ahLst/>
              <a:cxnLst/>
              <a:rect r="r" b="b" t="t" l="l"/>
              <a:pathLst>
                <a:path h="1097280" w="20848320">
                  <a:moveTo>
                    <a:pt x="0" y="0"/>
                  </a:moveTo>
                  <a:lnTo>
                    <a:pt x="20848320" y="0"/>
                  </a:lnTo>
                  <a:lnTo>
                    <a:pt x="20848320" y="1097280"/>
                  </a:lnTo>
                  <a:lnTo>
                    <a:pt x="0" y="1097280"/>
                  </a:lnTo>
                  <a:close/>
                </a:path>
              </a:pathLst>
            </a:custGeom>
            <a:blipFill>
              <a:blip r:embed="rId3">
                <a:alphaModFix amt="0"/>
              </a:blip>
              <a:stretch>
                <a:fillRect l="0" t="-320215" r="0" b="-320215"/>
              </a:stretch>
            </a:blipFill>
          </p:spPr>
        </p:sp>
        <p:sp>
          <p:nvSpPr>
            <p:cNvPr name="TextBox 26" id="26"/>
            <p:cNvSpPr txBox="true"/>
            <p:nvPr/>
          </p:nvSpPr>
          <p:spPr>
            <a:xfrm>
              <a:off x="0" y="-47625"/>
              <a:ext cx="20848320" cy="1144905"/>
            </a:xfrm>
            <a:prstGeom prst="rect">
              <a:avLst/>
            </a:prstGeom>
          </p:spPr>
          <p:txBody>
            <a:bodyPr anchor="ctr" rtlCol="false" tIns="0" lIns="0" bIns="0" rIns="0"/>
            <a:lstStyle/>
            <a:p>
              <a:pPr algn="l">
                <a:lnSpc>
                  <a:spcPts val="2790"/>
                </a:lnSpc>
              </a:pPr>
              <a:r>
                <a:rPr lang="en-US" sz="2325">
                  <a:solidFill>
                    <a:srgbClr val="FFFFFF"/>
                  </a:solidFill>
                  <a:latin typeface="Calibri (MS)"/>
                  <a:ea typeface="Calibri (MS)"/>
                  <a:cs typeface="Calibri (MS)"/>
                  <a:sym typeface="Calibri (MS)"/>
                </a:rPr>
                <a:t>Integrates LLM generation, live search, automated critique, persistence, testing, and Docker deployment.</a:t>
              </a:r>
            </a:p>
          </p:txBody>
        </p:sp>
      </p:grpSp>
      <p:grpSp>
        <p:nvGrpSpPr>
          <p:cNvPr name="Group 27" id="27"/>
          <p:cNvGrpSpPr/>
          <p:nvPr/>
        </p:nvGrpSpPr>
        <p:grpSpPr>
          <a:xfrm rot="0">
            <a:off x="960120" y="6254496"/>
            <a:ext cx="192024" cy="192024"/>
            <a:chOff x="0" y="0"/>
            <a:chExt cx="256032" cy="256032"/>
          </a:xfrm>
        </p:grpSpPr>
        <p:sp>
          <p:nvSpPr>
            <p:cNvPr name="Freeform 28" id="28"/>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DD4BF"/>
            </a:solidFill>
          </p:spPr>
        </p:sp>
      </p:grpSp>
      <p:grpSp>
        <p:nvGrpSpPr>
          <p:cNvPr name="Group 29" id="29"/>
          <p:cNvGrpSpPr/>
          <p:nvPr/>
        </p:nvGrpSpPr>
        <p:grpSpPr>
          <a:xfrm rot="0">
            <a:off x="1440180" y="5980176"/>
            <a:ext cx="15636240" cy="822960"/>
            <a:chOff x="0" y="0"/>
            <a:chExt cx="20848320" cy="1097280"/>
          </a:xfrm>
        </p:grpSpPr>
        <p:sp>
          <p:nvSpPr>
            <p:cNvPr name="Freeform 30" id="30"/>
            <p:cNvSpPr/>
            <p:nvPr/>
          </p:nvSpPr>
          <p:spPr>
            <a:xfrm flipH="false" flipV="false" rot="0">
              <a:off x="0" y="0"/>
              <a:ext cx="20848320" cy="1097280"/>
            </a:xfrm>
            <a:custGeom>
              <a:avLst/>
              <a:gdLst/>
              <a:ahLst/>
              <a:cxnLst/>
              <a:rect r="r" b="b" t="t" l="l"/>
              <a:pathLst>
                <a:path h="1097280" w="20848320">
                  <a:moveTo>
                    <a:pt x="0" y="0"/>
                  </a:moveTo>
                  <a:lnTo>
                    <a:pt x="20848320" y="0"/>
                  </a:lnTo>
                  <a:lnTo>
                    <a:pt x="20848320" y="1097280"/>
                  </a:lnTo>
                  <a:lnTo>
                    <a:pt x="0" y="1097280"/>
                  </a:lnTo>
                  <a:close/>
                </a:path>
              </a:pathLst>
            </a:custGeom>
            <a:blipFill>
              <a:blip r:embed="rId3">
                <a:alphaModFix amt="0"/>
              </a:blip>
              <a:stretch>
                <a:fillRect l="0" t="-320215" r="0" b="-320215"/>
              </a:stretch>
            </a:blipFill>
          </p:spPr>
        </p:sp>
        <p:sp>
          <p:nvSpPr>
            <p:cNvPr name="TextBox 31" id="31"/>
            <p:cNvSpPr txBox="true"/>
            <p:nvPr/>
          </p:nvSpPr>
          <p:spPr>
            <a:xfrm>
              <a:off x="0" y="-47625"/>
              <a:ext cx="20848320" cy="1144905"/>
            </a:xfrm>
            <a:prstGeom prst="rect">
              <a:avLst/>
            </a:prstGeom>
          </p:spPr>
          <p:txBody>
            <a:bodyPr anchor="ctr" rtlCol="false" tIns="0" lIns="0" bIns="0" rIns="0"/>
            <a:lstStyle/>
            <a:p>
              <a:pPr algn="l">
                <a:lnSpc>
                  <a:spcPts val="2790"/>
                </a:lnSpc>
              </a:pPr>
              <a:r>
                <a:rPr lang="en-US" sz="2325">
                  <a:solidFill>
                    <a:srgbClr val="FFFFFF"/>
                  </a:solidFill>
                  <a:latin typeface="Calibri (MS)"/>
                  <a:ea typeface="Calibri (MS)"/>
                  <a:cs typeface="Calibri (MS)"/>
                  <a:sym typeface="Calibri (MS)"/>
                </a:rPr>
                <a:t>A strong, honestly-evaluated foundation for a more complete production system.</a:t>
              </a:r>
            </a:p>
          </p:txBody>
        </p:sp>
      </p:grpSp>
      <p:grpSp>
        <p:nvGrpSpPr>
          <p:cNvPr name="Group 32" id="32"/>
          <p:cNvGrpSpPr/>
          <p:nvPr/>
        </p:nvGrpSpPr>
        <p:grpSpPr>
          <a:xfrm rot="0">
            <a:off x="960120" y="7516368"/>
            <a:ext cx="192024" cy="192024"/>
            <a:chOff x="0" y="0"/>
            <a:chExt cx="256032" cy="256032"/>
          </a:xfrm>
        </p:grpSpPr>
        <p:sp>
          <p:nvSpPr>
            <p:cNvPr name="Freeform 33" id="33"/>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DD4BF"/>
            </a:solidFill>
          </p:spPr>
        </p:sp>
      </p:grpSp>
      <p:grpSp>
        <p:nvGrpSpPr>
          <p:cNvPr name="Group 34" id="34"/>
          <p:cNvGrpSpPr/>
          <p:nvPr/>
        </p:nvGrpSpPr>
        <p:grpSpPr>
          <a:xfrm rot="0">
            <a:off x="1440180" y="7242048"/>
            <a:ext cx="15636240" cy="822960"/>
            <a:chOff x="0" y="0"/>
            <a:chExt cx="20848320" cy="1097280"/>
          </a:xfrm>
        </p:grpSpPr>
        <p:sp>
          <p:nvSpPr>
            <p:cNvPr name="Freeform 35" id="35"/>
            <p:cNvSpPr/>
            <p:nvPr/>
          </p:nvSpPr>
          <p:spPr>
            <a:xfrm flipH="false" flipV="false" rot="0">
              <a:off x="0" y="0"/>
              <a:ext cx="20848320" cy="1097280"/>
            </a:xfrm>
            <a:custGeom>
              <a:avLst/>
              <a:gdLst/>
              <a:ahLst/>
              <a:cxnLst/>
              <a:rect r="r" b="b" t="t" l="l"/>
              <a:pathLst>
                <a:path h="1097280" w="20848320">
                  <a:moveTo>
                    <a:pt x="0" y="0"/>
                  </a:moveTo>
                  <a:lnTo>
                    <a:pt x="20848320" y="0"/>
                  </a:lnTo>
                  <a:lnTo>
                    <a:pt x="20848320" y="1097280"/>
                  </a:lnTo>
                  <a:lnTo>
                    <a:pt x="0" y="1097280"/>
                  </a:lnTo>
                  <a:close/>
                </a:path>
              </a:pathLst>
            </a:custGeom>
            <a:blipFill>
              <a:blip r:embed="rId3">
                <a:alphaModFix amt="0"/>
              </a:blip>
              <a:stretch>
                <a:fillRect l="0" t="-320215" r="0" b="-320215"/>
              </a:stretch>
            </a:blipFill>
          </p:spPr>
        </p:sp>
        <p:sp>
          <p:nvSpPr>
            <p:cNvPr name="TextBox 36" id="36"/>
            <p:cNvSpPr txBox="true"/>
            <p:nvPr/>
          </p:nvSpPr>
          <p:spPr>
            <a:xfrm>
              <a:off x="0" y="-47625"/>
              <a:ext cx="20848320" cy="1144905"/>
            </a:xfrm>
            <a:prstGeom prst="rect">
              <a:avLst/>
            </a:prstGeom>
          </p:spPr>
          <p:txBody>
            <a:bodyPr anchor="ctr" rtlCol="false" tIns="0" lIns="0" bIns="0" rIns="0"/>
            <a:lstStyle/>
            <a:p>
              <a:pPr algn="l">
                <a:lnSpc>
                  <a:spcPts val="2790"/>
                </a:lnSpc>
              </a:pPr>
              <a:r>
                <a:rPr lang="en-US" sz="2325">
                  <a:solidFill>
                    <a:srgbClr val="FFFFFF"/>
                  </a:solidFill>
                  <a:latin typeface="Calibri (MS)"/>
                  <a:ea typeface="Calibri (MS)"/>
                  <a:cs typeface="Calibri (MS)"/>
                  <a:sym typeface="Calibri (MS)"/>
                </a:rPr>
                <a:t>MLOps, UI, CI/CD, and formal evaluation remain clearly labelled future work.</a:t>
              </a:r>
            </a:p>
          </p:txBody>
        </p:sp>
      </p:grpSp>
      <p:grpSp>
        <p:nvGrpSpPr>
          <p:cNvPr name="Group 37" id="37"/>
          <p:cNvGrpSpPr/>
          <p:nvPr/>
        </p:nvGrpSpPr>
        <p:grpSpPr>
          <a:xfrm rot="0">
            <a:off x="685800" y="9793224"/>
            <a:ext cx="10972800" cy="411480"/>
            <a:chOff x="0" y="0"/>
            <a:chExt cx="14630400" cy="548640"/>
          </a:xfrm>
        </p:grpSpPr>
        <p:sp>
          <p:nvSpPr>
            <p:cNvPr name="Freeform 38" id="3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9" id="39"/>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5B6B8C"/>
                  </a:solidFill>
                  <a:latin typeface="Calibri (MS)"/>
                  <a:ea typeface="Calibri (MS)"/>
                  <a:cs typeface="Calibri (MS)"/>
                  <a:sym typeface="Calibri (MS)"/>
                </a:rPr>
                <a:t>Automated Content Generation System  ·  DEPI CAI4_AIS3_S4</a:t>
              </a:r>
            </a:p>
          </p:txBody>
        </p:sp>
      </p:grpSp>
      <p:grpSp>
        <p:nvGrpSpPr>
          <p:cNvPr name="Group 40" id="40"/>
          <p:cNvGrpSpPr/>
          <p:nvPr/>
        </p:nvGrpSpPr>
        <p:grpSpPr>
          <a:xfrm rot="0">
            <a:off x="17282160" y="9793224"/>
            <a:ext cx="548640" cy="411480"/>
            <a:chOff x="0" y="0"/>
            <a:chExt cx="731520" cy="548640"/>
          </a:xfrm>
        </p:grpSpPr>
        <p:sp>
          <p:nvSpPr>
            <p:cNvPr name="Freeform 41" id="41"/>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42" id="42"/>
            <p:cNvSpPr txBox="true"/>
            <p:nvPr/>
          </p:nvSpPr>
          <p:spPr>
            <a:xfrm>
              <a:off x="0" y="-28575"/>
              <a:ext cx="731520" cy="577215"/>
            </a:xfrm>
            <a:prstGeom prst="rect">
              <a:avLst/>
            </a:prstGeom>
          </p:spPr>
          <p:txBody>
            <a:bodyPr anchor="ctr" rtlCol="false" tIns="0" lIns="0" bIns="0" rIns="0"/>
            <a:lstStyle/>
            <a:p>
              <a:pPr algn="r">
                <a:lnSpc>
                  <a:spcPts val="1620"/>
                </a:lnSpc>
              </a:pPr>
              <a:r>
                <a:rPr lang="en-US" sz="1350">
                  <a:solidFill>
                    <a:srgbClr val="5B6B8C"/>
                  </a:solidFill>
                  <a:latin typeface="Calibri (MS)"/>
                  <a:ea typeface="Calibri (MS)"/>
                  <a:cs typeface="Calibri (MS)"/>
                  <a:sym typeface="Calibri (MS)"/>
                </a:rPr>
                <a:t>18</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grpSp>
        <p:nvGrpSpPr>
          <p:cNvPr name="Group 2" id="2"/>
          <p:cNvGrpSpPr/>
          <p:nvPr/>
        </p:nvGrpSpPr>
        <p:grpSpPr>
          <a:xfrm rot="0">
            <a:off x="13441680" y="-3017520"/>
            <a:ext cx="8229600" cy="8229600"/>
            <a:chOff x="0" y="0"/>
            <a:chExt cx="10972800" cy="10972800"/>
          </a:xfrm>
        </p:grpSpPr>
        <p:sp>
          <p:nvSpPr>
            <p:cNvPr name="Freeform 3" id="3"/>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16213E"/>
            </a:solidFill>
          </p:spPr>
        </p:sp>
      </p:grpSp>
      <p:grpSp>
        <p:nvGrpSpPr>
          <p:cNvPr name="Group 4" id="4"/>
          <p:cNvGrpSpPr/>
          <p:nvPr/>
        </p:nvGrpSpPr>
        <p:grpSpPr>
          <a:xfrm rot="0">
            <a:off x="-3017520" y="5212080"/>
            <a:ext cx="6858000" cy="6858000"/>
            <a:chOff x="0" y="0"/>
            <a:chExt cx="9144000" cy="9144000"/>
          </a:xfrm>
        </p:grpSpPr>
        <p:sp>
          <p:nvSpPr>
            <p:cNvPr name="Freeform 5" id="5"/>
            <p:cNvSpPr/>
            <p:nvPr/>
          </p:nvSpPr>
          <p:spPr>
            <a:xfrm flipH="false" flipV="false" rot="0">
              <a:off x="0" y="0"/>
              <a:ext cx="9144000" cy="9144000"/>
            </a:xfrm>
            <a:custGeom>
              <a:avLst/>
              <a:gdLst/>
              <a:ahLst/>
              <a:cxnLst/>
              <a:rect r="r" b="b" t="t" l="l"/>
              <a:pathLst>
                <a:path h="9144000" w="9144000">
                  <a:moveTo>
                    <a:pt x="0" y="4572000"/>
                  </a:moveTo>
                  <a:cubicBezTo>
                    <a:pt x="0" y="2046986"/>
                    <a:pt x="2046986" y="0"/>
                    <a:pt x="4572000" y="0"/>
                  </a:cubicBezTo>
                  <a:cubicBezTo>
                    <a:pt x="7097014" y="0"/>
                    <a:pt x="9144000" y="2046986"/>
                    <a:pt x="9144000" y="4572000"/>
                  </a:cubicBezTo>
                  <a:cubicBezTo>
                    <a:pt x="9144000" y="7097014"/>
                    <a:pt x="7097014" y="9144000"/>
                    <a:pt x="4572000" y="9144000"/>
                  </a:cubicBezTo>
                  <a:cubicBezTo>
                    <a:pt x="2046986" y="9144000"/>
                    <a:pt x="0" y="7097014"/>
                    <a:pt x="0" y="4572000"/>
                  </a:cubicBezTo>
                  <a:close/>
                </a:path>
              </a:pathLst>
            </a:custGeom>
            <a:solidFill>
              <a:srgbClr val="1C2A4A"/>
            </a:solidFill>
          </p:spPr>
        </p:sp>
      </p:grpSp>
      <p:grpSp>
        <p:nvGrpSpPr>
          <p:cNvPr name="Group 6" id="6"/>
          <p:cNvGrpSpPr/>
          <p:nvPr/>
        </p:nvGrpSpPr>
        <p:grpSpPr>
          <a:xfrm rot="0">
            <a:off x="1097280" y="3429000"/>
            <a:ext cx="16047720" cy="1508760"/>
            <a:chOff x="0" y="0"/>
            <a:chExt cx="21396960" cy="2011680"/>
          </a:xfrm>
        </p:grpSpPr>
        <p:sp>
          <p:nvSpPr>
            <p:cNvPr name="Freeform 7" id="7"/>
            <p:cNvSpPr/>
            <p:nvPr/>
          </p:nvSpPr>
          <p:spPr>
            <a:xfrm flipH="false" flipV="false" rot="0">
              <a:off x="0" y="0"/>
              <a:ext cx="21396961" cy="2011680"/>
            </a:xfrm>
            <a:custGeom>
              <a:avLst/>
              <a:gdLst/>
              <a:ahLst/>
              <a:cxnLst/>
              <a:rect r="r" b="b" t="t" l="l"/>
              <a:pathLst>
                <a:path h="2011680" w="21396961">
                  <a:moveTo>
                    <a:pt x="0" y="0"/>
                  </a:moveTo>
                  <a:lnTo>
                    <a:pt x="21396961" y="0"/>
                  </a:lnTo>
                  <a:lnTo>
                    <a:pt x="21396961" y="2011680"/>
                  </a:lnTo>
                  <a:lnTo>
                    <a:pt x="0" y="2011680"/>
                  </a:lnTo>
                  <a:close/>
                </a:path>
              </a:pathLst>
            </a:custGeom>
            <a:blipFill>
              <a:blip r:embed="rId3">
                <a:alphaModFix amt="0"/>
              </a:blip>
              <a:stretch>
                <a:fillRect l="0" t="-157249" r="0" b="-157249"/>
              </a:stretch>
            </a:blipFill>
          </p:spPr>
        </p:sp>
        <p:sp>
          <p:nvSpPr>
            <p:cNvPr name="TextBox 8" id="8"/>
            <p:cNvSpPr txBox="true"/>
            <p:nvPr/>
          </p:nvSpPr>
          <p:spPr>
            <a:xfrm>
              <a:off x="0" y="-9525"/>
              <a:ext cx="21396960" cy="2021205"/>
            </a:xfrm>
            <a:prstGeom prst="rect">
              <a:avLst/>
            </a:prstGeom>
          </p:spPr>
          <p:txBody>
            <a:bodyPr anchor="ctr" rtlCol="false" tIns="0" lIns="0" bIns="0" rIns="0"/>
            <a:lstStyle/>
            <a:p>
              <a:pPr algn="ctr">
                <a:lnSpc>
                  <a:spcPts val="8280"/>
                </a:lnSpc>
              </a:pPr>
              <a:r>
                <a:rPr lang="en-US" sz="6900" b="true">
                  <a:solidFill>
                    <a:srgbClr val="FFFFFF"/>
                  </a:solidFill>
                  <a:latin typeface="Cambria Bold"/>
                  <a:ea typeface="Cambria Bold"/>
                  <a:cs typeface="Cambria Bold"/>
                  <a:sym typeface="Cambria Bold"/>
                </a:rPr>
                <a:t>Thank You</a:t>
              </a:r>
            </a:p>
          </p:txBody>
        </p:sp>
      </p:grpSp>
      <p:grpSp>
        <p:nvGrpSpPr>
          <p:cNvPr name="Group 9" id="9"/>
          <p:cNvGrpSpPr/>
          <p:nvPr/>
        </p:nvGrpSpPr>
        <p:grpSpPr>
          <a:xfrm rot="0">
            <a:off x="1097280" y="4869180"/>
            <a:ext cx="16047720" cy="822960"/>
            <a:chOff x="0" y="0"/>
            <a:chExt cx="21396960" cy="1097280"/>
          </a:xfrm>
        </p:grpSpPr>
        <p:sp>
          <p:nvSpPr>
            <p:cNvPr name="Freeform 10" id="10"/>
            <p:cNvSpPr/>
            <p:nvPr/>
          </p:nvSpPr>
          <p:spPr>
            <a:xfrm flipH="false" flipV="false" rot="0">
              <a:off x="0" y="0"/>
              <a:ext cx="21396961" cy="1097280"/>
            </a:xfrm>
            <a:custGeom>
              <a:avLst/>
              <a:gdLst/>
              <a:ahLst/>
              <a:cxnLst/>
              <a:rect r="r" b="b" t="t" l="l"/>
              <a:pathLst>
                <a:path h="1097280" w="21396961">
                  <a:moveTo>
                    <a:pt x="0" y="0"/>
                  </a:moveTo>
                  <a:lnTo>
                    <a:pt x="21396961" y="0"/>
                  </a:lnTo>
                  <a:lnTo>
                    <a:pt x="21396961" y="1097280"/>
                  </a:lnTo>
                  <a:lnTo>
                    <a:pt x="0" y="1097280"/>
                  </a:lnTo>
                  <a:close/>
                </a:path>
              </a:pathLst>
            </a:custGeom>
            <a:blipFill>
              <a:blip r:embed="rId3">
                <a:alphaModFix amt="0"/>
              </a:blip>
              <a:stretch>
                <a:fillRect l="0" t="-329958" r="0" b="-329958"/>
              </a:stretch>
            </a:blipFill>
          </p:spPr>
        </p:sp>
        <p:sp>
          <p:nvSpPr>
            <p:cNvPr name="TextBox 11" id="11"/>
            <p:cNvSpPr txBox="true"/>
            <p:nvPr/>
          </p:nvSpPr>
          <p:spPr>
            <a:xfrm>
              <a:off x="0" y="-66675"/>
              <a:ext cx="21396960" cy="1163955"/>
            </a:xfrm>
            <a:prstGeom prst="rect">
              <a:avLst/>
            </a:prstGeom>
          </p:spPr>
          <p:txBody>
            <a:bodyPr anchor="ctr" rtlCol="false" tIns="0" lIns="0" bIns="0" rIns="0"/>
            <a:lstStyle/>
            <a:p>
              <a:pPr algn="ctr">
                <a:lnSpc>
                  <a:spcPts val="3960"/>
                </a:lnSpc>
              </a:pPr>
              <a:r>
                <a:rPr lang="en-US" sz="3300" i="true">
                  <a:solidFill>
                    <a:srgbClr val="2DD4BF"/>
                  </a:solidFill>
                  <a:latin typeface="Calibri (MS) Italics"/>
                  <a:ea typeface="Calibri (MS) Italics"/>
                  <a:cs typeface="Calibri (MS) Italics"/>
                  <a:sym typeface="Calibri (MS) Italics"/>
                </a:rPr>
                <a:t>Questions?</a:t>
              </a:r>
            </a:p>
          </p:txBody>
        </p:sp>
      </p:grpSp>
      <p:grpSp>
        <p:nvGrpSpPr>
          <p:cNvPr name="Group 12" id="12"/>
          <p:cNvGrpSpPr/>
          <p:nvPr/>
        </p:nvGrpSpPr>
        <p:grpSpPr>
          <a:xfrm rot="0">
            <a:off x="1097280" y="6995160"/>
            <a:ext cx="16047720" cy="685800"/>
            <a:chOff x="0" y="0"/>
            <a:chExt cx="21396960" cy="914400"/>
          </a:xfrm>
        </p:grpSpPr>
        <p:sp>
          <p:nvSpPr>
            <p:cNvPr name="Freeform 13" id="13"/>
            <p:cNvSpPr/>
            <p:nvPr/>
          </p:nvSpPr>
          <p:spPr>
            <a:xfrm flipH="false" flipV="false" rot="0">
              <a:off x="0" y="0"/>
              <a:ext cx="21396961" cy="914400"/>
            </a:xfrm>
            <a:custGeom>
              <a:avLst/>
              <a:gdLst/>
              <a:ahLst/>
              <a:cxnLst/>
              <a:rect r="r" b="b" t="t" l="l"/>
              <a:pathLst>
                <a:path h="914400" w="21396961">
                  <a:moveTo>
                    <a:pt x="0" y="0"/>
                  </a:moveTo>
                  <a:lnTo>
                    <a:pt x="21396961" y="0"/>
                  </a:lnTo>
                  <a:lnTo>
                    <a:pt x="21396961" y="914400"/>
                  </a:lnTo>
                  <a:lnTo>
                    <a:pt x="0" y="914400"/>
                  </a:lnTo>
                  <a:close/>
                </a:path>
              </a:pathLst>
            </a:custGeom>
            <a:blipFill>
              <a:blip r:embed="rId3">
                <a:alphaModFix amt="0"/>
              </a:blip>
              <a:stretch>
                <a:fillRect l="0" t="-405949" r="0" b="-405949"/>
              </a:stretch>
            </a:blipFill>
          </p:spPr>
        </p:sp>
        <p:sp>
          <p:nvSpPr>
            <p:cNvPr name="TextBox 14" id="14"/>
            <p:cNvSpPr txBox="true"/>
            <p:nvPr/>
          </p:nvSpPr>
          <p:spPr>
            <a:xfrm>
              <a:off x="0" y="-57150"/>
              <a:ext cx="21396960" cy="971550"/>
            </a:xfrm>
            <a:prstGeom prst="rect">
              <a:avLst/>
            </a:prstGeom>
          </p:spPr>
          <p:txBody>
            <a:bodyPr anchor="ctr" rtlCol="false" tIns="0" lIns="0" bIns="0" rIns="0"/>
            <a:lstStyle/>
            <a:p>
              <a:pPr algn="ctr">
                <a:lnSpc>
                  <a:spcPts val="2700"/>
                </a:lnSpc>
              </a:pPr>
              <a:r>
                <a:rPr lang="en-US" sz="2250">
                  <a:solidFill>
                    <a:srgbClr val="C9D3EA"/>
                  </a:solidFill>
                  <a:latin typeface="Calibri (MS)"/>
                  <a:ea typeface="Calibri (MS)"/>
                  <a:cs typeface="Calibri (MS)"/>
                  <a:sym typeface="Calibri (MS)"/>
                </a:rPr>
                <a:t>github.com/nhahub/NHA-4-119</a:t>
              </a:r>
            </a:p>
          </p:txBody>
        </p:sp>
      </p:grpSp>
      <p:grpSp>
        <p:nvGrpSpPr>
          <p:cNvPr name="Group 15" id="15"/>
          <p:cNvGrpSpPr/>
          <p:nvPr/>
        </p:nvGrpSpPr>
        <p:grpSpPr>
          <a:xfrm rot="0">
            <a:off x="1097280" y="9052560"/>
            <a:ext cx="16047720" cy="548640"/>
            <a:chOff x="0" y="0"/>
            <a:chExt cx="21396960" cy="731520"/>
          </a:xfrm>
        </p:grpSpPr>
        <p:sp>
          <p:nvSpPr>
            <p:cNvPr name="Freeform 16" id="16"/>
            <p:cNvSpPr/>
            <p:nvPr/>
          </p:nvSpPr>
          <p:spPr>
            <a:xfrm flipH="false" flipV="false" rot="0">
              <a:off x="0" y="0"/>
              <a:ext cx="21396961" cy="731520"/>
            </a:xfrm>
            <a:custGeom>
              <a:avLst/>
              <a:gdLst/>
              <a:ahLst/>
              <a:cxnLst/>
              <a:rect r="r" b="b" t="t" l="l"/>
              <a:pathLst>
                <a:path h="731520" w="21396961">
                  <a:moveTo>
                    <a:pt x="0" y="0"/>
                  </a:moveTo>
                  <a:lnTo>
                    <a:pt x="21396961" y="0"/>
                  </a:lnTo>
                  <a:lnTo>
                    <a:pt x="21396961" y="731520"/>
                  </a:lnTo>
                  <a:lnTo>
                    <a:pt x="0" y="731520"/>
                  </a:lnTo>
                  <a:close/>
                </a:path>
              </a:pathLst>
            </a:custGeom>
            <a:blipFill>
              <a:blip r:embed="rId3">
                <a:alphaModFix amt="0"/>
              </a:blip>
              <a:stretch>
                <a:fillRect l="0" t="-519937" r="0" b="-519937"/>
              </a:stretch>
            </a:blipFill>
          </p:spPr>
        </p:sp>
        <p:sp>
          <p:nvSpPr>
            <p:cNvPr name="TextBox 17" id="17"/>
            <p:cNvSpPr txBox="true"/>
            <p:nvPr/>
          </p:nvSpPr>
          <p:spPr>
            <a:xfrm>
              <a:off x="0" y="-28575"/>
              <a:ext cx="21396960" cy="760095"/>
            </a:xfrm>
            <a:prstGeom prst="rect">
              <a:avLst/>
            </a:prstGeom>
          </p:spPr>
          <p:txBody>
            <a:bodyPr anchor="ctr" rtlCol="false" tIns="0" lIns="0" bIns="0" rIns="0"/>
            <a:lstStyle/>
            <a:p>
              <a:pPr algn="ctr">
                <a:lnSpc>
                  <a:spcPts val="1980"/>
                </a:lnSpc>
              </a:pPr>
              <a:r>
                <a:rPr lang="en-US" sz="1650">
                  <a:solidFill>
                    <a:srgbClr val="5B6B8C"/>
                  </a:solidFill>
                  <a:latin typeface="Calibri (MS)"/>
                  <a:ea typeface="Calibri (MS)"/>
                  <a:cs typeface="Calibri (MS)"/>
                  <a:sym typeface="Calibri (MS)"/>
                </a:rPr>
                <a:t>Automated Content Generation System  ·  DEPI Generative &amp; Agentic AI Track  ·  CAI4_AIS3_S4</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DAHPD1Yoqk8</dc:identifier>
  <dcterms:modified xsi:type="dcterms:W3CDTF">2011-08-01T06:04:30Z</dcterms:modified>
  <cp:revision>1</cp:revision>
  <dc:title>Lexora_AI_Final_Presentation edits.pptx</dc:title>
</cp:coreProperties>
</file>